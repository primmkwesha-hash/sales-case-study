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notesSlides/notesSlide11.xml" ContentType="application/vnd.openxmlformats-officedocument.presentationml.notesSlide+xml"/>
  <Override PartName="/ppt/charts/chart8.xml" ContentType="application/vnd.openxmlformats-officedocument.drawingml.chart+xml"/>
  <Override PartName="/ppt/notesSlides/notesSlide12.xml" ContentType="application/vnd.openxmlformats-officedocument.presentationml.notesSlide+xml"/>
  <Override PartName="/ppt/charts/chart9.xml" ContentType="application/vnd.openxmlformats-officedocument.drawingml.chart+xml"/>
  <Override PartName="/ppt/notesSlides/notesSlide13.xml" ContentType="application/vnd.openxmlformats-officedocument.presentationml.notesSlide+xml"/>
  <Override PartName="/ppt/charts/chart10.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7F66FB76-2573-7D33-8CF4-9D988066C835}">
          <p14:sldIdLst>
            <p14:sldId id="256"/>
            <p14:sldId id="257"/>
            <p14:sldId id="258"/>
            <p14:sldId id="259"/>
            <p14:sldId id="260"/>
          </p14:sldIdLst>
        </p14:section>
        <p14:section name="Metrics" id="{81BB9BCA-D880-7933-3874-3A989DA08EB2}">
          <p14:sldIdLst>
            <p14:sldId id="262"/>
            <p14:sldId id="263"/>
            <p14:sldId id="264"/>
          </p14:sldIdLst>
        </p14:section>
        <p14:section name="Insights" id="{E5E5D06B-26E7-44D9-1A9D-CA3668AA343D}">
          <p14:sldIdLst>
            <p14:sldId id="265"/>
            <p14:sldId id="266"/>
            <p14:sldId id="267"/>
            <p14:sldId id="268"/>
            <p14:sldId id="269"/>
          </p14:sldIdLst>
        </p14:section>
        <p14:section name="Wrap-up" id="{F88060C9-C186-E7CF-8393-964482540AC2}">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2" d="100"/>
          <a:sy n="92" d="100"/>
        </p:scale>
        <p:origin x="30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1"/>
                </a:solidFill>
                <a:latin typeface="+mn-lt"/>
              </a:defRPr>
            </a:pPr>
            <a:r>
              <a:rPr lang="en-ZA" sz="1400" b="0" i="0" u="none" strike="noStrike">
                <a:solidFill>
                  <a:schemeClr val="tx1"/>
                </a:solidFill>
                <a:latin typeface="+mn-lt"/>
              </a:rPr>
              <a:t>Trading days per year</a:t>
            </a:r>
          </a:p>
        </c:rich>
      </c:tx>
      <c:overlay val="0"/>
    </c:title>
    <c:autoTitleDeleted val="0"/>
    <c:plotArea>
      <c:layout/>
      <c:barChart>
        <c:barDir val="col"/>
        <c:grouping val="clustered"/>
        <c:varyColors val="0"/>
        <c:ser>
          <c:idx val="0"/>
          <c:order val="0"/>
          <c:tx>
            <c:strRef>
              <c:f>Sheet1!$B$1</c:f>
              <c:strCache>
                <c:ptCount val="1"/>
                <c:pt idx="0">
                  <c:v>Trading days</c:v>
                </c:pt>
              </c:strCache>
            </c:strRef>
          </c:tx>
          <c:spPr>
            <a:solidFill>
              <a:srgbClr val="2A78D6"/>
            </a:solidFill>
            <a:effectLst/>
          </c:spPr>
          <c:invertIfNegative val="0"/>
          <c:dLbls>
            <c:numFmt formatCode="#,##0" sourceLinked="0"/>
            <c:spPr>
              <a:noFill/>
              <a:ln>
                <a:noFill/>
              </a:ln>
              <a:effectLst/>
            </c:spPr>
            <c:txPr>
              <a:bodyPr/>
              <a:lstStyle/>
              <a:p>
                <a:pPr>
                  <a:defRPr sz="1400" b="1"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2013</c:v>
                </c:pt>
                <c:pt idx="1">
                  <c:v>2014</c:v>
                </c:pt>
                <c:pt idx="2">
                  <c:v>2015</c:v>
                </c:pt>
                <c:pt idx="3">
                  <c:v>2016</c:v>
                </c:pt>
              </c:strCache>
            </c:strRef>
          </c:cat>
          <c:val>
            <c:numRef>
              <c:f>Sheet1!$B$2:$B$5</c:f>
              <c:numCache>
                <c:formatCode>General</c:formatCode>
                <c:ptCount val="4"/>
                <c:pt idx="0">
                  <c:v>2</c:v>
                </c:pt>
                <c:pt idx="1">
                  <c:v>365</c:v>
                </c:pt>
                <c:pt idx="2">
                  <c:v>365</c:v>
                </c:pt>
                <c:pt idx="3">
                  <c:v>321</c:v>
                </c:pt>
              </c:numCache>
            </c:numRef>
          </c:val>
          <c:extLst>
            <c:ext xmlns:c16="http://schemas.microsoft.com/office/drawing/2014/chart" uri="{C3380CC4-5D6E-409C-BE32-E72D297353CC}">
              <c16:uniqueId val="{00000000-EAB5-4B05-9575-F3E0E895CD9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max val="44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Days</c:v>
                </c:pt>
              </c:strCache>
            </c:strRef>
          </c:tx>
          <c:spPr>
            <a:solidFill>
              <a:srgbClr val="EB6834"/>
            </a:solidFill>
            <a:effectLst/>
          </c:spPr>
          <c:invertIfNegative val="0"/>
          <c:dPt>
            <c:idx val="0"/>
            <c:invertIfNegative val="0"/>
            <c:bubble3D val="0"/>
            <c:spPr>
              <a:solidFill>
                <a:srgbClr val="EB6834"/>
              </a:solidFill>
              <a:effectLst/>
            </c:spPr>
            <c:extLst>
              <c:ext xmlns:c16="http://schemas.microsoft.com/office/drawing/2014/chart" uri="{C3380CC4-5D6E-409C-BE32-E72D297353CC}">
                <c16:uniqueId val="{00000001-984B-42C6-AA50-8C17369E2DB0}"/>
              </c:ext>
            </c:extLst>
          </c:dPt>
          <c:dPt>
            <c:idx val="1"/>
            <c:invertIfNegative val="0"/>
            <c:bubble3D val="0"/>
            <c:spPr>
              <a:solidFill>
                <a:srgbClr val="EB6834"/>
              </a:solidFill>
              <a:effectLst/>
            </c:spPr>
            <c:extLst>
              <c:ext xmlns:c16="http://schemas.microsoft.com/office/drawing/2014/chart" uri="{C3380CC4-5D6E-409C-BE32-E72D297353CC}">
                <c16:uniqueId val="{00000003-984B-42C6-AA50-8C17369E2DB0}"/>
              </c:ext>
            </c:extLst>
          </c:dPt>
          <c:dPt>
            <c:idx val="2"/>
            <c:invertIfNegative val="0"/>
            <c:bubble3D val="0"/>
            <c:spPr>
              <a:solidFill>
                <a:srgbClr val="EB6834"/>
              </a:solidFill>
              <a:effectLst/>
            </c:spPr>
            <c:extLst>
              <c:ext xmlns:c16="http://schemas.microsoft.com/office/drawing/2014/chart" uri="{C3380CC4-5D6E-409C-BE32-E72D297353CC}">
                <c16:uniqueId val="{00000005-984B-42C6-AA50-8C17369E2DB0}"/>
              </c:ext>
            </c:extLst>
          </c:dPt>
          <c:dPt>
            <c:idx val="3"/>
            <c:invertIfNegative val="0"/>
            <c:bubble3D val="0"/>
            <c:spPr>
              <a:solidFill>
                <a:srgbClr val="EB6834"/>
              </a:solidFill>
              <a:effectLst/>
            </c:spPr>
            <c:extLst>
              <c:ext xmlns:c16="http://schemas.microsoft.com/office/drawing/2014/chart" uri="{C3380CC4-5D6E-409C-BE32-E72D297353CC}">
                <c16:uniqueId val="{00000007-984B-42C6-AA50-8C17369E2DB0}"/>
              </c:ext>
            </c:extLst>
          </c:dPt>
          <c:dPt>
            <c:idx val="4"/>
            <c:invertIfNegative val="0"/>
            <c:bubble3D val="0"/>
            <c:spPr>
              <a:solidFill>
                <a:srgbClr val="EB6834"/>
              </a:solidFill>
              <a:effectLst/>
            </c:spPr>
            <c:extLst>
              <c:ext xmlns:c16="http://schemas.microsoft.com/office/drawing/2014/chart" uri="{C3380CC4-5D6E-409C-BE32-E72D297353CC}">
                <c16:uniqueId val="{00000009-984B-42C6-AA50-8C17369E2DB0}"/>
              </c:ext>
            </c:extLst>
          </c:dPt>
          <c:dPt>
            <c:idx val="5"/>
            <c:invertIfNegative val="0"/>
            <c:bubble3D val="0"/>
            <c:spPr>
              <a:solidFill>
                <a:srgbClr val="EB6834"/>
              </a:solidFill>
              <a:effectLst/>
            </c:spPr>
            <c:extLst>
              <c:ext xmlns:c16="http://schemas.microsoft.com/office/drawing/2014/chart" uri="{C3380CC4-5D6E-409C-BE32-E72D297353CC}">
                <c16:uniqueId val="{0000000B-984B-42C6-AA50-8C17369E2DB0}"/>
              </c:ext>
            </c:extLst>
          </c:dPt>
          <c:dPt>
            <c:idx val="6"/>
            <c:invertIfNegative val="0"/>
            <c:bubble3D val="0"/>
            <c:spPr>
              <a:solidFill>
                <a:srgbClr val="EB6834"/>
              </a:solidFill>
              <a:effectLst/>
            </c:spPr>
            <c:extLst>
              <c:ext xmlns:c16="http://schemas.microsoft.com/office/drawing/2014/chart" uri="{C3380CC4-5D6E-409C-BE32-E72D297353CC}">
                <c16:uniqueId val="{0000000D-984B-42C6-AA50-8C17369E2DB0}"/>
              </c:ext>
            </c:extLst>
          </c:dPt>
          <c:dPt>
            <c:idx val="7"/>
            <c:invertIfNegative val="0"/>
            <c:bubble3D val="0"/>
            <c:spPr>
              <a:solidFill>
                <a:srgbClr val="EB6834"/>
              </a:solidFill>
              <a:effectLst/>
            </c:spPr>
            <c:extLst>
              <c:ext xmlns:c16="http://schemas.microsoft.com/office/drawing/2014/chart" uri="{C3380CC4-5D6E-409C-BE32-E72D297353CC}">
                <c16:uniqueId val="{0000000F-984B-42C6-AA50-8C17369E2DB0}"/>
              </c:ext>
            </c:extLst>
          </c:dPt>
          <c:dPt>
            <c:idx val="8"/>
            <c:invertIfNegative val="0"/>
            <c:bubble3D val="0"/>
            <c:spPr>
              <a:solidFill>
                <a:srgbClr val="2A78D6"/>
              </a:solidFill>
              <a:effectLst/>
            </c:spPr>
            <c:extLst>
              <c:ext xmlns:c16="http://schemas.microsoft.com/office/drawing/2014/chart" uri="{C3380CC4-5D6E-409C-BE32-E72D297353CC}">
                <c16:uniqueId val="{00000011-984B-42C6-AA50-8C17369E2DB0}"/>
              </c:ext>
            </c:extLst>
          </c:dPt>
          <c:dPt>
            <c:idx val="9"/>
            <c:invertIfNegative val="0"/>
            <c:bubble3D val="0"/>
            <c:spPr>
              <a:solidFill>
                <a:srgbClr val="2A78D6"/>
              </a:solidFill>
              <a:effectLst/>
            </c:spPr>
            <c:extLst>
              <c:ext xmlns:c16="http://schemas.microsoft.com/office/drawing/2014/chart" uri="{C3380CC4-5D6E-409C-BE32-E72D297353CC}">
                <c16:uniqueId val="{00000013-984B-42C6-AA50-8C17369E2DB0}"/>
              </c:ext>
            </c:extLst>
          </c:dPt>
          <c:dPt>
            <c:idx val="10"/>
            <c:invertIfNegative val="0"/>
            <c:bubble3D val="0"/>
            <c:spPr>
              <a:solidFill>
                <a:srgbClr val="2A78D6"/>
              </a:solidFill>
              <a:effectLst/>
            </c:spPr>
            <c:extLst>
              <c:ext xmlns:c16="http://schemas.microsoft.com/office/drawing/2014/chart" uri="{C3380CC4-5D6E-409C-BE32-E72D297353CC}">
                <c16:uniqueId val="{00000015-984B-42C6-AA50-8C17369E2DB0}"/>
              </c:ext>
            </c:extLst>
          </c:dPt>
          <c:dPt>
            <c:idx val="11"/>
            <c:invertIfNegative val="0"/>
            <c:bubble3D val="0"/>
            <c:spPr>
              <a:solidFill>
                <a:srgbClr val="2A78D6"/>
              </a:solidFill>
              <a:effectLst/>
            </c:spPr>
            <c:extLst>
              <c:ext xmlns:c16="http://schemas.microsoft.com/office/drawing/2014/chart" uri="{C3380CC4-5D6E-409C-BE32-E72D297353CC}">
                <c16:uniqueId val="{00000017-984B-42C6-AA50-8C17369E2DB0}"/>
              </c:ext>
            </c:extLst>
          </c:dPt>
          <c:dPt>
            <c:idx val="12"/>
            <c:invertIfNegative val="0"/>
            <c:bubble3D val="0"/>
            <c:spPr>
              <a:solidFill>
                <a:srgbClr val="2A78D6"/>
              </a:solidFill>
              <a:effectLst/>
            </c:spPr>
            <c:extLst>
              <c:ext xmlns:c16="http://schemas.microsoft.com/office/drawing/2014/chart" uri="{C3380CC4-5D6E-409C-BE32-E72D297353CC}">
                <c16:uniqueId val="{00000019-984B-42C6-AA50-8C17369E2DB0}"/>
              </c:ext>
            </c:extLst>
          </c:dPt>
          <c:dPt>
            <c:idx val="13"/>
            <c:invertIfNegative val="0"/>
            <c:bubble3D val="0"/>
            <c:spPr>
              <a:solidFill>
                <a:srgbClr val="2A78D6"/>
              </a:solidFill>
              <a:effectLst/>
            </c:spPr>
            <c:extLst>
              <c:ext xmlns:c16="http://schemas.microsoft.com/office/drawing/2014/chart" uri="{C3380CC4-5D6E-409C-BE32-E72D297353CC}">
                <c16:uniqueId val="{0000001B-984B-42C6-AA50-8C17369E2DB0}"/>
              </c:ext>
            </c:extLst>
          </c:dPt>
          <c:dPt>
            <c:idx val="14"/>
            <c:invertIfNegative val="0"/>
            <c:bubble3D val="0"/>
            <c:spPr>
              <a:solidFill>
                <a:srgbClr val="2A78D6"/>
              </a:solidFill>
              <a:effectLst/>
            </c:spPr>
            <c:extLst>
              <c:ext xmlns:c16="http://schemas.microsoft.com/office/drawing/2014/chart" uri="{C3380CC4-5D6E-409C-BE32-E72D297353CC}">
                <c16:uniqueId val="{0000001D-984B-42C6-AA50-8C17369E2DB0}"/>
              </c:ext>
            </c:extLst>
          </c:dPt>
          <c:dPt>
            <c:idx val="15"/>
            <c:invertIfNegative val="0"/>
            <c:bubble3D val="0"/>
            <c:spPr>
              <a:solidFill>
                <a:srgbClr val="2A78D6"/>
              </a:solidFill>
              <a:effectLst/>
            </c:spPr>
            <c:extLst>
              <c:ext xmlns:c16="http://schemas.microsoft.com/office/drawing/2014/chart" uri="{C3380CC4-5D6E-409C-BE32-E72D297353CC}">
                <c16:uniqueId val="{0000001F-984B-42C6-AA50-8C17369E2DB0}"/>
              </c:ext>
            </c:extLst>
          </c:dPt>
          <c:cat>
            <c:strRef>
              <c:f>Sheet1!$A$2:$A$17</c:f>
              <c:strCache>
                <c:ptCount val="16"/>
                <c:pt idx="0">
                  <c:v>-15%</c:v>
                </c:pt>
                <c:pt idx="1">
                  <c:v>-13%</c:v>
                </c:pt>
                <c:pt idx="2">
                  <c:v>-11%</c:v>
                </c:pt>
                <c:pt idx="3">
                  <c:v>-9%</c:v>
                </c:pt>
                <c:pt idx="4">
                  <c:v>-7%</c:v>
                </c:pt>
                <c:pt idx="5">
                  <c:v>-5%</c:v>
                </c:pt>
                <c:pt idx="6">
                  <c:v>-3%</c:v>
                </c:pt>
                <c:pt idx="7">
                  <c:v>-1%</c:v>
                </c:pt>
                <c:pt idx="8">
                  <c:v>1%</c:v>
                </c:pt>
                <c:pt idx="9">
                  <c:v>3%</c:v>
                </c:pt>
                <c:pt idx="10">
                  <c:v>5%</c:v>
                </c:pt>
                <c:pt idx="11">
                  <c:v>7%</c:v>
                </c:pt>
                <c:pt idx="12">
                  <c:v>9%</c:v>
                </c:pt>
                <c:pt idx="13">
                  <c:v>11%</c:v>
                </c:pt>
                <c:pt idx="14">
                  <c:v>13%</c:v>
                </c:pt>
                <c:pt idx="15">
                  <c:v>15%</c:v>
                </c:pt>
              </c:strCache>
            </c:strRef>
          </c:cat>
          <c:val>
            <c:numRef>
              <c:f>Sheet1!$B$2:$B$17</c:f>
              <c:numCache>
                <c:formatCode>General</c:formatCode>
                <c:ptCount val="16"/>
                <c:pt idx="0">
                  <c:v>10</c:v>
                </c:pt>
                <c:pt idx="1">
                  <c:v>8</c:v>
                </c:pt>
                <c:pt idx="2">
                  <c:v>21</c:v>
                </c:pt>
                <c:pt idx="3">
                  <c:v>104</c:v>
                </c:pt>
                <c:pt idx="4">
                  <c:v>150</c:v>
                </c:pt>
                <c:pt idx="5">
                  <c:v>100</c:v>
                </c:pt>
                <c:pt idx="6">
                  <c:v>156</c:v>
                </c:pt>
                <c:pt idx="7">
                  <c:v>58</c:v>
                </c:pt>
                <c:pt idx="8">
                  <c:v>94</c:v>
                </c:pt>
                <c:pt idx="9">
                  <c:v>130</c:v>
                </c:pt>
                <c:pt idx="10">
                  <c:v>57</c:v>
                </c:pt>
                <c:pt idx="11">
                  <c:v>38</c:v>
                </c:pt>
                <c:pt idx="12">
                  <c:v>20</c:v>
                </c:pt>
                <c:pt idx="13">
                  <c:v>40</c:v>
                </c:pt>
                <c:pt idx="14">
                  <c:v>37</c:v>
                </c:pt>
                <c:pt idx="15">
                  <c:v>30</c:v>
                </c:pt>
              </c:numCache>
            </c:numRef>
          </c:val>
          <c:extLst>
            <c:ext xmlns:c16="http://schemas.microsoft.com/office/drawing/2014/chart" uri="{C3380CC4-5D6E-409C-BE32-E72D297353CC}">
              <c16:uniqueId val="{00000020-984B-42C6-AA50-8C17369E2DB0}"/>
            </c:ext>
          </c:extLst>
        </c:ser>
        <c:dLbls>
          <c:showLegendKey val="0"/>
          <c:showVal val="0"/>
          <c:showCatName val="0"/>
          <c:showSerName val="0"/>
          <c:showPercent val="0"/>
          <c:showBubbleSize val="0"/>
        </c:dLbls>
        <c:gapWidth val="12"/>
        <c:axId val="2094734554"/>
        <c:axId val="2094734552"/>
      </c:barChart>
      <c:catAx>
        <c:axId val="2094734554"/>
        <c:scaling>
          <c:orientation val="minMax"/>
        </c:scaling>
        <c:delete val="0"/>
        <c:axPos val="b"/>
        <c:title>
          <c:tx>
            <c:rich>
              <a:bodyPr/>
              <a:lstStyle/>
              <a:p>
                <a:pPr>
                  <a:defRPr sz="1200" b="0" i="0" u="none" strike="noStrike">
                    <a:solidFill>
                      <a:schemeClr val="accent6"/>
                    </a:solidFill>
                    <a:latin typeface="+mn-lt"/>
                  </a:defRPr>
                </a:pPr>
                <a:r>
                  <a:rPr lang="en-US" sz="1200" b="0" i="0" u="none" strike="noStrike">
                    <a:solidFill>
                      <a:schemeClr val="accent6"/>
                    </a:solidFill>
                    <a:latin typeface="+mn-lt"/>
                  </a:rPr>
                  <a:t>Daily gross profit % (bars show the middle of each 2-point band)</a:t>
                </a:r>
              </a:p>
            </c:rich>
          </c:tx>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3E6EA"/>
              </a:solidFill>
              <a:prstDash val="solid"/>
              <a:round/>
            </a:ln>
          </c:spPr>
        </c:majorGridlines>
        <c:title>
          <c:tx>
            <c:rich>
              <a:bodyPr/>
              <a:lstStyle/>
              <a:p>
                <a:pPr>
                  <a:defRPr sz="1200" b="0" i="0" u="none" strike="noStrike">
                    <a:solidFill>
                      <a:schemeClr val="accent6"/>
                    </a:solidFill>
                    <a:latin typeface="+mn-lt"/>
                  </a:defRPr>
                </a:pPr>
                <a:r>
                  <a:rPr lang="en-ZA" sz="1200" b="0" i="0" u="none" strike="noStrike">
                    <a:solidFill>
                      <a:schemeClr val="accent6"/>
                    </a:solidFill>
                    <a:latin typeface="+mn-lt"/>
                  </a:rPr>
                  <a:t>Number of days</a:t>
                </a:r>
              </a:p>
            </c:rich>
          </c:tx>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chemeClr val="accent6"/>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1"/>
                </a:solidFill>
                <a:latin typeface="+mn-lt"/>
              </a:defRPr>
            </a:pPr>
            <a:r>
              <a:rPr sz="1400" b="0" i="0" u="none" strike="noStrike">
                <a:solidFill>
                  <a:schemeClr val="tx1"/>
                </a:solidFill>
                <a:latin typeface="+mn-lt"/>
              </a:rPr>
              <a:t>Average daily sales</a:t>
            </a:r>
          </a:p>
        </c:rich>
      </c:tx>
      <c:overlay val="0"/>
    </c:title>
    <c:autoTitleDeleted val="0"/>
    <c:plotArea>
      <c:layout/>
      <c:barChart>
        <c:barDir val="col"/>
        <c:grouping val="clustered"/>
        <c:varyColors val="0"/>
        <c:ser>
          <c:idx val="0"/>
          <c:order val="0"/>
          <c:tx>
            <c:strRef>
              <c:f>Sheet1!$B$1</c:f>
              <c:strCache>
                <c:ptCount val="1"/>
                <c:pt idx="0">
                  <c:v>Average daily sales</c:v>
                </c:pt>
              </c:strCache>
            </c:strRef>
          </c:tx>
          <c:spPr>
            <a:solidFill>
              <a:srgbClr val="B9B8B1"/>
            </a:solidFill>
            <a:effectLst/>
          </c:spPr>
          <c:invertIfNegative val="0"/>
          <c:dPt>
            <c:idx val="0"/>
            <c:invertIfNegative val="0"/>
            <c:bubble3D val="0"/>
            <c:extLst>
              <c:ext xmlns:c16="http://schemas.microsoft.com/office/drawing/2014/chart" uri="{C3380CC4-5D6E-409C-BE32-E72D297353CC}">
                <c16:uniqueId val="{00000001-49B0-4790-8F3C-22BFD06976F3}"/>
              </c:ext>
            </c:extLst>
          </c:dPt>
          <c:dPt>
            <c:idx val="1"/>
            <c:invertIfNegative val="0"/>
            <c:bubble3D val="0"/>
            <c:spPr>
              <a:solidFill>
                <a:srgbClr val="2A78D6"/>
              </a:solidFill>
              <a:effectLst/>
            </c:spPr>
            <c:extLst>
              <c:ext xmlns:c16="http://schemas.microsoft.com/office/drawing/2014/chart" uri="{C3380CC4-5D6E-409C-BE32-E72D297353CC}">
                <c16:uniqueId val="{00000003-49B0-4790-8F3C-22BFD06976F3}"/>
              </c:ext>
            </c:extLst>
          </c:dPt>
          <c:dPt>
            <c:idx val="2"/>
            <c:invertIfNegative val="0"/>
            <c:bubble3D val="0"/>
            <c:spPr>
              <a:solidFill>
                <a:srgbClr val="2A78D6"/>
              </a:solidFill>
              <a:effectLst/>
            </c:spPr>
            <c:extLst>
              <c:ext xmlns:c16="http://schemas.microsoft.com/office/drawing/2014/chart" uri="{C3380CC4-5D6E-409C-BE32-E72D297353CC}">
                <c16:uniqueId val="{00000005-49B0-4790-8F3C-22BFD06976F3}"/>
              </c:ext>
            </c:extLst>
          </c:dPt>
          <c:dPt>
            <c:idx val="3"/>
            <c:invertIfNegative val="0"/>
            <c:bubble3D val="0"/>
            <c:spPr>
              <a:solidFill>
                <a:srgbClr val="2A78D6"/>
              </a:solidFill>
              <a:effectLst/>
            </c:spPr>
            <c:extLst>
              <c:ext xmlns:c16="http://schemas.microsoft.com/office/drawing/2014/chart" uri="{C3380CC4-5D6E-409C-BE32-E72D297353CC}">
                <c16:uniqueId val="{00000007-49B0-4790-8F3C-22BFD06976F3}"/>
              </c:ext>
            </c:extLst>
          </c:dPt>
          <c:dLbls>
            <c:numFmt formatCode="&quot;R&quot;#,##0,&quot;K&quot;" sourceLinked="0"/>
            <c:spPr>
              <a:noFill/>
              <a:ln>
                <a:noFill/>
              </a:ln>
              <a:effectLst/>
            </c:spPr>
            <c:txPr>
              <a:bodyPr/>
              <a:lstStyle/>
              <a:p>
                <a:pPr>
                  <a:defRPr sz="1400" b="1"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Regular days</c:v>
                </c:pt>
                <c:pt idx="1">
                  <c:v>Promotion 1</c:v>
                </c:pt>
                <c:pt idx="2">
                  <c:v>Promotion 2</c:v>
                </c:pt>
                <c:pt idx="3">
                  <c:v>Promotion 3</c:v>
                </c:pt>
              </c:strCache>
            </c:strRef>
          </c:cat>
          <c:val>
            <c:numRef>
              <c:f>Sheet1!$B$2:$B$5</c:f>
              <c:numCache>
                <c:formatCode>General</c:formatCode>
                <c:ptCount val="4"/>
                <c:pt idx="0">
                  <c:v>170414</c:v>
                </c:pt>
                <c:pt idx="1">
                  <c:v>441730</c:v>
                </c:pt>
                <c:pt idx="2">
                  <c:v>374766</c:v>
                </c:pt>
                <c:pt idx="3">
                  <c:v>246571</c:v>
                </c:pt>
              </c:numCache>
            </c:numRef>
          </c:val>
          <c:extLst>
            <c:ext xmlns:c16="http://schemas.microsoft.com/office/drawing/2014/chart" uri="{C3380CC4-5D6E-409C-BE32-E72D297353CC}">
              <c16:uniqueId val="{00000008-49B0-4790-8F3C-22BFD06976F3}"/>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max val="52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1"/>
                </a:solidFill>
                <a:latin typeface="+mn-lt"/>
              </a:defRPr>
            </a:pPr>
            <a:r>
              <a:rPr sz="1400" b="0" i="0" u="none" strike="noStrike">
                <a:solidFill>
                  <a:schemeClr val="tx1"/>
                </a:solidFill>
                <a:latin typeface="+mn-lt"/>
              </a:rPr>
              <a:t>Average daily gross profit</a:t>
            </a:r>
          </a:p>
        </c:rich>
      </c:tx>
      <c:overlay val="0"/>
    </c:title>
    <c:autoTitleDeleted val="0"/>
    <c:plotArea>
      <c:layout/>
      <c:barChart>
        <c:barDir val="col"/>
        <c:grouping val="clustered"/>
        <c:varyColors val="0"/>
        <c:ser>
          <c:idx val="0"/>
          <c:order val="0"/>
          <c:tx>
            <c:strRef>
              <c:f>Sheet1!$B$1</c:f>
              <c:strCache>
                <c:ptCount val="1"/>
                <c:pt idx="0">
                  <c:v>Average daily gross profit</c:v>
                </c:pt>
              </c:strCache>
            </c:strRef>
          </c:tx>
          <c:spPr>
            <a:solidFill>
              <a:srgbClr val="B9B8B1"/>
            </a:solidFill>
            <a:effectLst/>
          </c:spPr>
          <c:invertIfNegative val="0"/>
          <c:dPt>
            <c:idx val="0"/>
            <c:invertIfNegative val="0"/>
            <c:bubble3D val="0"/>
            <c:extLst>
              <c:ext xmlns:c16="http://schemas.microsoft.com/office/drawing/2014/chart" uri="{C3380CC4-5D6E-409C-BE32-E72D297353CC}">
                <c16:uniqueId val="{00000001-7598-4833-8F48-F87305922B36}"/>
              </c:ext>
            </c:extLst>
          </c:dPt>
          <c:dPt>
            <c:idx val="1"/>
            <c:invertIfNegative val="0"/>
            <c:bubble3D val="0"/>
            <c:spPr>
              <a:solidFill>
                <a:srgbClr val="EB6834"/>
              </a:solidFill>
              <a:effectLst/>
            </c:spPr>
            <c:extLst>
              <c:ext xmlns:c16="http://schemas.microsoft.com/office/drawing/2014/chart" uri="{C3380CC4-5D6E-409C-BE32-E72D297353CC}">
                <c16:uniqueId val="{00000003-7598-4833-8F48-F87305922B36}"/>
              </c:ext>
            </c:extLst>
          </c:dPt>
          <c:dPt>
            <c:idx val="2"/>
            <c:invertIfNegative val="0"/>
            <c:bubble3D val="0"/>
            <c:spPr>
              <a:solidFill>
                <a:srgbClr val="EB6834"/>
              </a:solidFill>
              <a:effectLst/>
            </c:spPr>
            <c:extLst>
              <c:ext xmlns:c16="http://schemas.microsoft.com/office/drawing/2014/chart" uri="{C3380CC4-5D6E-409C-BE32-E72D297353CC}">
                <c16:uniqueId val="{00000005-7598-4833-8F48-F87305922B36}"/>
              </c:ext>
            </c:extLst>
          </c:dPt>
          <c:dPt>
            <c:idx val="3"/>
            <c:invertIfNegative val="0"/>
            <c:bubble3D val="0"/>
            <c:spPr>
              <a:solidFill>
                <a:srgbClr val="EB6834"/>
              </a:solidFill>
              <a:effectLst/>
            </c:spPr>
            <c:extLst>
              <c:ext xmlns:c16="http://schemas.microsoft.com/office/drawing/2014/chart" uri="{C3380CC4-5D6E-409C-BE32-E72D297353CC}">
                <c16:uniqueId val="{00000007-7598-4833-8F48-F87305922B36}"/>
              </c:ext>
            </c:extLst>
          </c:dPt>
          <c:dLbls>
            <c:numFmt formatCode="&quot;R&quot;#,##0.0,&quot;K&quot;;&quot;-R&quot;#,##0.0,&quot;K&quot;" sourceLinked="0"/>
            <c:spPr>
              <a:noFill/>
              <a:ln>
                <a:noFill/>
              </a:ln>
              <a:effectLst/>
            </c:spPr>
            <c:txPr>
              <a:bodyPr/>
              <a:lstStyle/>
              <a:p>
                <a:pPr>
                  <a:defRPr sz="1400" b="1"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Regular days</c:v>
                </c:pt>
                <c:pt idx="1">
                  <c:v>Promotion 1</c:v>
                </c:pt>
                <c:pt idx="2">
                  <c:v>Promotion 2</c:v>
                </c:pt>
                <c:pt idx="3">
                  <c:v>Promotion 3</c:v>
                </c:pt>
              </c:strCache>
            </c:strRef>
          </c:cat>
          <c:val>
            <c:numRef>
              <c:f>Sheet1!$B$2:$B$5</c:f>
              <c:numCache>
                <c:formatCode>General</c:formatCode>
                <c:ptCount val="4"/>
                <c:pt idx="0">
                  <c:v>-6108</c:v>
                </c:pt>
                <c:pt idx="1">
                  <c:v>-50337</c:v>
                </c:pt>
                <c:pt idx="2">
                  <c:v>-12766</c:v>
                </c:pt>
                <c:pt idx="3">
                  <c:v>-9708</c:v>
                </c:pt>
              </c:numCache>
            </c:numRef>
          </c:val>
          <c:extLst>
            <c:ext xmlns:c16="http://schemas.microsoft.com/office/drawing/2014/chart" uri="{C3380CC4-5D6E-409C-BE32-E72D297353CC}">
              <c16:uniqueId val="{00000008-7598-4833-8F48-F87305922B36}"/>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max val="4000"/>
          <c:min val="-6600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1"/>
                </a:solidFill>
                <a:latin typeface="+mn-lt"/>
              </a:defRPr>
            </a:pPr>
            <a:r>
              <a:rPr sz="1400" b="0" i="0" u="none" strike="noStrike">
                <a:solidFill>
                  <a:schemeClr val="tx1"/>
                </a:solidFill>
                <a:latin typeface="+mn-lt"/>
              </a:rPr>
              <a:t>Average daily sales by month</a:t>
            </a:r>
          </a:p>
        </c:rich>
      </c:tx>
      <c:overlay val="0"/>
    </c:title>
    <c:autoTitleDeleted val="0"/>
    <c:plotArea>
      <c:layout/>
      <c:barChart>
        <c:barDir val="col"/>
        <c:grouping val="clustered"/>
        <c:varyColors val="0"/>
        <c:ser>
          <c:idx val="0"/>
          <c:order val="0"/>
          <c:tx>
            <c:strRef>
              <c:f>Sheet1!$B$1</c:f>
              <c:strCache>
                <c:ptCount val="1"/>
                <c:pt idx="0">
                  <c:v>Average daily sales</c:v>
                </c:pt>
              </c:strCache>
            </c:strRef>
          </c:tx>
          <c:spPr>
            <a:solidFill>
              <a:srgbClr val="9EC5F4"/>
            </a:solidFill>
            <a:effectLst/>
          </c:spPr>
          <c:invertIfNegative val="0"/>
          <c:dPt>
            <c:idx val="0"/>
            <c:invertIfNegative val="0"/>
            <c:bubble3D val="0"/>
            <c:extLst>
              <c:ext xmlns:c16="http://schemas.microsoft.com/office/drawing/2014/chart" uri="{C3380CC4-5D6E-409C-BE32-E72D297353CC}">
                <c16:uniqueId val="{00000001-425D-40A9-A4F1-81C6E32C4022}"/>
              </c:ext>
            </c:extLst>
          </c:dPt>
          <c:dPt>
            <c:idx val="1"/>
            <c:invertIfNegative val="0"/>
            <c:bubble3D val="0"/>
            <c:extLst>
              <c:ext xmlns:c16="http://schemas.microsoft.com/office/drawing/2014/chart" uri="{C3380CC4-5D6E-409C-BE32-E72D297353CC}">
                <c16:uniqueId val="{00000003-425D-40A9-A4F1-81C6E32C4022}"/>
              </c:ext>
            </c:extLst>
          </c:dPt>
          <c:dPt>
            <c:idx val="2"/>
            <c:invertIfNegative val="0"/>
            <c:bubble3D val="0"/>
            <c:extLst>
              <c:ext xmlns:c16="http://schemas.microsoft.com/office/drawing/2014/chart" uri="{C3380CC4-5D6E-409C-BE32-E72D297353CC}">
                <c16:uniqueId val="{00000005-425D-40A9-A4F1-81C6E32C4022}"/>
              </c:ext>
            </c:extLst>
          </c:dPt>
          <c:dPt>
            <c:idx val="3"/>
            <c:invertIfNegative val="0"/>
            <c:bubble3D val="0"/>
            <c:extLst>
              <c:ext xmlns:c16="http://schemas.microsoft.com/office/drawing/2014/chart" uri="{C3380CC4-5D6E-409C-BE32-E72D297353CC}">
                <c16:uniqueId val="{00000007-425D-40A9-A4F1-81C6E32C4022}"/>
              </c:ext>
            </c:extLst>
          </c:dPt>
          <c:dPt>
            <c:idx val="4"/>
            <c:invertIfNegative val="0"/>
            <c:bubble3D val="0"/>
            <c:spPr>
              <a:solidFill>
                <a:srgbClr val="2A78D6"/>
              </a:solidFill>
              <a:effectLst/>
            </c:spPr>
            <c:extLst>
              <c:ext xmlns:c16="http://schemas.microsoft.com/office/drawing/2014/chart" uri="{C3380CC4-5D6E-409C-BE32-E72D297353CC}">
                <c16:uniqueId val="{00000009-425D-40A9-A4F1-81C6E32C4022}"/>
              </c:ext>
            </c:extLst>
          </c:dPt>
          <c:dPt>
            <c:idx val="5"/>
            <c:invertIfNegative val="0"/>
            <c:bubble3D val="0"/>
            <c:extLst>
              <c:ext xmlns:c16="http://schemas.microsoft.com/office/drawing/2014/chart" uri="{C3380CC4-5D6E-409C-BE32-E72D297353CC}">
                <c16:uniqueId val="{0000000B-425D-40A9-A4F1-81C6E32C4022}"/>
              </c:ext>
            </c:extLst>
          </c:dPt>
          <c:dPt>
            <c:idx val="6"/>
            <c:invertIfNegative val="0"/>
            <c:bubble3D val="0"/>
            <c:spPr>
              <a:solidFill>
                <a:srgbClr val="EB6834"/>
              </a:solidFill>
              <a:effectLst/>
            </c:spPr>
            <c:extLst>
              <c:ext xmlns:c16="http://schemas.microsoft.com/office/drawing/2014/chart" uri="{C3380CC4-5D6E-409C-BE32-E72D297353CC}">
                <c16:uniqueId val="{0000000D-425D-40A9-A4F1-81C6E32C4022}"/>
              </c:ext>
            </c:extLst>
          </c:dPt>
          <c:dPt>
            <c:idx val="7"/>
            <c:invertIfNegative val="0"/>
            <c:bubble3D val="0"/>
            <c:extLst>
              <c:ext xmlns:c16="http://schemas.microsoft.com/office/drawing/2014/chart" uri="{C3380CC4-5D6E-409C-BE32-E72D297353CC}">
                <c16:uniqueId val="{0000000F-425D-40A9-A4F1-81C6E32C4022}"/>
              </c:ext>
            </c:extLst>
          </c:dPt>
          <c:dPt>
            <c:idx val="8"/>
            <c:invertIfNegative val="0"/>
            <c:bubble3D val="0"/>
            <c:extLst>
              <c:ext xmlns:c16="http://schemas.microsoft.com/office/drawing/2014/chart" uri="{C3380CC4-5D6E-409C-BE32-E72D297353CC}">
                <c16:uniqueId val="{00000011-425D-40A9-A4F1-81C6E32C4022}"/>
              </c:ext>
            </c:extLst>
          </c:dPt>
          <c:dPt>
            <c:idx val="9"/>
            <c:invertIfNegative val="0"/>
            <c:bubble3D val="0"/>
            <c:extLst>
              <c:ext xmlns:c16="http://schemas.microsoft.com/office/drawing/2014/chart" uri="{C3380CC4-5D6E-409C-BE32-E72D297353CC}">
                <c16:uniqueId val="{00000013-425D-40A9-A4F1-81C6E32C4022}"/>
              </c:ext>
            </c:extLst>
          </c:dPt>
          <c:dPt>
            <c:idx val="10"/>
            <c:invertIfNegative val="0"/>
            <c:bubble3D val="0"/>
            <c:extLst>
              <c:ext xmlns:c16="http://schemas.microsoft.com/office/drawing/2014/chart" uri="{C3380CC4-5D6E-409C-BE32-E72D297353CC}">
                <c16:uniqueId val="{00000015-425D-40A9-A4F1-81C6E32C4022}"/>
              </c:ext>
            </c:extLst>
          </c:dPt>
          <c:dPt>
            <c:idx val="11"/>
            <c:invertIfNegative val="0"/>
            <c:bubble3D val="0"/>
            <c:extLst>
              <c:ext xmlns:c16="http://schemas.microsoft.com/office/drawing/2014/chart" uri="{C3380CC4-5D6E-409C-BE32-E72D297353CC}">
                <c16:uniqueId val="{00000017-425D-40A9-A4F1-81C6E32C4022}"/>
              </c:ext>
            </c:extLst>
          </c:dPt>
          <c:dLbls>
            <c:numFmt formatCode="#,##0,&quot;K&quot;" sourceLinked="0"/>
            <c:spPr>
              <a:noFill/>
              <a:ln>
                <a:noFill/>
              </a:ln>
              <a:effectLst/>
            </c:spPr>
            <c:txPr>
              <a:bodyPr/>
              <a:lstStyle/>
              <a:p>
                <a:pPr>
                  <a:defRPr sz="1100" b="1"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140940</c:v>
                </c:pt>
                <c:pt idx="1">
                  <c:v>183222</c:v>
                </c:pt>
                <c:pt idx="2">
                  <c:v>177427</c:v>
                </c:pt>
                <c:pt idx="3">
                  <c:v>211740</c:v>
                </c:pt>
                <c:pt idx="4">
                  <c:v>228489</c:v>
                </c:pt>
                <c:pt idx="5">
                  <c:v>206224</c:v>
                </c:pt>
                <c:pt idx="6">
                  <c:v>128347</c:v>
                </c:pt>
                <c:pt idx="7">
                  <c:v>196649</c:v>
                </c:pt>
                <c:pt idx="8">
                  <c:v>173032</c:v>
                </c:pt>
                <c:pt idx="9">
                  <c:v>140676</c:v>
                </c:pt>
                <c:pt idx="10">
                  <c:v>145007</c:v>
                </c:pt>
                <c:pt idx="11">
                  <c:v>202509</c:v>
                </c:pt>
              </c:numCache>
            </c:numRef>
          </c:val>
          <c:extLst>
            <c:ext xmlns:c16="http://schemas.microsoft.com/office/drawing/2014/chart" uri="{C3380CC4-5D6E-409C-BE32-E72D297353CC}">
              <c16:uniqueId val="{00000018-425D-40A9-A4F1-81C6E32C402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max val="26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1"/>
                </a:solidFill>
                <a:latin typeface="+mn-lt"/>
              </a:defRPr>
            </a:pPr>
            <a:r>
              <a:rPr sz="1400" b="0" i="0" u="none" strike="noStrike">
                <a:solidFill>
                  <a:schemeClr val="tx1"/>
                </a:solidFill>
                <a:latin typeface="+mn-lt"/>
              </a:rPr>
              <a:t>Average price per unit by month</a:t>
            </a:r>
          </a:p>
        </c:rich>
      </c:tx>
      <c:overlay val="0"/>
    </c:title>
    <c:autoTitleDeleted val="0"/>
    <c:plotArea>
      <c:layout/>
      <c:lineChart>
        <c:grouping val="standard"/>
        <c:varyColors val="0"/>
        <c:ser>
          <c:idx val="0"/>
          <c:order val="0"/>
          <c:tx>
            <c:strRef>
              <c:f>Sheet1!$B$1</c:f>
              <c:strCache>
                <c:ptCount val="1"/>
                <c:pt idx="0">
                  <c:v>Average price per unit</c:v>
                </c:pt>
              </c:strCache>
            </c:strRef>
          </c:tx>
          <c:spPr>
            <a:ln w="31750" cap="flat">
              <a:solidFill>
                <a:srgbClr val="2A78D6"/>
              </a:solidFill>
              <a:prstDash val="solid"/>
              <a:round/>
            </a:ln>
            <a:effectLst/>
          </c:spPr>
          <c:marker>
            <c:symbol val="circle"/>
            <c:size val="8"/>
            <c:spPr>
              <a:solidFill>
                <a:srgbClr val="2A78D6"/>
              </a:solidFill>
              <a:ln w="9525" cap="flat">
                <a:solidFill>
                  <a:srgbClr val="2A78D6"/>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37.340000000000003</c:v>
                </c:pt>
                <c:pt idx="1">
                  <c:v>36.75</c:v>
                </c:pt>
                <c:pt idx="2">
                  <c:v>37.71</c:v>
                </c:pt>
                <c:pt idx="3">
                  <c:v>36.53</c:v>
                </c:pt>
                <c:pt idx="4">
                  <c:v>36.43</c:v>
                </c:pt>
                <c:pt idx="5">
                  <c:v>35.94</c:v>
                </c:pt>
                <c:pt idx="6">
                  <c:v>37.770000000000003</c:v>
                </c:pt>
                <c:pt idx="7">
                  <c:v>35.65</c:v>
                </c:pt>
                <c:pt idx="8">
                  <c:v>36.21</c:v>
                </c:pt>
                <c:pt idx="9">
                  <c:v>38.31</c:v>
                </c:pt>
                <c:pt idx="10">
                  <c:v>38.6</c:v>
                </c:pt>
                <c:pt idx="11">
                  <c:v>38.130000000000003</c:v>
                </c:pt>
              </c:numCache>
            </c:numRef>
          </c:val>
          <c:smooth val="0"/>
          <c:extLst>
            <c:ext xmlns:c16="http://schemas.microsoft.com/office/drawing/2014/chart" uri="{C3380CC4-5D6E-409C-BE32-E72D297353CC}">
              <c16:uniqueId val="{00000000-DE02-4A0A-89DD-988405C6EEE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max val="39"/>
          <c:min val="35"/>
        </c:scaling>
        <c:delete val="0"/>
        <c:axPos val="l"/>
        <c:majorGridlines>
          <c:spPr>
            <a:ln w="9525" cap="flat">
              <a:solidFill>
                <a:srgbClr val="E3E6EA"/>
              </a:solidFill>
              <a:prstDash val="solid"/>
              <a:round/>
            </a:ln>
          </c:spPr>
        </c:majorGridlines>
        <c:numFmt formatCode="&quot;R&quot;0" sourceLinked="0"/>
        <c:majorTickMark val="out"/>
        <c:minorTickMark val="none"/>
        <c:tickLblPos val="nextTo"/>
        <c:spPr>
          <a:ln w="12700" cap="flat">
            <a:noFill/>
            <a:prstDash val="solid"/>
            <a:round/>
          </a:ln>
        </c:spPr>
        <c:txPr>
          <a:bodyPr/>
          <a:lstStyle/>
          <a:p>
            <a:pPr>
              <a:defRPr sz="1200" b="0" i="0" u="none" strike="noStrike">
                <a:solidFill>
                  <a:schemeClr val="accent6"/>
                </a:solidFill>
                <a:latin typeface="+mn-lt"/>
              </a:defRPr>
            </a:pPr>
            <a:endParaRPr lang="en-US"/>
          </a:p>
        </c:txPr>
        <c:crossAx val="2094734554"/>
        <c:crosses val="autoZero"/>
        <c:crossBetween val="between"/>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1"/>
                </a:solidFill>
                <a:latin typeface="+mn-lt"/>
              </a:defRPr>
            </a:pPr>
            <a:r>
              <a:rPr sz="1400" b="0" i="0" u="none" strike="noStrike">
                <a:solidFill>
                  <a:schemeClr val="tx1"/>
                </a:solidFill>
                <a:latin typeface="+mn-lt"/>
              </a:rPr>
              <a:t>Gross margin by month (total gross profit ÷ total sales)</a:t>
            </a:r>
          </a:p>
        </c:rich>
      </c:tx>
      <c:overlay val="0"/>
    </c:title>
    <c:autoTitleDeleted val="0"/>
    <c:plotArea>
      <c:layout/>
      <c:barChart>
        <c:barDir val="col"/>
        <c:grouping val="clustered"/>
        <c:varyColors val="0"/>
        <c:ser>
          <c:idx val="0"/>
          <c:order val="0"/>
          <c:tx>
            <c:strRef>
              <c:f>Sheet1!$B$1</c:f>
              <c:strCache>
                <c:ptCount val="1"/>
                <c:pt idx="0">
                  <c:v>Gross margin %</c:v>
                </c:pt>
              </c:strCache>
            </c:strRef>
          </c:tx>
          <c:spPr>
            <a:solidFill>
              <a:srgbClr val="EB6834"/>
            </a:solidFill>
            <a:effectLst/>
          </c:spPr>
          <c:invertIfNegative val="0"/>
          <c:dLbls>
            <c:numFmt formatCode="0.0&quot;%&quot;" sourceLinked="0"/>
            <c:spPr>
              <a:noFill/>
              <a:ln>
                <a:noFill/>
              </a:ln>
              <a:effectLst/>
            </c:spPr>
            <c:txPr>
              <a:bodyPr/>
              <a:lstStyle/>
              <a:p>
                <a:pPr>
                  <a:defRPr sz="1300" b="1"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-3</c:v>
                </c:pt>
                <c:pt idx="1">
                  <c:v>-2.4</c:v>
                </c:pt>
                <c:pt idx="2">
                  <c:v>-2.6</c:v>
                </c:pt>
                <c:pt idx="3">
                  <c:v>-4.4000000000000004</c:v>
                </c:pt>
                <c:pt idx="4">
                  <c:v>-5.0999999999999996</c:v>
                </c:pt>
                <c:pt idx="5">
                  <c:v>-4.2</c:v>
                </c:pt>
                <c:pt idx="6">
                  <c:v>-1.4</c:v>
                </c:pt>
                <c:pt idx="7">
                  <c:v>-5.0999999999999996</c:v>
                </c:pt>
                <c:pt idx="8">
                  <c:v>-5.5</c:v>
                </c:pt>
                <c:pt idx="9">
                  <c:v>-1.8</c:v>
                </c:pt>
                <c:pt idx="10">
                  <c:v>-3.3</c:v>
                </c:pt>
                <c:pt idx="11">
                  <c:v>-5.0999999999999996</c:v>
                </c:pt>
              </c:numCache>
            </c:numRef>
          </c:val>
          <c:extLst>
            <c:ext xmlns:c16="http://schemas.microsoft.com/office/drawing/2014/chart" uri="{C3380CC4-5D6E-409C-BE32-E72D297353CC}">
              <c16:uniqueId val="{00000000-1771-4C7A-B9A6-4A485DDA9E54}"/>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max val="0"/>
          <c:min val="-7.5"/>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1"/>
                </a:solidFill>
                <a:latin typeface="+mn-lt"/>
              </a:defRPr>
            </a:pPr>
            <a:r>
              <a:rPr sz="1400" b="0" i="0" u="none" strike="noStrike">
                <a:solidFill>
                  <a:schemeClr val="tx1"/>
                </a:solidFill>
                <a:latin typeface="+mn-lt"/>
              </a:rPr>
              <a:t>Average sales by day of week</a:t>
            </a:r>
          </a:p>
        </c:rich>
      </c:tx>
      <c:overlay val="0"/>
    </c:title>
    <c:autoTitleDeleted val="0"/>
    <c:plotArea>
      <c:layout/>
      <c:barChart>
        <c:barDir val="col"/>
        <c:grouping val="clustered"/>
        <c:varyColors val="0"/>
        <c:ser>
          <c:idx val="0"/>
          <c:order val="0"/>
          <c:tx>
            <c:strRef>
              <c:f>Sheet1!$B$1</c:f>
              <c:strCache>
                <c:ptCount val="1"/>
                <c:pt idx="0">
                  <c:v>Average daily sales</c:v>
                </c:pt>
              </c:strCache>
            </c:strRef>
          </c:tx>
          <c:spPr>
            <a:solidFill>
              <a:srgbClr val="9EC5F4"/>
            </a:solidFill>
            <a:effectLst/>
          </c:spPr>
          <c:invertIfNegative val="0"/>
          <c:dPt>
            <c:idx val="0"/>
            <c:invertIfNegative val="0"/>
            <c:bubble3D val="0"/>
            <c:extLst>
              <c:ext xmlns:c16="http://schemas.microsoft.com/office/drawing/2014/chart" uri="{C3380CC4-5D6E-409C-BE32-E72D297353CC}">
                <c16:uniqueId val="{00000001-C4EA-454F-9160-6D3A132FB68A}"/>
              </c:ext>
            </c:extLst>
          </c:dPt>
          <c:dPt>
            <c:idx val="1"/>
            <c:invertIfNegative val="0"/>
            <c:bubble3D val="0"/>
            <c:extLst>
              <c:ext xmlns:c16="http://schemas.microsoft.com/office/drawing/2014/chart" uri="{C3380CC4-5D6E-409C-BE32-E72D297353CC}">
                <c16:uniqueId val="{00000003-C4EA-454F-9160-6D3A132FB68A}"/>
              </c:ext>
            </c:extLst>
          </c:dPt>
          <c:dPt>
            <c:idx val="2"/>
            <c:invertIfNegative val="0"/>
            <c:bubble3D val="0"/>
            <c:extLst>
              <c:ext xmlns:c16="http://schemas.microsoft.com/office/drawing/2014/chart" uri="{C3380CC4-5D6E-409C-BE32-E72D297353CC}">
                <c16:uniqueId val="{00000005-C4EA-454F-9160-6D3A132FB68A}"/>
              </c:ext>
            </c:extLst>
          </c:dPt>
          <c:dPt>
            <c:idx val="3"/>
            <c:invertIfNegative val="0"/>
            <c:bubble3D val="0"/>
            <c:extLst>
              <c:ext xmlns:c16="http://schemas.microsoft.com/office/drawing/2014/chart" uri="{C3380CC4-5D6E-409C-BE32-E72D297353CC}">
                <c16:uniqueId val="{00000007-C4EA-454F-9160-6D3A132FB68A}"/>
              </c:ext>
            </c:extLst>
          </c:dPt>
          <c:dPt>
            <c:idx val="4"/>
            <c:invertIfNegative val="0"/>
            <c:bubble3D val="0"/>
            <c:spPr>
              <a:solidFill>
                <a:srgbClr val="2A78D6"/>
              </a:solidFill>
              <a:effectLst/>
            </c:spPr>
            <c:extLst>
              <c:ext xmlns:c16="http://schemas.microsoft.com/office/drawing/2014/chart" uri="{C3380CC4-5D6E-409C-BE32-E72D297353CC}">
                <c16:uniqueId val="{00000009-C4EA-454F-9160-6D3A132FB68A}"/>
              </c:ext>
            </c:extLst>
          </c:dPt>
          <c:dPt>
            <c:idx val="5"/>
            <c:invertIfNegative val="0"/>
            <c:bubble3D val="0"/>
            <c:spPr>
              <a:solidFill>
                <a:srgbClr val="2A78D6"/>
              </a:solidFill>
              <a:effectLst/>
            </c:spPr>
            <c:extLst>
              <c:ext xmlns:c16="http://schemas.microsoft.com/office/drawing/2014/chart" uri="{C3380CC4-5D6E-409C-BE32-E72D297353CC}">
                <c16:uniqueId val="{0000000B-C4EA-454F-9160-6D3A132FB68A}"/>
              </c:ext>
            </c:extLst>
          </c:dPt>
          <c:dPt>
            <c:idx val="6"/>
            <c:invertIfNegative val="0"/>
            <c:bubble3D val="0"/>
            <c:extLst>
              <c:ext xmlns:c16="http://schemas.microsoft.com/office/drawing/2014/chart" uri="{C3380CC4-5D6E-409C-BE32-E72D297353CC}">
                <c16:uniqueId val="{0000000D-C4EA-454F-9160-6D3A132FB68A}"/>
              </c:ext>
            </c:extLst>
          </c:dPt>
          <c:dLbls>
            <c:numFmt formatCode="&quot;R&quot;#,##0,&quot;K&quot;" sourceLinked="0"/>
            <c:spPr>
              <a:noFill/>
              <a:ln>
                <a:noFill/>
              </a:ln>
              <a:effectLst/>
            </c:spPr>
            <c:txPr>
              <a:bodyPr/>
              <a:lstStyle/>
              <a:p>
                <a:pPr>
                  <a:defRPr sz="1400" b="1"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156313</c:v>
                </c:pt>
                <c:pt idx="1">
                  <c:v>137315</c:v>
                </c:pt>
                <c:pt idx="2">
                  <c:v>145891</c:v>
                </c:pt>
                <c:pt idx="3">
                  <c:v>141085</c:v>
                </c:pt>
                <c:pt idx="4">
                  <c:v>245314</c:v>
                </c:pt>
                <c:pt idx="5">
                  <c:v>279047</c:v>
                </c:pt>
                <c:pt idx="6">
                  <c:v>138171</c:v>
                </c:pt>
              </c:numCache>
            </c:numRef>
          </c:val>
          <c:extLst>
            <c:ext xmlns:c16="http://schemas.microsoft.com/office/drawing/2014/chart" uri="{C3380CC4-5D6E-409C-BE32-E72D297353CC}">
              <c16:uniqueId val="{0000000E-C4EA-454F-9160-6D3A132FB68A}"/>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max val="32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Units sold per day</c:v>
                </c:pt>
              </c:strCache>
            </c:strRef>
          </c:tx>
          <c:spPr>
            <a:ln>
              <a:noFill/>
            </a:ln>
            <a:effectLst/>
          </c:spPr>
          <c:marker>
            <c:symbol val="circle"/>
            <c:size val="4"/>
            <c:spPr>
              <a:solidFill>
                <a:srgbClr val="2A78D6"/>
              </a:solidFill>
              <a:ln w="9525" cap="flat">
                <a:solidFill>
                  <a:srgbClr val="2A78D6"/>
                </a:solidFill>
                <a:prstDash val="solid"/>
                <a:round/>
              </a:ln>
              <a:effectLst/>
            </c:spPr>
          </c:marker>
          <c:xVal>
            <c:numRef>
              <c:f>Sheet1!$A$2:$A$1054</c:f>
              <c:numCache>
                <c:formatCode>General</c:formatCode>
                <c:ptCount val="1053"/>
                <c:pt idx="0">
                  <c:v>32.802</c:v>
                </c:pt>
                <c:pt idx="1">
                  <c:v>32.406999999999996</c:v>
                </c:pt>
                <c:pt idx="2">
                  <c:v>32.405999999999999</c:v>
                </c:pt>
                <c:pt idx="3">
                  <c:v>32.417000000000002</c:v>
                </c:pt>
                <c:pt idx="4">
                  <c:v>32.417999999999999</c:v>
                </c:pt>
                <c:pt idx="5">
                  <c:v>32.423000000000002</c:v>
                </c:pt>
                <c:pt idx="6">
                  <c:v>32.438000000000002</c:v>
                </c:pt>
                <c:pt idx="7">
                  <c:v>32.424999999999997</c:v>
                </c:pt>
                <c:pt idx="8">
                  <c:v>32.414999999999999</c:v>
                </c:pt>
                <c:pt idx="9">
                  <c:v>34.058999999999997</c:v>
                </c:pt>
                <c:pt idx="10">
                  <c:v>34.125999999999998</c:v>
                </c:pt>
                <c:pt idx="11">
                  <c:v>34.11</c:v>
                </c:pt>
                <c:pt idx="12">
                  <c:v>34.11</c:v>
                </c:pt>
                <c:pt idx="13">
                  <c:v>34.128</c:v>
                </c:pt>
                <c:pt idx="14">
                  <c:v>34.1</c:v>
                </c:pt>
                <c:pt idx="15">
                  <c:v>34.11</c:v>
                </c:pt>
                <c:pt idx="16">
                  <c:v>34.084000000000003</c:v>
                </c:pt>
                <c:pt idx="17">
                  <c:v>34.085000000000001</c:v>
                </c:pt>
                <c:pt idx="18">
                  <c:v>34.137999999999998</c:v>
                </c:pt>
                <c:pt idx="19">
                  <c:v>34.128</c:v>
                </c:pt>
                <c:pt idx="20">
                  <c:v>34.143999999999998</c:v>
                </c:pt>
                <c:pt idx="21">
                  <c:v>34.121000000000002</c:v>
                </c:pt>
                <c:pt idx="22">
                  <c:v>34.087000000000003</c:v>
                </c:pt>
                <c:pt idx="23">
                  <c:v>33.923999999999999</c:v>
                </c:pt>
                <c:pt idx="24">
                  <c:v>34.176000000000002</c:v>
                </c:pt>
                <c:pt idx="25">
                  <c:v>34.168999999999997</c:v>
                </c:pt>
                <c:pt idx="26">
                  <c:v>34.170999999999999</c:v>
                </c:pt>
                <c:pt idx="27">
                  <c:v>34.164999999999999</c:v>
                </c:pt>
                <c:pt idx="28">
                  <c:v>34.177</c:v>
                </c:pt>
                <c:pt idx="29">
                  <c:v>34.156999999999996</c:v>
                </c:pt>
                <c:pt idx="30">
                  <c:v>34.173000000000002</c:v>
                </c:pt>
                <c:pt idx="31">
                  <c:v>34.164999999999999</c:v>
                </c:pt>
                <c:pt idx="32">
                  <c:v>34.167000000000002</c:v>
                </c:pt>
                <c:pt idx="33">
                  <c:v>34.164999999999999</c:v>
                </c:pt>
                <c:pt idx="34">
                  <c:v>34.167000000000002</c:v>
                </c:pt>
                <c:pt idx="35">
                  <c:v>34.167000000000002</c:v>
                </c:pt>
                <c:pt idx="36">
                  <c:v>34.162999999999997</c:v>
                </c:pt>
                <c:pt idx="37">
                  <c:v>32.47</c:v>
                </c:pt>
                <c:pt idx="38">
                  <c:v>33.79</c:v>
                </c:pt>
                <c:pt idx="39">
                  <c:v>32.481000000000002</c:v>
                </c:pt>
                <c:pt idx="40">
                  <c:v>32.460999999999999</c:v>
                </c:pt>
                <c:pt idx="41">
                  <c:v>32.470999999999997</c:v>
                </c:pt>
                <c:pt idx="42">
                  <c:v>32.453000000000003</c:v>
                </c:pt>
                <c:pt idx="43">
                  <c:v>32.478000000000002</c:v>
                </c:pt>
                <c:pt idx="44">
                  <c:v>32.445999999999998</c:v>
                </c:pt>
                <c:pt idx="45">
                  <c:v>32.47</c:v>
                </c:pt>
                <c:pt idx="46">
                  <c:v>32.454000000000001</c:v>
                </c:pt>
                <c:pt idx="47">
                  <c:v>32.451000000000001</c:v>
                </c:pt>
                <c:pt idx="48">
                  <c:v>32.448</c:v>
                </c:pt>
                <c:pt idx="49">
                  <c:v>32.436999999999998</c:v>
                </c:pt>
                <c:pt idx="50">
                  <c:v>34.167999999999999</c:v>
                </c:pt>
                <c:pt idx="51">
                  <c:v>32.436999999999998</c:v>
                </c:pt>
                <c:pt idx="52">
                  <c:v>34.173000000000002</c:v>
                </c:pt>
                <c:pt idx="53">
                  <c:v>32.433999999999997</c:v>
                </c:pt>
                <c:pt idx="54">
                  <c:v>31.643000000000001</c:v>
                </c:pt>
                <c:pt idx="55">
                  <c:v>32.433999999999997</c:v>
                </c:pt>
                <c:pt idx="56">
                  <c:v>32.427</c:v>
                </c:pt>
                <c:pt idx="57">
                  <c:v>32.433999999999997</c:v>
                </c:pt>
                <c:pt idx="58">
                  <c:v>32.456000000000003</c:v>
                </c:pt>
                <c:pt idx="59">
                  <c:v>31.068000000000001</c:v>
                </c:pt>
                <c:pt idx="60">
                  <c:v>31.812999999999999</c:v>
                </c:pt>
                <c:pt idx="61">
                  <c:v>32.058999999999997</c:v>
                </c:pt>
                <c:pt idx="62">
                  <c:v>31.917999999999999</c:v>
                </c:pt>
                <c:pt idx="63">
                  <c:v>31.913</c:v>
                </c:pt>
                <c:pt idx="64">
                  <c:v>31.704000000000001</c:v>
                </c:pt>
                <c:pt idx="65">
                  <c:v>31.734999999999999</c:v>
                </c:pt>
                <c:pt idx="66">
                  <c:v>33.084000000000003</c:v>
                </c:pt>
                <c:pt idx="67">
                  <c:v>31.978000000000002</c:v>
                </c:pt>
                <c:pt idx="68">
                  <c:v>31.984999999999999</c:v>
                </c:pt>
                <c:pt idx="69">
                  <c:v>32.036000000000001</c:v>
                </c:pt>
                <c:pt idx="70">
                  <c:v>32.045999999999999</c:v>
                </c:pt>
                <c:pt idx="71">
                  <c:v>32.619999999999997</c:v>
                </c:pt>
                <c:pt idx="72">
                  <c:v>32.475000000000001</c:v>
                </c:pt>
                <c:pt idx="73">
                  <c:v>32.567999999999998</c:v>
                </c:pt>
                <c:pt idx="74">
                  <c:v>32.542000000000002</c:v>
                </c:pt>
                <c:pt idx="75">
                  <c:v>32.445</c:v>
                </c:pt>
                <c:pt idx="76">
                  <c:v>32.523000000000003</c:v>
                </c:pt>
                <c:pt idx="77">
                  <c:v>32.520000000000003</c:v>
                </c:pt>
                <c:pt idx="78">
                  <c:v>35.039000000000001</c:v>
                </c:pt>
                <c:pt idx="79">
                  <c:v>35.034999999999997</c:v>
                </c:pt>
                <c:pt idx="80">
                  <c:v>35.034999999999997</c:v>
                </c:pt>
                <c:pt idx="81">
                  <c:v>35.036999999999999</c:v>
                </c:pt>
                <c:pt idx="82">
                  <c:v>35.039000000000001</c:v>
                </c:pt>
                <c:pt idx="83">
                  <c:v>35.045000000000002</c:v>
                </c:pt>
                <c:pt idx="84">
                  <c:v>35.031999999999996</c:v>
                </c:pt>
                <c:pt idx="85">
                  <c:v>34.073</c:v>
                </c:pt>
                <c:pt idx="86">
                  <c:v>34.182000000000002</c:v>
                </c:pt>
                <c:pt idx="87">
                  <c:v>33.715000000000003</c:v>
                </c:pt>
                <c:pt idx="88">
                  <c:v>33.97</c:v>
                </c:pt>
                <c:pt idx="89">
                  <c:v>33.976999999999997</c:v>
                </c:pt>
                <c:pt idx="90">
                  <c:v>34.203000000000003</c:v>
                </c:pt>
                <c:pt idx="91">
                  <c:v>34.161000000000001</c:v>
                </c:pt>
                <c:pt idx="92">
                  <c:v>34.177</c:v>
                </c:pt>
                <c:pt idx="93">
                  <c:v>34.015000000000001</c:v>
                </c:pt>
                <c:pt idx="94">
                  <c:v>34.026000000000003</c:v>
                </c:pt>
                <c:pt idx="95">
                  <c:v>34.286000000000001</c:v>
                </c:pt>
                <c:pt idx="96">
                  <c:v>34.353000000000002</c:v>
                </c:pt>
                <c:pt idx="97">
                  <c:v>34.578000000000003</c:v>
                </c:pt>
                <c:pt idx="98">
                  <c:v>34.226999999999997</c:v>
                </c:pt>
                <c:pt idx="99">
                  <c:v>35.039000000000001</c:v>
                </c:pt>
                <c:pt idx="100">
                  <c:v>35.034999999999997</c:v>
                </c:pt>
                <c:pt idx="101">
                  <c:v>33.332000000000001</c:v>
                </c:pt>
                <c:pt idx="102">
                  <c:v>33.317999999999998</c:v>
                </c:pt>
                <c:pt idx="103">
                  <c:v>33.335999999999999</c:v>
                </c:pt>
                <c:pt idx="104">
                  <c:v>33.344999999999999</c:v>
                </c:pt>
                <c:pt idx="105">
                  <c:v>33.331000000000003</c:v>
                </c:pt>
                <c:pt idx="106">
                  <c:v>33.320999999999998</c:v>
                </c:pt>
                <c:pt idx="107">
                  <c:v>33.332000000000001</c:v>
                </c:pt>
                <c:pt idx="108">
                  <c:v>33.335000000000001</c:v>
                </c:pt>
                <c:pt idx="109">
                  <c:v>33.344000000000001</c:v>
                </c:pt>
                <c:pt idx="110">
                  <c:v>33.335000000000001</c:v>
                </c:pt>
                <c:pt idx="111">
                  <c:v>33.326999999999998</c:v>
                </c:pt>
                <c:pt idx="112">
                  <c:v>33.341000000000001</c:v>
                </c:pt>
                <c:pt idx="113">
                  <c:v>33.33</c:v>
                </c:pt>
                <c:pt idx="114">
                  <c:v>35.04</c:v>
                </c:pt>
                <c:pt idx="115">
                  <c:v>35.040999999999997</c:v>
                </c:pt>
                <c:pt idx="116">
                  <c:v>34.642000000000003</c:v>
                </c:pt>
                <c:pt idx="117">
                  <c:v>34.725000000000001</c:v>
                </c:pt>
                <c:pt idx="118">
                  <c:v>34.79</c:v>
                </c:pt>
                <c:pt idx="119">
                  <c:v>34.725000000000001</c:v>
                </c:pt>
                <c:pt idx="120">
                  <c:v>34.631999999999998</c:v>
                </c:pt>
                <c:pt idx="121">
                  <c:v>35.209000000000003</c:v>
                </c:pt>
                <c:pt idx="122">
                  <c:v>35.186</c:v>
                </c:pt>
                <c:pt idx="123">
                  <c:v>35.767000000000003</c:v>
                </c:pt>
                <c:pt idx="124">
                  <c:v>35.552</c:v>
                </c:pt>
                <c:pt idx="125">
                  <c:v>35.231999999999999</c:v>
                </c:pt>
                <c:pt idx="126">
                  <c:v>35.158000000000001</c:v>
                </c:pt>
                <c:pt idx="127">
                  <c:v>35.915999999999997</c:v>
                </c:pt>
                <c:pt idx="128">
                  <c:v>34.262</c:v>
                </c:pt>
                <c:pt idx="129">
                  <c:v>35.905999999999999</c:v>
                </c:pt>
                <c:pt idx="130">
                  <c:v>32.506999999999998</c:v>
                </c:pt>
                <c:pt idx="131">
                  <c:v>32.444000000000003</c:v>
                </c:pt>
                <c:pt idx="132">
                  <c:v>32.465000000000003</c:v>
                </c:pt>
                <c:pt idx="133">
                  <c:v>32.445</c:v>
                </c:pt>
                <c:pt idx="134">
                  <c:v>32.46</c:v>
                </c:pt>
                <c:pt idx="135">
                  <c:v>32.164000000000001</c:v>
                </c:pt>
                <c:pt idx="136">
                  <c:v>32.127000000000002</c:v>
                </c:pt>
                <c:pt idx="137">
                  <c:v>32.073</c:v>
                </c:pt>
                <c:pt idx="138">
                  <c:v>32.158999999999999</c:v>
                </c:pt>
                <c:pt idx="139">
                  <c:v>32.374000000000002</c:v>
                </c:pt>
                <c:pt idx="140">
                  <c:v>32.445</c:v>
                </c:pt>
                <c:pt idx="141">
                  <c:v>32.094000000000001</c:v>
                </c:pt>
                <c:pt idx="142">
                  <c:v>32.104999999999997</c:v>
                </c:pt>
                <c:pt idx="143">
                  <c:v>33.755000000000003</c:v>
                </c:pt>
                <c:pt idx="144">
                  <c:v>32.167000000000002</c:v>
                </c:pt>
                <c:pt idx="145">
                  <c:v>32.177</c:v>
                </c:pt>
                <c:pt idx="146">
                  <c:v>32.424999999999997</c:v>
                </c:pt>
                <c:pt idx="147">
                  <c:v>32.314999999999998</c:v>
                </c:pt>
                <c:pt idx="148">
                  <c:v>32.198999999999998</c:v>
                </c:pt>
                <c:pt idx="149">
                  <c:v>32.156999999999996</c:v>
                </c:pt>
                <c:pt idx="150">
                  <c:v>32.17</c:v>
                </c:pt>
                <c:pt idx="151">
                  <c:v>32.177</c:v>
                </c:pt>
                <c:pt idx="152">
                  <c:v>32.156999999999996</c:v>
                </c:pt>
                <c:pt idx="153">
                  <c:v>32.140999999999998</c:v>
                </c:pt>
                <c:pt idx="154">
                  <c:v>32.125</c:v>
                </c:pt>
                <c:pt idx="155">
                  <c:v>32.106000000000002</c:v>
                </c:pt>
                <c:pt idx="156">
                  <c:v>32.165999999999997</c:v>
                </c:pt>
                <c:pt idx="157">
                  <c:v>31.989000000000001</c:v>
                </c:pt>
                <c:pt idx="158">
                  <c:v>31.995000000000001</c:v>
                </c:pt>
                <c:pt idx="159">
                  <c:v>32.067999999999998</c:v>
                </c:pt>
                <c:pt idx="160">
                  <c:v>32.097000000000001</c:v>
                </c:pt>
                <c:pt idx="161">
                  <c:v>32.417000000000002</c:v>
                </c:pt>
                <c:pt idx="162">
                  <c:v>32.155000000000001</c:v>
                </c:pt>
                <c:pt idx="163">
                  <c:v>32.11</c:v>
                </c:pt>
                <c:pt idx="164">
                  <c:v>32.136000000000003</c:v>
                </c:pt>
                <c:pt idx="165">
                  <c:v>32.136000000000003</c:v>
                </c:pt>
                <c:pt idx="166">
                  <c:v>32.107999999999997</c:v>
                </c:pt>
                <c:pt idx="167">
                  <c:v>32.073999999999998</c:v>
                </c:pt>
                <c:pt idx="168">
                  <c:v>32.067</c:v>
                </c:pt>
                <c:pt idx="169">
                  <c:v>32.07</c:v>
                </c:pt>
                <c:pt idx="170">
                  <c:v>32.033999999999999</c:v>
                </c:pt>
                <c:pt idx="171">
                  <c:v>31.788</c:v>
                </c:pt>
                <c:pt idx="172">
                  <c:v>33.201999999999998</c:v>
                </c:pt>
                <c:pt idx="173">
                  <c:v>33.005000000000003</c:v>
                </c:pt>
                <c:pt idx="174">
                  <c:v>33.61</c:v>
                </c:pt>
                <c:pt idx="175">
                  <c:v>33.462000000000003</c:v>
                </c:pt>
                <c:pt idx="176">
                  <c:v>35.045999999999999</c:v>
                </c:pt>
                <c:pt idx="177">
                  <c:v>35.027000000000001</c:v>
                </c:pt>
                <c:pt idx="178">
                  <c:v>35.037999999999997</c:v>
                </c:pt>
                <c:pt idx="179">
                  <c:v>35.042000000000002</c:v>
                </c:pt>
                <c:pt idx="180">
                  <c:v>35.036000000000001</c:v>
                </c:pt>
                <c:pt idx="181">
                  <c:v>35.03</c:v>
                </c:pt>
                <c:pt idx="182">
                  <c:v>35.036999999999999</c:v>
                </c:pt>
                <c:pt idx="183">
                  <c:v>35.034999999999997</c:v>
                </c:pt>
                <c:pt idx="184">
                  <c:v>35.036999999999999</c:v>
                </c:pt>
                <c:pt idx="185">
                  <c:v>35.04</c:v>
                </c:pt>
                <c:pt idx="186">
                  <c:v>35.043999999999997</c:v>
                </c:pt>
                <c:pt idx="187">
                  <c:v>35.040999999999997</c:v>
                </c:pt>
                <c:pt idx="188">
                  <c:v>35.040999999999997</c:v>
                </c:pt>
                <c:pt idx="189">
                  <c:v>35.036999999999999</c:v>
                </c:pt>
                <c:pt idx="190">
                  <c:v>35.040999999999997</c:v>
                </c:pt>
                <c:pt idx="191">
                  <c:v>35.033000000000001</c:v>
                </c:pt>
                <c:pt idx="192">
                  <c:v>35.04</c:v>
                </c:pt>
                <c:pt idx="193">
                  <c:v>35.036999999999999</c:v>
                </c:pt>
                <c:pt idx="194">
                  <c:v>35.042999999999999</c:v>
                </c:pt>
                <c:pt idx="195">
                  <c:v>35.027999999999999</c:v>
                </c:pt>
                <c:pt idx="196">
                  <c:v>35.045999999999999</c:v>
                </c:pt>
                <c:pt idx="197">
                  <c:v>35.033999999999999</c:v>
                </c:pt>
                <c:pt idx="198">
                  <c:v>32.442999999999998</c:v>
                </c:pt>
                <c:pt idx="199">
                  <c:v>35.033999999999999</c:v>
                </c:pt>
                <c:pt idx="200">
                  <c:v>35.033999999999999</c:v>
                </c:pt>
                <c:pt idx="201">
                  <c:v>32.433</c:v>
                </c:pt>
                <c:pt idx="202">
                  <c:v>35.04</c:v>
                </c:pt>
                <c:pt idx="203">
                  <c:v>35.045999999999999</c:v>
                </c:pt>
                <c:pt idx="204">
                  <c:v>35.027000000000001</c:v>
                </c:pt>
                <c:pt idx="205">
                  <c:v>32.46</c:v>
                </c:pt>
                <c:pt idx="206">
                  <c:v>35.037999999999997</c:v>
                </c:pt>
                <c:pt idx="207">
                  <c:v>32.44</c:v>
                </c:pt>
                <c:pt idx="208">
                  <c:v>32.439</c:v>
                </c:pt>
                <c:pt idx="209">
                  <c:v>32.448999999999998</c:v>
                </c:pt>
                <c:pt idx="210">
                  <c:v>32.450000000000003</c:v>
                </c:pt>
                <c:pt idx="211">
                  <c:v>32.430999999999997</c:v>
                </c:pt>
                <c:pt idx="212">
                  <c:v>32.451999999999998</c:v>
                </c:pt>
                <c:pt idx="213">
                  <c:v>32.445</c:v>
                </c:pt>
                <c:pt idx="214">
                  <c:v>32.432000000000002</c:v>
                </c:pt>
                <c:pt idx="215">
                  <c:v>32.433</c:v>
                </c:pt>
                <c:pt idx="216">
                  <c:v>32.436999999999998</c:v>
                </c:pt>
                <c:pt idx="217">
                  <c:v>32.417999999999999</c:v>
                </c:pt>
                <c:pt idx="218">
                  <c:v>32.424999999999997</c:v>
                </c:pt>
                <c:pt idx="219">
                  <c:v>35.04</c:v>
                </c:pt>
                <c:pt idx="220">
                  <c:v>35.042999999999999</c:v>
                </c:pt>
                <c:pt idx="221">
                  <c:v>32.448999999999998</c:v>
                </c:pt>
                <c:pt idx="222">
                  <c:v>32.460999999999999</c:v>
                </c:pt>
                <c:pt idx="223">
                  <c:v>32.470999999999997</c:v>
                </c:pt>
                <c:pt idx="224">
                  <c:v>32.46</c:v>
                </c:pt>
                <c:pt idx="225">
                  <c:v>32.462000000000003</c:v>
                </c:pt>
                <c:pt idx="226">
                  <c:v>32.451999999999998</c:v>
                </c:pt>
                <c:pt idx="227">
                  <c:v>32.436</c:v>
                </c:pt>
                <c:pt idx="228">
                  <c:v>32.448</c:v>
                </c:pt>
                <c:pt idx="229">
                  <c:v>32.457999999999998</c:v>
                </c:pt>
                <c:pt idx="230">
                  <c:v>32.454000000000001</c:v>
                </c:pt>
                <c:pt idx="231">
                  <c:v>32.454999999999998</c:v>
                </c:pt>
                <c:pt idx="232">
                  <c:v>32.457000000000001</c:v>
                </c:pt>
                <c:pt idx="233">
                  <c:v>33.311</c:v>
                </c:pt>
                <c:pt idx="234">
                  <c:v>33.320999999999998</c:v>
                </c:pt>
                <c:pt idx="235">
                  <c:v>33.317</c:v>
                </c:pt>
                <c:pt idx="236">
                  <c:v>33.323999999999998</c:v>
                </c:pt>
                <c:pt idx="237">
                  <c:v>33.374000000000002</c:v>
                </c:pt>
                <c:pt idx="238">
                  <c:v>33.33</c:v>
                </c:pt>
                <c:pt idx="239">
                  <c:v>31.870999999999999</c:v>
                </c:pt>
                <c:pt idx="240">
                  <c:v>30.835000000000001</c:v>
                </c:pt>
                <c:pt idx="241">
                  <c:v>30.722000000000001</c:v>
                </c:pt>
                <c:pt idx="242">
                  <c:v>30.75</c:v>
                </c:pt>
                <c:pt idx="243">
                  <c:v>30.763000000000002</c:v>
                </c:pt>
                <c:pt idx="244">
                  <c:v>30.754999999999999</c:v>
                </c:pt>
                <c:pt idx="245">
                  <c:v>30.722000000000001</c:v>
                </c:pt>
                <c:pt idx="246">
                  <c:v>30.702000000000002</c:v>
                </c:pt>
                <c:pt idx="247">
                  <c:v>30.733000000000001</c:v>
                </c:pt>
                <c:pt idx="248">
                  <c:v>30.727</c:v>
                </c:pt>
                <c:pt idx="249">
                  <c:v>30.734000000000002</c:v>
                </c:pt>
                <c:pt idx="250">
                  <c:v>30.731000000000002</c:v>
                </c:pt>
                <c:pt idx="251">
                  <c:v>30.728999999999999</c:v>
                </c:pt>
                <c:pt idx="252">
                  <c:v>30.721</c:v>
                </c:pt>
                <c:pt idx="253">
                  <c:v>35.040999999999997</c:v>
                </c:pt>
                <c:pt idx="254">
                  <c:v>35.040999999999997</c:v>
                </c:pt>
                <c:pt idx="255">
                  <c:v>35.034999999999997</c:v>
                </c:pt>
                <c:pt idx="256">
                  <c:v>35.039000000000001</c:v>
                </c:pt>
                <c:pt idx="257">
                  <c:v>35.039000000000001</c:v>
                </c:pt>
                <c:pt idx="258">
                  <c:v>35.036999999999999</c:v>
                </c:pt>
                <c:pt idx="259">
                  <c:v>35.033999999999999</c:v>
                </c:pt>
                <c:pt idx="260">
                  <c:v>35.033000000000001</c:v>
                </c:pt>
                <c:pt idx="261">
                  <c:v>35.043999999999997</c:v>
                </c:pt>
                <c:pt idx="262">
                  <c:v>35.027999999999999</c:v>
                </c:pt>
                <c:pt idx="263">
                  <c:v>35.033000000000001</c:v>
                </c:pt>
                <c:pt idx="264">
                  <c:v>35.036999999999999</c:v>
                </c:pt>
                <c:pt idx="265">
                  <c:v>35.031999999999996</c:v>
                </c:pt>
                <c:pt idx="266">
                  <c:v>35.036999999999999</c:v>
                </c:pt>
                <c:pt idx="267">
                  <c:v>35.036000000000001</c:v>
                </c:pt>
                <c:pt idx="268">
                  <c:v>32.509</c:v>
                </c:pt>
                <c:pt idx="269">
                  <c:v>32.463999999999999</c:v>
                </c:pt>
                <c:pt idx="270">
                  <c:v>32.460999999999999</c:v>
                </c:pt>
                <c:pt idx="271">
                  <c:v>32.445999999999998</c:v>
                </c:pt>
                <c:pt idx="272">
                  <c:v>32.451000000000001</c:v>
                </c:pt>
                <c:pt idx="273">
                  <c:v>32.442999999999998</c:v>
                </c:pt>
                <c:pt idx="274">
                  <c:v>32.442</c:v>
                </c:pt>
                <c:pt idx="275">
                  <c:v>32.43</c:v>
                </c:pt>
                <c:pt idx="276">
                  <c:v>32.442</c:v>
                </c:pt>
                <c:pt idx="277">
                  <c:v>32.447000000000003</c:v>
                </c:pt>
                <c:pt idx="278">
                  <c:v>32.450000000000003</c:v>
                </c:pt>
                <c:pt idx="279">
                  <c:v>32.448</c:v>
                </c:pt>
                <c:pt idx="280">
                  <c:v>32.442</c:v>
                </c:pt>
                <c:pt idx="281">
                  <c:v>36.723999999999997</c:v>
                </c:pt>
                <c:pt idx="282">
                  <c:v>36.665999999999997</c:v>
                </c:pt>
                <c:pt idx="283">
                  <c:v>36.768000000000001</c:v>
                </c:pt>
                <c:pt idx="284">
                  <c:v>36.770000000000003</c:v>
                </c:pt>
                <c:pt idx="285">
                  <c:v>36.731999999999999</c:v>
                </c:pt>
                <c:pt idx="286">
                  <c:v>36.747</c:v>
                </c:pt>
                <c:pt idx="287">
                  <c:v>36.78</c:v>
                </c:pt>
                <c:pt idx="288">
                  <c:v>36.731999999999999</c:v>
                </c:pt>
                <c:pt idx="289">
                  <c:v>36.774999999999999</c:v>
                </c:pt>
                <c:pt idx="290">
                  <c:v>36.753999999999998</c:v>
                </c:pt>
                <c:pt idx="291">
                  <c:v>36.762</c:v>
                </c:pt>
                <c:pt idx="292">
                  <c:v>36.76</c:v>
                </c:pt>
                <c:pt idx="293">
                  <c:v>36.747</c:v>
                </c:pt>
                <c:pt idx="294">
                  <c:v>36.683999999999997</c:v>
                </c:pt>
                <c:pt idx="295">
                  <c:v>36.729999999999997</c:v>
                </c:pt>
                <c:pt idx="296">
                  <c:v>36.680999999999997</c:v>
                </c:pt>
                <c:pt idx="297">
                  <c:v>36.770000000000003</c:v>
                </c:pt>
                <c:pt idx="298">
                  <c:v>36.716999999999999</c:v>
                </c:pt>
                <c:pt idx="299">
                  <c:v>36.698</c:v>
                </c:pt>
                <c:pt idx="300">
                  <c:v>36.698999999999998</c:v>
                </c:pt>
                <c:pt idx="301">
                  <c:v>36.765000000000001</c:v>
                </c:pt>
                <c:pt idx="302">
                  <c:v>36.767000000000003</c:v>
                </c:pt>
                <c:pt idx="303">
                  <c:v>36.734999999999999</c:v>
                </c:pt>
                <c:pt idx="304">
                  <c:v>36.725000000000001</c:v>
                </c:pt>
                <c:pt idx="305">
                  <c:v>36.731999999999999</c:v>
                </c:pt>
                <c:pt idx="306">
                  <c:v>36.768999999999998</c:v>
                </c:pt>
                <c:pt idx="307">
                  <c:v>36.770000000000003</c:v>
                </c:pt>
                <c:pt idx="308">
                  <c:v>36.798000000000002</c:v>
                </c:pt>
                <c:pt idx="309">
                  <c:v>39.398000000000003</c:v>
                </c:pt>
                <c:pt idx="310">
                  <c:v>39.392000000000003</c:v>
                </c:pt>
                <c:pt idx="311">
                  <c:v>37.621000000000002</c:v>
                </c:pt>
                <c:pt idx="312">
                  <c:v>37.658999999999999</c:v>
                </c:pt>
                <c:pt idx="313">
                  <c:v>37.658999999999999</c:v>
                </c:pt>
                <c:pt idx="314">
                  <c:v>37.659999999999997</c:v>
                </c:pt>
                <c:pt idx="315">
                  <c:v>37.75</c:v>
                </c:pt>
                <c:pt idx="316">
                  <c:v>37.610999999999997</c:v>
                </c:pt>
                <c:pt idx="317">
                  <c:v>37.622999999999998</c:v>
                </c:pt>
                <c:pt idx="318">
                  <c:v>37.54</c:v>
                </c:pt>
                <c:pt idx="319">
                  <c:v>37.601999999999997</c:v>
                </c:pt>
                <c:pt idx="320">
                  <c:v>37.627000000000002</c:v>
                </c:pt>
                <c:pt idx="321">
                  <c:v>37.616</c:v>
                </c:pt>
                <c:pt idx="322">
                  <c:v>37.576999999999998</c:v>
                </c:pt>
                <c:pt idx="323">
                  <c:v>37.616999999999997</c:v>
                </c:pt>
                <c:pt idx="324">
                  <c:v>37.590000000000003</c:v>
                </c:pt>
                <c:pt idx="325">
                  <c:v>37.502000000000002</c:v>
                </c:pt>
                <c:pt idx="326">
                  <c:v>42.134</c:v>
                </c:pt>
                <c:pt idx="327">
                  <c:v>42.332999999999998</c:v>
                </c:pt>
                <c:pt idx="328">
                  <c:v>42.360999999999997</c:v>
                </c:pt>
                <c:pt idx="329">
                  <c:v>41.918999999999997</c:v>
                </c:pt>
                <c:pt idx="330">
                  <c:v>41.87</c:v>
                </c:pt>
                <c:pt idx="331">
                  <c:v>42.837000000000003</c:v>
                </c:pt>
                <c:pt idx="332">
                  <c:v>42.927999999999997</c:v>
                </c:pt>
                <c:pt idx="333">
                  <c:v>42.716999999999999</c:v>
                </c:pt>
                <c:pt idx="334">
                  <c:v>42.709000000000003</c:v>
                </c:pt>
                <c:pt idx="335">
                  <c:v>42.542000000000002</c:v>
                </c:pt>
                <c:pt idx="336">
                  <c:v>42.174999999999997</c:v>
                </c:pt>
                <c:pt idx="337">
                  <c:v>40.654000000000003</c:v>
                </c:pt>
                <c:pt idx="338">
                  <c:v>40.128999999999998</c:v>
                </c:pt>
                <c:pt idx="339">
                  <c:v>40.201999999999998</c:v>
                </c:pt>
                <c:pt idx="340">
                  <c:v>40.692</c:v>
                </c:pt>
                <c:pt idx="341">
                  <c:v>39.939</c:v>
                </c:pt>
                <c:pt idx="342">
                  <c:v>38.597000000000001</c:v>
                </c:pt>
                <c:pt idx="343">
                  <c:v>40.558999999999997</c:v>
                </c:pt>
                <c:pt idx="344">
                  <c:v>40.53</c:v>
                </c:pt>
                <c:pt idx="345">
                  <c:v>39.523000000000003</c:v>
                </c:pt>
                <c:pt idx="346">
                  <c:v>38.152999999999999</c:v>
                </c:pt>
                <c:pt idx="347">
                  <c:v>38.448</c:v>
                </c:pt>
                <c:pt idx="348">
                  <c:v>38.259</c:v>
                </c:pt>
                <c:pt idx="349">
                  <c:v>38.32</c:v>
                </c:pt>
                <c:pt idx="350">
                  <c:v>38.448</c:v>
                </c:pt>
                <c:pt idx="351">
                  <c:v>38.542000000000002</c:v>
                </c:pt>
                <c:pt idx="352">
                  <c:v>38.527999999999999</c:v>
                </c:pt>
                <c:pt idx="353">
                  <c:v>38.268000000000001</c:v>
                </c:pt>
                <c:pt idx="354">
                  <c:v>38.417999999999999</c:v>
                </c:pt>
                <c:pt idx="355">
                  <c:v>38.24</c:v>
                </c:pt>
                <c:pt idx="356">
                  <c:v>38.280999999999999</c:v>
                </c:pt>
                <c:pt idx="357">
                  <c:v>40.798999999999999</c:v>
                </c:pt>
                <c:pt idx="358">
                  <c:v>40.677999999999997</c:v>
                </c:pt>
                <c:pt idx="359">
                  <c:v>41.174999999999997</c:v>
                </c:pt>
                <c:pt idx="360">
                  <c:v>41.173999999999999</c:v>
                </c:pt>
                <c:pt idx="361">
                  <c:v>41.149000000000001</c:v>
                </c:pt>
                <c:pt idx="362">
                  <c:v>41.167000000000002</c:v>
                </c:pt>
                <c:pt idx="363">
                  <c:v>41.176000000000002</c:v>
                </c:pt>
                <c:pt idx="364">
                  <c:v>41.182000000000002</c:v>
                </c:pt>
                <c:pt idx="365">
                  <c:v>38.593000000000004</c:v>
                </c:pt>
                <c:pt idx="366">
                  <c:v>38.573</c:v>
                </c:pt>
                <c:pt idx="367">
                  <c:v>38.61</c:v>
                </c:pt>
                <c:pt idx="368">
                  <c:v>38.601999999999997</c:v>
                </c:pt>
                <c:pt idx="369">
                  <c:v>38.582999999999998</c:v>
                </c:pt>
                <c:pt idx="370">
                  <c:v>38.58</c:v>
                </c:pt>
                <c:pt idx="371">
                  <c:v>38.558999999999997</c:v>
                </c:pt>
                <c:pt idx="372">
                  <c:v>38.582999999999998</c:v>
                </c:pt>
                <c:pt idx="373">
                  <c:v>41.176000000000002</c:v>
                </c:pt>
                <c:pt idx="374">
                  <c:v>41.164000000000001</c:v>
                </c:pt>
                <c:pt idx="375">
                  <c:v>41.177</c:v>
                </c:pt>
                <c:pt idx="376">
                  <c:v>41.174999999999997</c:v>
                </c:pt>
                <c:pt idx="377">
                  <c:v>41.182000000000002</c:v>
                </c:pt>
                <c:pt idx="378">
                  <c:v>41.174999999999997</c:v>
                </c:pt>
                <c:pt idx="379">
                  <c:v>41.180999999999997</c:v>
                </c:pt>
                <c:pt idx="380">
                  <c:v>41.185000000000002</c:v>
                </c:pt>
                <c:pt idx="381">
                  <c:v>41.165999999999997</c:v>
                </c:pt>
                <c:pt idx="382">
                  <c:v>41.180999999999997</c:v>
                </c:pt>
                <c:pt idx="383">
                  <c:v>41.173999999999999</c:v>
                </c:pt>
                <c:pt idx="384">
                  <c:v>41.180999999999997</c:v>
                </c:pt>
                <c:pt idx="385">
                  <c:v>41.180999999999997</c:v>
                </c:pt>
                <c:pt idx="386">
                  <c:v>41.173000000000002</c:v>
                </c:pt>
                <c:pt idx="387">
                  <c:v>41.177999999999997</c:v>
                </c:pt>
                <c:pt idx="388">
                  <c:v>41.183</c:v>
                </c:pt>
                <c:pt idx="389">
                  <c:v>41.168999999999997</c:v>
                </c:pt>
                <c:pt idx="390">
                  <c:v>41.173000000000002</c:v>
                </c:pt>
                <c:pt idx="391">
                  <c:v>41.165999999999997</c:v>
                </c:pt>
                <c:pt idx="392">
                  <c:v>41.18</c:v>
                </c:pt>
                <c:pt idx="393">
                  <c:v>41.173000000000002</c:v>
                </c:pt>
                <c:pt idx="394">
                  <c:v>41.167000000000002</c:v>
                </c:pt>
                <c:pt idx="395">
                  <c:v>41.170999999999999</c:v>
                </c:pt>
                <c:pt idx="396">
                  <c:v>41.168999999999997</c:v>
                </c:pt>
                <c:pt idx="397">
                  <c:v>41.174999999999997</c:v>
                </c:pt>
                <c:pt idx="398">
                  <c:v>41.168999999999997</c:v>
                </c:pt>
                <c:pt idx="399">
                  <c:v>41.177</c:v>
                </c:pt>
                <c:pt idx="400">
                  <c:v>41.174999999999997</c:v>
                </c:pt>
                <c:pt idx="401">
                  <c:v>41.154000000000003</c:v>
                </c:pt>
                <c:pt idx="402">
                  <c:v>41.186999999999998</c:v>
                </c:pt>
                <c:pt idx="403">
                  <c:v>41.177</c:v>
                </c:pt>
                <c:pt idx="404">
                  <c:v>41.164999999999999</c:v>
                </c:pt>
                <c:pt idx="405">
                  <c:v>41.173000000000002</c:v>
                </c:pt>
                <c:pt idx="406">
                  <c:v>41.173000000000002</c:v>
                </c:pt>
                <c:pt idx="407">
                  <c:v>37.712000000000003</c:v>
                </c:pt>
                <c:pt idx="408">
                  <c:v>37.720999999999997</c:v>
                </c:pt>
                <c:pt idx="409">
                  <c:v>37.703000000000003</c:v>
                </c:pt>
                <c:pt idx="410">
                  <c:v>37.726999999999997</c:v>
                </c:pt>
                <c:pt idx="411">
                  <c:v>37.732999999999997</c:v>
                </c:pt>
                <c:pt idx="412">
                  <c:v>37.71</c:v>
                </c:pt>
                <c:pt idx="413">
                  <c:v>37.719000000000001</c:v>
                </c:pt>
                <c:pt idx="414">
                  <c:v>37.688000000000002</c:v>
                </c:pt>
                <c:pt idx="415">
                  <c:v>37.72</c:v>
                </c:pt>
                <c:pt idx="416">
                  <c:v>37.713000000000001</c:v>
                </c:pt>
                <c:pt idx="417">
                  <c:v>37.718000000000004</c:v>
                </c:pt>
                <c:pt idx="418">
                  <c:v>37.704999999999998</c:v>
                </c:pt>
                <c:pt idx="419">
                  <c:v>37.709000000000003</c:v>
                </c:pt>
                <c:pt idx="420">
                  <c:v>40.326999999999998</c:v>
                </c:pt>
                <c:pt idx="421">
                  <c:v>37.737000000000002</c:v>
                </c:pt>
                <c:pt idx="422">
                  <c:v>37.774999999999999</c:v>
                </c:pt>
                <c:pt idx="423">
                  <c:v>37.710999999999999</c:v>
                </c:pt>
                <c:pt idx="424">
                  <c:v>37.707000000000001</c:v>
                </c:pt>
                <c:pt idx="425">
                  <c:v>37.747</c:v>
                </c:pt>
                <c:pt idx="426">
                  <c:v>37.734000000000002</c:v>
                </c:pt>
                <c:pt idx="427">
                  <c:v>37.728000000000002</c:v>
                </c:pt>
                <c:pt idx="428">
                  <c:v>37.722000000000001</c:v>
                </c:pt>
                <c:pt idx="429">
                  <c:v>37.734000000000002</c:v>
                </c:pt>
                <c:pt idx="430">
                  <c:v>37.837000000000003</c:v>
                </c:pt>
                <c:pt idx="431">
                  <c:v>37.771999999999998</c:v>
                </c:pt>
                <c:pt idx="432">
                  <c:v>37.765000000000001</c:v>
                </c:pt>
                <c:pt idx="433">
                  <c:v>41.168999999999997</c:v>
                </c:pt>
                <c:pt idx="434">
                  <c:v>41.168999999999997</c:v>
                </c:pt>
                <c:pt idx="435">
                  <c:v>41.171999999999997</c:v>
                </c:pt>
                <c:pt idx="436">
                  <c:v>41.171999999999997</c:v>
                </c:pt>
                <c:pt idx="437">
                  <c:v>41.173999999999999</c:v>
                </c:pt>
                <c:pt idx="438">
                  <c:v>41.165999999999997</c:v>
                </c:pt>
                <c:pt idx="439">
                  <c:v>41.179000000000002</c:v>
                </c:pt>
                <c:pt idx="440">
                  <c:v>41.173000000000002</c:v>
                </c:pt>
                <c:pt idx="441">
                  <c:v>41.161000000000001</c:v>
                </c:pt>
                <c:pt idx="442">
                  <c:v>41.195</c:v>
                </c:pt>
                <c:pt idx="443">
                  <c:v>41.158000000000001</c:v>
                </c:pt>
                <c:pt idx="444">
                  <c:v>41.155000000000001</c:v>
                </c:pt>
                <c:pt idx="445">
                  <c:v>41.173000000000002</c:v>
                </c:pt>
                <c:pt idx="446">
                  <c:v>41.180999999999997</c:v>
                </c:pt>
                <c:pt idx="447">
                  <c:v>41.177</c:v>
                </c:pt>
                <c:pt idx="448">
                  <c:v>41.164999999999999</c:v>
                </c:pt>
                <c:pt idx="449">
                  <c:v>37.76</c:v>
                </c:pt>
                <c:pt idx="450">
                  <c:v>37.771000000000001</c:v>
                </c:pt>
                <c:pt idx="451">
                  <c:v>37.713000000000001</c:v>
                </c:pt>
                <c:pt idx="452">
                  <c:v>37.735999999999997</c:v>
                </c:pt>
                <c:pt idx="453">
                  <c:v>37.720999999999997</c:v>
                </c:pt>
                <c:pt idx="454">
                  <c:v>37.747</c:v>
                </c:pt>
                <c:pt idx="455">
                  <c:v>37.715000000000003</c:v>
                </c:pt>
                <c:pt idx="456">
                  <c:v>37.738999999999997</c:v>
                </c:pt>
                <c:pt idx="457">
                  <c:v>37.774999999999999</c:v>
                </c:pt>
                <c:pt idx="458">
                  <c:v>37.76</c:v>
                </c:pt>
                <c:pt idx="459">
                  <c:v>37.790999999999997</c:v>
                </c:pt>
                <c:pt idx="460">
                  <c:v>37.764000000000003</c:v>
                </c:pt>
                <c:pt idx="461">
                  <c:v>37.755000000000003</c:v>
                </c:pt>
                <c:pt idx="462">
                  <c:v>37.731000000000002</c:v>
                </c:pt>
                <c:pt idx="463">
                  <c:v>40.665999999999997</c:v>
                </c:pt>
                <c:pt idx="464">
                  <c:v>41.173999999999999</c:v>
                </c:pt>
                <c:pt idx="465">
                  <c:v>41.174999999999997</c:v>
                </c:pt>
                <c:pt idx="466">
                  <c:v>41.179000000000002</c:v>
                </c:pt>
                <c:pt idx="467">
                  <c:v>41.180999999999997</c:v>
                </c:pt>
                <c:pt idx="468">
                  <c:v>41.183</c:v>
                </c:pt>
                <c:pt idx="469">
                  <c:v>41.177999999999997</c:v>
                </c:pt>
                <c:pt idx="470">
                  <c:v>41.651000000000003</c:v>
                </c:pt>
                <c:pt idx="471">
                  <c:v>41.686999999999998</c:v>
                </c:pt>
                <c:pt idx="472">
                  <c:v>41.735999999999997</c:v>
                </c:pt>
                <c:pt idx="473">
                  <c:v>41.816000000000003</c:v>
                </c:pt>
                <c:pt idx="474">
                  <c:v>41.88</c:v>
                </c:pt>
                <c:pt idx="475">
                  <c:v>41.942</c:v>
                </c:pt>
                <c:pt idx="476">
                  <c:v>41.929000000000002</c:v>
                </c:pt>
                <c:pt idx="477">
                  <c:v>42.036000000000001</c:v>
                </c:pt>
                <c:pt idx="478">
                  <c:v>38.597999999999999</c:v>
                </c:pt>
                <c:pt idx="479">
                  <c:v>42.057000000000002</c:v>
                </c:pt>
                <c:pt idx="480">
                  <c:v>38.64</c:v>
                </c:pt>
                <c:pt idx="481">
                  <c:v>37.802999999999997</c:v>
                </c:pt>
                <c:pt idx="482">
                  <c:v>38.689</c:v>
                </c:pt>
                <c:pt idx="483">
                  <c:v>38.697000000000003</c:v>
                </c:pt>
                <c:pt idx="484">
                  <c:v>38.606000000000002</c:v>
                </c:pt>
                <c:pt idx="485">
                  <c:v>38.637999999999998</c:v>
                </c:pt>
                <c:pt idx="486">
                  <c:v>38.601999999999997</c:v>
                </c:pt>
                <c:pt idx="487">
                  <c:v>38.625999999999998</c:v>
                </c:pt>
                <c:pt idx="488">
                  <c:v>37.789000000000001</c:v>
                </c:pt>
                <c:pt idx="489">
                  <c:v>38.616999999999997</c:v>
                </c:pt>
                <c:pt idx="490">
                  <c:v>38.670999999999999</c:v>
                </c:pt>
                <c:pt idx="491">
                  <c:v>38.753999999999998</c:v>
                </c:pt>
                <c:pt idx="492">
                  <c:v>37.756999999999998</c:v>
                </c:pt>
                <c:pt idx="493">
                  <c:v>41.151000000000003</c:v>
                </c:pt>
                <c:pt idx="494">
                  <c:v>37.79</c:v>
                </c:pt>
                <c:pt idx="495">
                  <c:v>37.755000000000003</c:v>
                </c:pt>
                <c:pt idx="496">
                  <c:v>37.762999999999998</c:v>
                </c:pt>
                <c:pt idx="497">
                  <c:v>37.747999999999998</c:v>
                </c:pt>
                <c:pt idx="498">
                  <c:v>37.746000000000002</c:v>
                </c:pt>
                <c:pt idx="499">
                  <c:v>37.732999999999997</c:v>
                </c:pt>
                <c:pt idx="500">
                  <c:v>37.747999999999998</c:v>
                </c:pt>
                <c:pt idx="501">
                  <c:v>37.741999999999997</c:v>
                </c:pt>
                <c:pt idx="502">
                  <c:v>37.732999999999997</c:v>
                </c:pt>
                <c:pt idx="503">
                  <c:v>37.734000000000002</c:v>
                </c:pt>
                <c:pt idx="504">
                  <c:v>37.737000000000002</c:v>
                </c:pt>
                <c:pt idx="505">
                  <c:v>37.917000000000002</c:v>
                </c:pt>
                <c:pt idx="506">
                  <c:v>37.819000000000003</c:v>
                </c:pt>
                <c:pt idx="507">
                  <c:v>42.05</c:v>
                </c:pt>
                <c:pt idx="508">
                  <c:v>37.746000000000002</c:v>
                </c:pt>
                <c:pt idx="509">
                  <c:v>37.735999999999997</c:v>
                </c:pt>
                <c:pt idx="510">
                  <c:v>37.768000000000001</c:v>
                </c:pt>
                <c:pt idx="511">
                  <c:v>37.738999999999997</c:v>
                </c:pt>
                <c:pt idx="512">
                  <c:v>37.741</c:v>
                </c:pt>
                <c:pt idx="513">
                  <c:v>37.743000000000002</c:v>
                </c:pt>
                <c:pt idx="514">
                  <c:v>37.738</c:v>
                </c:pt>
                <c:pt idx="515">
                  <c:v>37.752000000000002</c:v>
                </c:pt>
                <c:pt idx="516">
                  <c:v>37.729999999999997</c:v>
                </c:pt>
                <c:pt idx="517">
                  <c:v>37.756999999999998</c:v>
                </c:pt>
                <c:pt idx="518">
                  <c:v>37.722999999999999</c:v>
                </c:pt>
                <c:pt idx="519">
                  <c:v>37.720999999999997</c:v>
                </c:pt>
                <c:pt idx="520">
                  <c:v>37.75</c:v>
                </c:pt>
                <c:pt idx="521">
                  <c:v>37.767000000000003</c:v>
                </c:pt>
                <c:pt idx="522">
                  <c:v>37.744</c:v>
                </c:pt>
                <c:pt idx="523">
                  <c:v>37.753999999999998</c:v>
                </c:pt>
                <c:pt idx="524">
                  <c:v>37.747999999999998</c:v>
                </c:pt>
                <c:pt idx="525">
                  <c:v>42.024999999999999</c:v>
                </c:pt>
                <c:pt idx="526">
                  <c:v>42.052999999999997</c:v>
                </c:pt>
                <c:pt idx="527">
                  <c:v>42.03</c:v>
                </c:pt>
                <c:pt idx="528">
                  <c:v>42.015000000000001</c:v>
                </c:pt>
                <c:pt idx="529">
                  <c:v>42.048000000000002</c:v>
                </c:pt>
                <c:pt idx="530">
                  <c:v>42.031999999999996</c:v>
                </c:pt>
                <c:pt idx="531">
                  <c:v>42.058</c:v>
                </c:pt>
                <c:pt idx="532">
                  <c:v>42.03</c:v>
                </c:pt>
                <c:pt idx="533">
                  <c:v>41.953000000000003</c:v>
                </c:pt>
                <c:pt idx="534">
                  <c:v>42.015000000000001</c:v>
                </c:pt>
                <c:pt idx="535">
                  <c:v>41.997999999999998</c:v>
                </c:pt>
                <c:pt idx="536">
                  <c:v>42.036000000000001</c:v>
                </c:pt>
                <c:pt idx="537">
                  <c:v>42.042000000000002</c:v>
                </c:pt>
                <c:pt idx="538">
                  <c:v>42.064</c:v>
                </c:pt>
                <c:pt idx="539">
                  <c:v>42.024999999999999</c:v>
                </c:pt>
                <c:pt idx="540">
                  <c:v>42.015999999999998</c:v>
                </c:pt>
                <c:pt idx="541">
                  <c:v>37.779000000000003</c:v>
                </c:pt>
                <c:pt idx="542">
                  <c:v>37.789000000000001</c:v>
                </c:pt>
                <c:pt idx="543">
                  <c:v>37.82</c:v>
                </c:pt>
                <c:pt idx="544">
                  <c:v>37.793999999999997</c:v>
                </c:pt>
                <c:pt idx="545">
                  <c:v>37.78</c:v>
                </c:pt>
                <c:pt idx="546">
                  <c:v>37.755000000000003</c:v>
                </c:pt>
                <c:pt idx="547">
                  <c:v>37.758000000000003</c:v>
                </c:pt>
                <c:pt idx="548">
                  <c:v>37.747999999999998</c:v>
                </c:pt>
                <c:pt idx="549">
                  <c:v>37.728999999999999</c:v>
                </c:pt>
                <c:pt idx="550">
                  <c:v>37.783000000000001</c:v>
                </c:pt>
                <c:pt idx="551">
                  <c:v>37.825000000000003</c:v>
                </c:pt>
                <c:pt idx="552">
                  <c:v>37.837000000000003</c:v>
                </c:pt>
                <c:pt idx="553">
                  <c:v>37.814999999999998</c:v>
                </c:pt>
                <c:pt idx="554">
                  <c:v>37.783000000000001</c:v>
                </c:pt>
                <c:pt idx="555">
                  <c:v>39.936999999999998</c:v>
                </c:pt>
                <c:pt idx="556">
                  <c:v>39.406999999999996</c:v>
                </c:pt>
                <c:pt idx="557">
                  <c:v>39.430999999999997</c:v>
                </c:pt>
                <c:pt idx="558">
                  <c:v>39.604999999999997</c:v>
                </c:pt>
                <c:pt idx="559">
                  <c:v>39.146000000000001</c:v>
                </c:pt>
                <c:pt idx="560">
                  <c:v>39.335999999999999</c:v>
                </c:pt>
                <c:pt idx="561">
                  <c:v>39.204999999999998</c:v>
                </c:pt>
                <c:pt idx="562">
                  <c:v>39.183999999999997</c:v>
                </c:pt>
                <c:pt idx="563">
                  <c:v>38.893000000000001</c:v>
                </c:pt>
                <c:pt idx="564">
                  <c:v>38.829000000000001</c:v>
                </c:pt>
                <c:pt idx="565">
                  <c:v>38.965000000000003</c:v>
                </c:pt>
                <c:pt idx="566">
                  <c:v>39.174999999999997</c:v>
                </c:pt>
                <c:pt idx="567">
                  <c:v>39.131</c:v>
                </c:pt>
                <c:pt idx="568">
                  <c:v>38.988999999999997</c:v>
                </c:pt>
                <c:pt idx="569">
                  <c:v>38.795999999999999</c:v>
                </c:pt>
                <c:pt idx="570">
                  <c:v>38.523000000000003</c:v>
                </c:pt>
                <c:pt idx="571">
                  <c:v>38.567</c:v>
                </c:pt>
                <c:pt idx="572">
                  <c:v>38.808999999999997</c:v>
                </c:pt>
                <c:pt idx="573">
                  <c:v>38.746000000000002</c:v>
                </c:pt>
                <c:pt idx="574">
                  <c:v>38.734999999999999</c:v>
                </c:pt>
                <c:pt idx="575">
                  <c:v>38.655000000000001</c:v>
                </c:pt>
                <c:pt idx="576">
                  <c:v>38.692</c:v>
                </c:pt>
                <c:pt idx="577">
                  <c:v>38.744999999999997</c:v>
                </c:pt>
                <c:pt idx="578">
                  <c:v>38.779000000000003</c:v>
                </c:pt>
                <c:pt idx="579">
                  <c:v>38.918999999999997</c:v>
                </c:pt>
                <c:pt idx="580">
                  <c:v>39.040999999999997</c:v>
                </c:pt>
                <c:pt idx="581">
                  <c:v>39.122999999999998</c:v>
                </c:pt>
                <c:pt idx="582">
                  <c:v>38.701000000000001</c:v>
                </c:pt>
                <c:pt idx="583">
                  <c:v>38.749000000000002</c:v>
                </c:pt>
                <c:pt idx="584">
                  <c:v>38.686</c:v>
                </c:pt>
                <c:pt idx="585">
                  <c:v>38.966000000000001</c:v>
                </c:pt>
                <c:pt idx="586">
                  <c:v>38.921999999999997</c:v>
                </c:pt>
                <c:pt idx="587">
                  <c:v>38.840000000000003</c:v>
                </c:pt>
                <c:pt idx="588">
                  <c:v>38.613999999999997</c:v>
                </c:pt>
                <c:pt idx="589">
                  <c:v>38.506999999999998</c:v>
                </c:pt>
                <c:pt idx="590">
                  <c:v>38.170999999999999</c:v>
                </c:pt>
                <c:pt idx="591">
                  <c:v>38.128999999999998</c:v>
                </c:pt>
                <c:pt idx="592">
                  <c:v>38.182000000000002</c:v>
                </c:pt>
                <c:pt idx="593">
                  <c:v>38.228999999999999</c:v>
                </c:pt>
                <c:pt idx="594">
                  <c:v>38.079000000000001</c:v>
                </c:pt>
                <c:pt idx="595">
                  <c:v>38.103000000000002</c:v>
                </c:pt>
                <c:pt idx="596">
                  <c:v>38.140999999999998</c:v>
                </c:pt>
                <c:pt idx="597">
                  <c:v>38.466999999999999</c:v>
                </c:pt>
                <c:pt idx="598">
                  <c:v>38.499000000000002</c:v>
                </c:pt>
                <c:pt idx="599">
                  <c:v>38.231000000000002</c:v>
                </c:pt>
                <c:pt idx="600">
                  <c:v>38.189</c:v>
                </c:pt>
                <c:pt idx="601">
                  <c:v>38.838000000000001</c:v>
                </c:pt>
                <c:pt idx="602">
                  <c:v>38.902000000000001</c:v>
                </c:pt>
                <c:pt idx="603">
                  <c:v>34.226999999999997</c:v>
                </c:pt>
                <c:pt idx="604">
                  <c:v>34.281999999999996</c:v>
                </c:pt>
                <c:pt idx="605">
                  <c:v>34.267000000000003</c:v>
                </c:pt>
                <c:pt idx="606">
                  <c:v>34.213999999999999</c:v>
                </c:pt>
                <c:pt idx="607">
                  <c:v>34.203000000000003</c:v>
                </c:pt>
                <c:pt idx="608">
                  <c:v>34.204000000000001</c:v>
                </c:pt>
                <c:pt idx="609">
                  <c:v>34.21</c:v>
                </c:pt>
                <c:pt idx="610">
                  <c:v>34.183999999999997</c:v>
                </c:pt>
                <c:pt idx="611">
                  <c:v>34.228000000000002</c:v>
                </c:pt>
                <c:pt idx="612">
                  <c:v>34.209000000000003</c:v>
                </c:pt>
                <c:pt idx="613">
                  <c:v>34.262999999999998</c:v>
                </c:pt>
                <c:pt idx="614">
                  <c:v>34.24</c:v>
                </c:pt>
                <c:pt idx="615">
                  <c:v>34.317</c:v>
                </c:pt>
                <c:pt idx="616">
                  <c:v>34.223999999999997</c:v>
                </c:pt>
                <c:pt idx="617">
                  <c:v>38.832999999999998</c:v>
                </c:pt>
                <c:pt idx="618">
                  <c:v>38.762999999999998</c:v>
                </c:pt>
                <c:pt idx="619">
                  <c:v>39.290999999999997</c:v>
                </c:pt>
                <c:pt idx="620">
                  <c:v>39.17</c:v>
                </c:pt>
                <c:pt idx="621">
                  <c:v>39.061999999999998</c:v>
                </c:pt>
                <c:pt idx="622">
                  <c:v>39.179000000000002</c:v>
                </c:pt>
                <c:pt idx="623">
                  <c:v>39.247999999999998</c:v>
                </c:pt>
                <c:pt idx="624">
                  <c:v>39.232999999999997</c:v>
                </c:pt>
                <c:pt idx="625">
                  <c:v>39.061999999999998</c:v>
                </c:pt>
                <c:pt idx="626">
                  <c:v>39.146000000000001</c:v>
                </c:pt>
                <c:pt idx="627">
                  <c:v>39.033999999999999</c:v>
                </c:pt>
                <c:pt idx="628">
                  <c:v>39.069000000000003</c:v>
                </c:pt>
                <c:pt idx="629">
                  <c:v>38.826999999999998</c:v>
                </c:pt>
                <c:pt idx="630">
                  <c:v>39.415999999999997</c:v>
                </c:pt>
                <c:pt idx="631">
                  <c:v>39.423999999999999</c:v>
                </c:pt>
                <c:pt idx="632">
                  <c:v>33.606000000000002</c:v>
                </c:pt>
                <c:pt idx="633">
                  <c:v>33.401000000000003</c:v>
                </c:pt>
                <c:pt idx="634">
                  <c:v>33.366999999999997</c:v>
                </c:pt>
                <c:pt idx="635">
                  <c:v>33.369999999999997</c:v>
                </c:pt>
                <c:pt idx="636">
                  <c:v>33.359000000000002</c:v>
                </c:pt>
                <c:pt idx="637">
                  <c:v>33.372999999999998</c:v>
                </c:pt>
                <c:pt idx="638">
                  <c:v>33.368000000000002</c:v>
                </c:pt>
                <c:pt idx="639">
                  <c:v>33.380000000000003</c:v>
                </c:pt>
                <c:pt idx="640">
                  <c:v>33.344999999999999</c:v>
                </c:pt>
                <c:pt idx="641">
                  <c:v>33.478000000000002</c:v>
                </c:pt>
                <c:pt idx="642">
                  <c:v>33.395000000000003</c:v>
                </c:pt>
                <c:pt idx="643">
                  <c:v>33.344999999999999</c:v>
                </c:pt>
                <c:pt idx="644">
                  <c:v>33.366</c:v>
                </c:pt>
                <c:pt idx="645">
                  <c:v>33.396000000000001</c:v>
                </c:pt>
                <c:pt idx="646">
                  <c:v>39.438000000000002</c:v>
                </c:pt>
                <c:pt idx="647">
                  <c:v>39.423999999999999</c:v>
                </c:pt>
                <c:pt idx="648">
                  <c:v>39.423000000000002</c:v>
                </c:pt>
                <c:pt idx="649">
                  <c:v>39.432000000000002</c:v>
                </c:pt>
                <c:pt idx="650">
                  <c:v>39.432000000000002</c:v>
                </c:pt>
                <c:pt idx="651">
                  <c:v>39.418999999999997</c:v>
                </c:pt>
                <c:pt idx="652">
                  <c:v>39.430999999999997</c:v>
                </c:pt>
                <c:pt idx="653">
                  <c:v>39.435000000000002</c:v>
                </c:pt>
                <c:pt idx="654">
                  <c:v>39.417999999999999</c:v>
                </c:pt>
                <c:pt idx="655">
                  <c:v>39.433999999999997</c:v>
                </c:pt>
                <c:pt idx="656">
                  <c:v>39.423000000000002</c:v>
                </c:pt>
                <c:pt idx="657">
                  <c:v>39.424999999999997</c:v>
                </c:pt>
                <c:pt idx="658">
                  <c:v>39.433</c:v>
                </c:pt>
                <c:pt idx="659">
                  <c:v>39.414000000000001</c:v>
                </c:pt>
                <c:pt idx="660">
                  <c:v>39.44</c:v>
                </c:pt>
                <c:pt idx="661">
                  <c:v>39.414999999999999</c:v>
                </c:pt>
                <c:pt idx="662">
                  <c:v>36.844999999999999</c:v>
                </c:pt>
                <c:pt idx="663">
                  <c:v>36.832999999999998</c:v>
                </c:pt>
                <c:pt idx="664">
                  <c:v>36.860999999999997</c:v>
                </c:pt>
                <c:pt idx="665">
                  <c:v>36.844999999999999</c:v>
                </c:pt>
                <c:pt idx="666">
                  <c:v>36.843000000000004</c:v>
                </c:pt>
                <c:pt idx="667">
                  <c:v>35.15</c:v>
                </c:pt>
                <c:pt idx="668">
                  <c:v>36.844999999999999</c:v>
                </c:pt>
                <c:pt idx="669">
                  <c:v>36.875</c:v>
                </c:pt>
                <c:pt idx="670">
                  <c:v>35.131999999999998</c:v>
                </c:pt>
                <c:pt idx="671">
                  <c:v>36.843000000000004</c:v>
                </c:pt>
                <c:pt idx="672">
                  <c:v>36.844999999999999</c:v>
                </c:pt>
                <c:pt idx="673">
                  <c:v>36.844999999999999</c:v>
                </c:pt>
                <c:pt idx="674">
                  <c:v>35.137</c:v>
                </c:pt>
                <c:pt idx="675">
                  <c:v>36.848999999999997</c:v>
                </c:pt>
                <c:pt idx="676">
                  <c:v>36.85</c:v>
                </c:pt>
                <c:pt idx="677">
                  <c:v>35.090000000000003</c:v>
                </c:pt>
                <c:pt idx="678">
                  <c:v>36.850999999999999</c:v>
                </c:pt>
                <c:pt idx="679">
                  <c:v>40.308999999999997</c:v>
                </c:pt>
                <c:pt idx="680">
                  <c:v>35.106000000000002</c:v>
                </c:pt>
                <c:pt idx="681">
                  <c:v>35.079000000000001</c:v>
                </c:pt>
                <c:pt idx="682">
                  <c:v>35.06</c:v>
                </c:pt>
                <c:pt idx="683">
                  <c:v>35.101999999999997</c:v>
                </c:pt>
                <c:pt idx="684">
                  <c:v>35.094999999999999</c:v>
                </c:pt>
                <c:pt idx="685">
                  <c:v>35.130000000000003</c:v>
                </c:pt>
                <c:pt idx="686">
                  <c:v>35.143000000000001</c:v>
                </c:pt>
                <c:pt idx="687">
                  <c:v>35.091999999999999</c:v>
                </c:pt>
                <c:pt idx="688">
                  <c:v>35.095999999999997</c:v>
                </c:pt>
                <c:pt idx="689">
                  <c:v>35.098999999999997</c:v>
                </c:pt>
                <c:pt idx="690">
                  <c:v>35.139000000000003</c:v>
                </c:pt>
                <c:pt idx="691">
                  <c:v>35.128999999999998</c:v>
                </c:pt>
                <c:pt idx="692">
                  <c:v>35.098999999999997</c:v>
                </c:pt>
                <c:pt idx="693">
                  <c:v>41.152000000000001</c:v>
                </c:pt>
                <c:pt idx="694">
                  <c:v>35.133000000000003</c:v>
                </c:pt>
                <c:pt idx="695">
                  <c:v>35.119</c:v>
                </c:pt>
                <c:pt idx="696">
                  <c:v>33.585999999999999</c:v>
                </c:pt>
                <c:pt idx="697">
                  <c:v>33.39</c:v>
                </c:pt>
                <c:pt idx="698">
                  <c:v>33.384999999999998</c:v>
                </c:pt>
                <c:pt idx="699">
                  <c:v>33.427</c:v>
                </c:pt>
                <c:pt idx="700">
                  <c:v>35.113999999999997</c:v>
                </c:pt>
                <c:pt idx="701">
                  <c:v>35.107999999999997</c:v>
                </c:pt>
                <c:pt idx="702">
                  <c:v>35.209000000000003</c:v>
                </c:pt>
                <c:pt idx="703">
                  <c:v>35.075000000000003</c:v>
                </c:pt>
                <c:pt idx="704">
                  <c:v>35.151000000000003</c:v>
                </c:pt>
                <c:pt idx="705">
                  <c:v>35.255000000000003</c:v>
                </c:pt>
                <c:pt idx="706">
                  <c:v>35.5</c:v>
                </c:pt>
                <c:pt idx="707">
                  <c:v>41.146999999999998</c:v>
                </c:pt>
                <c:pt idx="708">
                  <c:v>36.881</c:v>
                </c:pt>
                <c:pt idx="709">
                  <c:v>37.043999999999997</c:v>
                </c:pt>
                <c:pt idx="710">
                  <c:v>36.893000000000001</c:v>
                </c:pt>
                <c:pt idx="711">
                  <c:v>36.883000000000003</c:v>
                </c:pt>
                <c:pt idx="712">
                  <c:v>35.395000000000003</c:v>
                </c:pt>
                <c:pt idx="713">
                  <c:v>36.981000000000002</c:v>
                </c:pt>
                <c:pt idx="714">
                  <c:v>36.868000000000002</c:v>
                </c:pt>
                <c:pt idx="715">
                  <c:v>35.459000000000003</c:v>
                </c:pt>
                <c:pt idx="716">
                  <c:v>35.606000000000002</c:v>
                </c:pt>
                <c:pt idx="717">
                  <c:v>35.329000000000001</c:v>
                </c:pt>
                <c:pt idx="718">
                  <c:v>35.298000000000002</c:v>
                </c:pt>
                <c:pt idx="719">
                  <c:v>35.564</c:v>
                </c:pt>
                <c:pt idx="720">
                  <c:v>35.442999999999998</c:v>
                </c:pt>
                <c:pt idx="721">
                  <c:v>35.290999999999997</c:v>
                </c:pt>
                <c:pt idx="722">
                  <c:v>35.329000000000001</c:v>
                </c:pt>
                <c:pt idx="723">
                  <c:v>41.067</c:v>
                </c:pt>
                <c:pt idx="724">
                  <c:v>41.113999999999997</c:v>
                </c:pt>
                <c:pt idx="725">
                  <c:v>41.072000000000003</c:v>
                </c:pt>
                <c:pt idx="726">
                  <c:v>41.122</c:v>
                </c:pt>
                <c:pt idx="727">
                  <c:v>41.088999999999999</c:v>
                </c:pt>
                <c:pt idx="728">
                  <c:v>41.131999999999998</c:v>
                </c:pt>
                <c:pt idx="729">
                  <c:v>35.119</c:v>
                </c:pt>
                <c:pt idx="730">
                  <c:v>35.085000000000001</c:v>
                </c:pt>
                <c:pt idx="731">
                  <c:v>35.124000000000002</c:v>
                </c:pt>
                <c:pt idx="732">
                  <c:v>35.121000000000002</c:v>
                </c:pt>
                <c:pt idx="733">
                  <c:v>35.088000000000001</c:v>
                </c:pt>
                <c:pt idx="734">
                  <c:v>35.051000000000002</c:v>
                </c:pt>
                <c:pt idx="735">
                  <c:v>35.061999999999998</c:v>
                </c:pt>
                <c:pt idx="736">
                  <c:v>35.079000000000001</c:v>
                </c:pt>
                <c:pt idx="737">
                  <c:v>41.085999999999999</c:v>
                </c:pt>
                <c:pt idx="738">
                  <c:v>41.151000000000003</c:v>
                </c:pt>
                <c:pt idx="739">
                  <c:v>41.091999999999999</c:v>
                </c:pt>
                <c:pt idx="740">
                  <c:v>41.121000000000002</c:v>
                </c:pt>
                <c:pt idx="741">
                  <c:v>41.13</c:v>
                </c:pt>
                <c:pt idx="742">
                  <c:v>41.156999999999996</c:v>
                </c:pt>
                <c:pt idx="743">
                  <c:v>41.143999999999998</c:v>
                </c:pt>
                <c:pt idx="744">
                  <c:v>41.112000000000002</c:v>
                </c:pt>
                <c:pt idx="745">
                  <c:v>41.151000000000003</c:v>
                </c:pt>
                <c:pt idx="746">
                  <c:v>41.12</c:v>
                </c:pt>
                <c:pt idx="747">
                  <c:v>41.119</c:v>
                </c:pt>
                <c:pt idx="748">
                  <c:v>41.116999999999997</c:v>
                </c:pt>
                <c:pt idx="749">
                  <c:v>41.131999999999998</c:v>
                </c:pt>
                <c:pt idx="750">
                  <c:v>41.115000000000002</c:v>
                </c:pt>
                <c:pt idx="751">
                  <c:v>33.414999999999999</c:v>
                </c:pt>
                <c:pt idx="752">
                  <c:v>41.183</c:v>
                </c:pt>
                <c:pt idx="753">
                  <c:v>34.198</c:v>
                </c:pt>
                <c:pt idx="754">
                  <c:v>34.231999999999999</c:v>
                </c:pt>
                <c:pt idx="755">
                  <c:v>34.277000000000001</c:v>
                </c:pt>
                <c:pt idx="756">
                  <c:v>34.274000000000001</c:v>
                </c:pt>
                <c:pt idx="757">
                  <c:v>34.244999999999997</c:v>
                </c:pt>
                <c:pt idx="758">
                  <c:v>34.229999999999997</c:v>
                </c:pt>
                <c:pt idx="759">
                  <c:v>34.207000000000001</c:v>
                </c:pt>
                <c:pt idx="760">
                  <c:v>33.444000000000003</c:v>
                </c:pt>
                <c:pt idx="761">
                  <c:v>33.405000000000001</c:v>
                </c:pt>
                <c:pt idx="762">
                  <c:v>33.426000000000002</c:v>
                </c:pt>
                <c:pt idx="763">
                  <c:v>33.39</c:v>
                </c:pt>
                <c:pt idx="764">
                  <c:v>34.268000000000001</c:v>
                </c:pt>
                <c:pt idx="765">
                  <c:v>34.253</c:v>
                </c:pt>
                <c:pt idx="766">
                  <c:v>34.341999999999999</c:v>
                </c:pt>
                <c:pt idx="767">
                  <c:v>34.286000000000001</c:v>
                </c:pt>
                <c:pt idx="768">
                  <c:v>34.277000000000001</c:v>
                </c:pt>
                <c:pt idx="769">
                  <c:v>34.305999999999997</c:v>
                </c:pt>
                <c:pt idx="770">
                  <c:v>34.252000000000002</c:v>
                </c:pt>
                <c:pt idx="771">
                  <c:v>41.156999999999996</c:v>
                </c:pt>
                <c:pt idx="772">
                  <c:v>42.006</c:v>
                </c:pt>
                <c:pt idx="773">
                  <c:v>41.99</c:v>
                </c:pt>
                <c:pt idx="774">
                  <c:v>42.021000000000001</c:v>
                </c:pt>
                <c:pt idx="775">
                  <c:v>42.031999999999996</c:v>
                </c:pt>
                <c:pt idx="776">
                  <c:v>42.021000000000001</c:v>
                </c:pt>
                <c:pt idx="777">
                  <c:v>41.988</c:v>
                </c:pt>
                <c:pt idx="778">
                  <c:v>42.012</c:v>
                </c:pt>
                <c:pt idx="779">
                  <c:v>35.098999999999997</c:v>
                </c:pt>
                <c:pt idx="780">
                  <c:v>41.976999999999997</c:v>
                </c:pt>
                <c:pt idx="781">
                  <c:v>41.988</c:v>
                </c:pt>
                <c:pt idx="782">
                  <c:v>35.119999999999997</c:v>
                </c:pt>
                <c:pt idx="783">
                  <c:v>42.009</c:v>
                </c:pt>
                <c:pt idx="784">
                  <c:v>42.024000000000001</c:v>
                </c:pt>
                <c:pt idx="785">
                  <c:v>41.978000000000002</c:v>
                </c:pt>
                <c:pt idx="786">
                  <c:v>36.841999999999999</c:v>
                </c:pt>
                <c:pt idx="787">
                  <c:v>36.545999999999999</c:v>
                </c:pt>
                <c:pt idx="788">
                  <c:v>38.244</c:v>
                </c:pt>
                <c:pt idx="789">
                  <c:v>38.500999999999998</c:v>
                </c:pt>
                <c:pt idx="790">
                  <c:v>39.106999999999999</c:v>
                </c:pt>
                <c:pt idx="791">
                  <c:v>38.192</c:v>
                </c:pt>
                <c:pt idx="792">
                  <c:v>38.319000000000003</c:v>
                </c:pt>
                <c:pt idx="793">
                  <c:v>38.462000000000003</c:v>
                </c:pt>
                <c:pt idx="794">
                  <c:v>38.561</c:v>
                </c:pt>
                <c:pt idx="795">
                  <c:v>38.78</c:v>
                </c:pt>
                <c:pt idx="796">
                  <c:v>39.116999999999997</c:v>
                </c:pt>
                <c:pt idx="797">
                  <c:v>39.39</c:v>
                </c:pt>
                <c:pt idx="798">
                  <c:v>37.896999999999998</c:v>
                </c:pt>
                <c:pt idx="799">
                  <c:v>38.381999999999998</c:v>
                </c:pt>
                <c:pt idx="800">
                  <c:v>41.994</c:v>
                </c:pt>
                <c:pt idx="801">
                  <c:v>41.988</c:v>
                </c:pt>
                <c:pt idx="802">
                  <c:v>42.046999999999997</c:v>
                </c:pt>
                <c:pt idx="803">
                  <c:v>42.040999999999997</c:v>
                </c:pt>
                <c:pt idx="804">
                  <c:v>42.079000000000001</c:v>
                </c:pt>
                <c:pt idx="805">
                  <c:v>42.06</c:v>
                </c:pt>
                <c:pt idx="806">
                  <c:v>42.036999999999999</c:v>
                </c:pt>
                <c:pt idx="807">
                  <c:v>42.018999999999998</c:v>
                </c:pt>
                <c:pt idx="808">
                  <c:v>42.042000000000002</c:v>
                </c:pt>
                <c:pt idx="809">
                  <c:v>41.948999999999998</c:v>
                </c:pt>
                <c:pt idx="810">
                  <c:v>41.994999999999997</c:v>
                </c:pt>
                <c:pt idx="811">
                  <c:v>42.06</c:v>
                </c:pt>
                <c:pt idx="812">
                  <c:v>42.027999999999999</c:v>
                </c:pt>
                <c:pt idx="813">
                  <c:v>41.898000000000003</c:v>
                </c:pt>
                <c:pt idx="814">
                  <c:v>41.098999999999997</c:v>
                </c:pt>
                <c:pt idx="815">
                  <c:v>39.838999999999999</c:v>
                </c:pt>
                <c:pt idx="816">
                  <c:v>40.362000000000002</c:v>
                </c:pt>
                <c:pt idx="817">
                  <c:v>39.71</c:v>
                </c:pt>
                <c:pt idx="818">
                  <c:v>39.808999999999997</c:v>
                </c:pt>
                <c:pt idx="819">
                  <c:v>39.594999999999999</c:v>
                </c:pt>
                <c:pt idx="820">
                  <c:v>39.366999999999997</c:v>
                </c:pt>
                <c:pt idx="821">
                  <c:v>36.832000000000001</c:v>
                </c:pt>
                <c:pt idx="822">
                  <c:v>36.906999999999996</c:v>
                </c:pt>
                <c:pt idx="823">
                  <c:v>36.996000000000002</c:v>
                </c:pt>
                <c:pt idx="824">
                  <c:v>37.237000000000002</c:v>
                </c:pt>
                <c:pt idx="825">
                  <c:v>37.088000000000001</c:v>
                </c:pt>
                <c:pt idx="826">
                  <c:v>39.353999999999999</c:v>
                </c:pt>
                <c:pt idx="827">
                  <c:v>39.996000000000002</c:v>
                </c:pt>
                <c:pt idx="828">
                  <c:v>42.073999999999998</c:v>
                </c:pt>
                <c:pt idx="829">
                  <c:v>35.262999999999998</c:v>
                </c:pt>
                <c:pt idx="830">
                  <c:v>35.24</c:v>
                </c:pt>
                <c:pt idx="831">
                  <c:v>35.25</c:v>
                </c:pt>
                <c:pt idx="832">
                  <c:v>35.392000000000003</c:v>
                </c:pt>
                <c:pt idx="833">
                  <c:v>35.326999999999998</c:v>
                </c:pt>
                <c:pt idx="834">
                  <c:v>35.154000000000003</c:v>
                </c:pt>
                <c:pt idx="835">
                  <c:v>35.21</c:v>
                </c:pt>
                <c:pt idx="836">
                  <c:v>35.246000000000002</c:v>
                </c:pt>
                <c:pt idx="837">
                  <c:v>35.246000000000002</c:v>
                </c:pt>
                <c:pt idx="838">
                  <c:v>35.195</c:v>
                </c:pt>
                <c:pt idx="839">
                  <c:v>35.231000000000002</c:v>
                </c:pt>
                <c:pt idx="840">
                  <c:v>35.201999999999998</c:v>
                </c:pt>
                <c:pt idx="841">
                  <c:v>35.19</c:v>
                </c:pt>
                <c:pt idx="842">
                  <c:v>34.393000000000001</c:v>
                </c:pt>
                <c:pt idx="843">
                  <c:v>34.146999999999998</c:v>
                </c:pt>
                <c:pt idx="844">
                  <c:v>34.195</c:v>
                </c:pt>
                <c:pt idx="845">
                  <c:v>34.158999999999999</c:v>
                </c:pt>
                <c:pt idx="846">
                  <c:v>34.14</c:v>
                </c:pt>
                <c:pt idx="847">
                  <c:v>34.109000000000002</c:v>
                </c:pt>
                <c:pt idx="848">
                  <c:v>34.14</c:v>
                </c:pt>
                <c:pt idx="849">
                  <c:v>34.136000000000003</c:v>
                </c:pt>
                <c:pt idx="850">
                  <c:v>34.219000000000001</c:v>
                </c:pt>
                <c:pt idx="851">
                  <c:v>34.198</c:v>
                </c:pt>
                <c:pt idx="852">
                  <c:v>34.213999999999999</c:v>
                </c:pt>
                <c:pt idx="853">
                  <c:v>34.159999999999997</c:v>
                </c:pt>
                <c:pt idx="854">
                  <c:v>34.139000000000003</c:v>
                </c:pt>
                <c:pt idx="855">
                  <c:v>34.128999999999998</c:v>
                </c:pt>
                <c:pt idx="856">
                  <c:v>34.19</c:v>
                </c:pt>
                <c:pt idx="857">
                  <c:v>34.148000000000003</c:v>
                </c:pt>
                <c:pt idx="858">
                  <c:v>34.177</c:v>
                </c:pt>
                <c:pt idx="859">
                  <c:v>34.161999999999999</c:v>
                </c:pt>
                <c:pt idx="860">
                  <c:v>34.162999999999997</c:v>
                </c:pt>
                <c:pt idx="861">
                  <c:v>42.052</c:v>
                </c:pt>
                <c:pt idx="862">
                  <c:v>42.051000000000002</c:v>
                </c:pt>
                <c:pt idx="863">
                  <c:v>42.085000000000001</c:v>
                </c:pt>
                <c:pt idx="864">
                  <c:v>42.055999999999997</c:v>
                </c:pt>
                <c:pt idx="865">
                  <c:v>42.064999999999998</c:v>
                </c:pt>
                <c:pt idx="866">
                  <c:v>42.061999999999998</c:v>
                </c:pt>
                <c:pt idx="867">
                  <c:v>42.073</c:v>
                </c:pt>
                <c:pt idx="868">
                  <c:v>42.072000000000003</c:v>
                </c:pt>
                <c:pt idx="869">
                  <c:v>42.048000000000002</c:v>
                </c:pt>
                <c:pt idx="870">
                  <c:v>42.061999999999998</c:v>
                </c:pt>
                <c:pt idx="871">
                  <c:v>42.052999999999997</c:v>
                </c:pt>
                <c:pt idx="872">
                  <c:v>42.064</c:v>
                </c:pt>
                <c:pt idx="873">
                  <c:v>42.057000000000002</c:v>
                </c:pt>
                <c:pt idx="874">
                  <c:v>42.057000000000002</c:v>
                </c:pt>
                <c:pt idx="875">
                  <c:v>42.07</c:v>
                </c:pt>
                <c:pt idx="876">
                  <c:v>35.085000000000001</c:v>
                </c:pt>
                <c:pt idx="877">
                  <c:v>34.319000000000003</c:v>
                </c:pt>
                <c:pt idx="878">
                  <c:v>34.262999999999998</c:v>
                </c:pt>
                <c:pt idx="879">
                  <c:v>34.270000000000003</c:v>
                </c:pt>
                <c:pt idx="880">
                  <c:v>34.295000000000002</c:v>
                </c:pt>
                <c:pt idx="881">
                  <c:v>34.238999999999997</c:v>
                </c:pt>
                <c:pt idx="882">
                  <c:v>34.231000000000002</c:v>
                </c:pt>
                <c:pt idx="883">
                  <c:v>34.337000000000003</c:v>
                </c:pt>
                <c:pt idx="884">
                  <c:v>34.271000000000001</c:v>
                </c:pt>
                <c:pt idx="885">
                  <c:v>34.244999999999997</c:v>
                </c:pt>
                <c:pt idx="886">
                  <c:v>34.320999999999998</c:v>
                </c:pt>
                <c:pt idx="887">
                  <c:v>34.287999999999997</c:v>
                </c:pt>
                <c:pt idx="888">
                  <c:v>34.247</c:v>
                </c:pt>
                <c:pt idx="889">
                  <c:v>34.258000000000003</c:v>
                </c:pt>
                <c:pt idx="890">
                  <c:v>42.055</c:v>
                </c:pt>
                <c:pt idx="891">
                  <c:v>34.192</c:v>
                </c:pt>
                <c:pt idx="892">
                  <c:v>35.100999999999999</c:v>
                </c:pt>
                <c:pt idx="893">
                  <c:v>35.112000000000002</c:v>
                </c:pt>
                <c:pt idx="894">
                  <c:v>34.268000000000001</c:v>
                </c:pt>
                <c:pt idx="895">
                  <c:v>35.088000000000001</c:v>
                </c:pt>
                <c:pt idx="896">
                  <c:v>35.087000000000003</c:v>
                </c:pt>
                <c:pt idx="897">
                  <c:v>35.091000000000001</c:v>
                </c:pt>
                <c:pt idx="898">
                  <c:v>34.25</c:v>
                </c:pt>
                <c:pt idx="899">
                  <c:v>35.122</c:v>
                </c:pt>
                <c:pt idx="900">
                  <c:v>35.093000000000004</c:v>
                </c:pt>
                <c:pt idx="901">
                  <c:v>34.247999999999998</c:v>
                </c:pt>
                <c:pt idx="902">
                  <c:v>35.100999999999999</c:v>
                </c:pt>
                <c:pt idx="903">
                  <c:v>35.100999999999999</c:v>
                </c:pt>
                <c:pt idx="904">
                  <c:v>35.125</c:v>
                </c:pt>
                <c:pt idx="905">
                  <c:v>42.042999999999999</c:v>
                </c:pt>
                <c:pt idx="906">
                  <c:v>33.392000000000003</c:v>
                </c:pt>
                <c:pt idx="907">
                  <c:v>33.418999999999997</c:v>
                </c:pt>
                <c:pt idx="908">
                  <c:v>33.442999999999998</c:v>
                </c:pt>
                <c:pt idx="909">
                  <c:v>33.365000000000002</c:v>
                </c:pt>
                <c:pt idx="910">
                  <c:v>33.412999999999997</c:v>
                </c:pt>
                <c:pt idx="911">
                  <c:v>33.396999999999998</c:v>
                </c:pt>
                <c:pt idx="912">
                  <c:v>33.365000000000002</c:v>
                </c:pt>
                <c:pt idx="913">
                  <c:v>33.335999999999999</c:v>
                </c:pt>
                <c:pt idx="914">
                  <c:v>33.393999999999998</c:v>
                </c:pt>
                <c:pt idx="915">
                  <c:v>33.4</c:v>
                </c:pt>
                <c:pt idx="916">
                  <c:v>33.363</c:v>
                </c:pt>
                <c:pt idx="917">
                  <c:v>33.392000000000003</c:v>
                </c:pt>
                <c:pt idx="918">
                  <c:v>33.353000000000002</c:v>
                </c:pt>
                <c:pt idx="919">
                  <c:v>33.454999999999998</c:v>
                </c:pt>
                <c:pt idx="920">
                  <c:v>42.067</c:v>
                </c:pt>
                <c:pt idx="921">
                  <c:v>42.057000000000002</c:v>
                </c:pt>
                <c:pt idx="922">
                  <c:v>42.063000000000002</c:v>
                </c:pt>
                <c:pt idx="923">
                  <c:v>42.082000000000001</c:v>
                </c:pt>
                <c:pt idx="924">
                  <c:v>42.054000000000002</c:v>
                </c:pt>
                <c:pt idx="925">
                  <c:v>42.067999999999998</c:v>
                </c:pt>
                <c:pt idx="926">
                  <c:v>42.058</c:v>
                </c:pt>
                <c:pt idx="927">
                  <c:v>42.079000000000001</c:v>
                </c:pt>
                <c:pt idx="928">
                  <c:v>42.066000000000003</c:v>
                </c:pt>
                <c:pt idx="929">
                  <c:v>42.055</c:v>
                </c:pt>
                <c:pt idx="930">
                  <c:v>42.045000000000002</c:v>
                </c:pt>
                <c:pt idx="931">
                  <c:v>42.057000000000002</c:v>
                </c:pt>
                <c:pt idx="932">
                  <c:v>42.078000000000003</c:v>
                </c:pt>
                <c:pt idx="933">
                  <c:v>42.051000000000002</c:v>
                </c:pt>
                <c:pt idx="934">
                  <c:v>42.069000000000003</c:v>
                </c:pt>
                <c:pt idx="935">
                  <c:v>42.055</c:v>
                </c:pt>
                <c:pt idx="936">
                  <c:v>42.055</c:v>
                </c:pt>
                <c:pt idx="937">
                  <c:v>42.058999999999997</c:v>
                </c:pt>
                <c:pt idx="938">
                  <c:v>42.076000000000001</c:v>
                </c:pt>
                <c:pt idx="939">
                  <c:v>42.045000000000002</c:v>
                </c:pt>
                <c:pt idx="940">
                  <c:v>42.073999999999998</c:v>
                </c:pt>
                <c:pt idx="941">
                  <c:v>42.064999999999998</c:v>
                </c:pt>
                <c:pt idx="942">
                  <c:v>42.064</c:v>
                </c:pt>
                <c:pt idx="943">
                  <c:v>42.057000000000002</c:v>
                </c:pt>
                <c:pt idx="944">
                  <c:v>42.06</c:v>
                </c:pt>
                <c:pt idx="945">
                  <c:v>42.076000000000001</c:v>
                </c:pt>
                <c:pt idx="946">
                  <c:v>42.073</c:v>
                </c:pt>
                <c:pt idx="947">
                  <c:v>42.05</c:v>
                </c:pt>
                <c:pt idx="948">
                  <c:v>42.045000000000002</c:v>
                </c:pt>
                <c:pt idx="949">
                  <c:v>42.069000000000003</c:v>
                </c:pt>
                <c:pt idx="950">
                  <c:v>42.064</c:v>
                </c:pt>
                <c:pt idx="951">
                  <c:v>42.051000000000002</c:v>
                </c:pt>
                <c:pt idx="952">
                  <c:v>42.058999999999997</c:v>
                </c:pt>
                <c:pt idx="953">
                  <c:v>42.061999999999998</c:v>
                </c:pt>
                <c:pt idx="954">
                  <c:v>34.286000000000001</c:v>
                </c:pt>
                <c:pt idx="955">
                  <c:v>34.832999999999998</c:v>
                </c:pt>
                <c:pt idx="956">
                  <c:v>34.637</c:v>
                </c:pt>
                <c:pt idx="957">
                  <c:v>34.265000000000001</c:v>
                </c:pt>
                <c:pt idx="958">
                  <c:v>34.418999999999997</c:v>
                </c:pt>
                <c:pt idx="959">
                  <c:v>35.003</c:v>
                </c:pt>
                <c:pt idx="960">
                  <c:v>34.738999999999997</c:v>
                </c:pt>
                <c:pt idx="961">
                  <c:v>34.591999999999999</c:v>
                </c:pt>
                <c:pt idx="962">
                  <c:v>34.613999999999997</c:v>
                </c:pt>
                <c:pt idx="963">
                  <c:v>34.585999999999999</c:v>
                </c:pt>
                <c:pt idx="964">
                  <c:v>34.622999999999998</c:v>
                </c:pt>
                <c:pt idx="965">
                  <c:v>34.481999999999999</c:v>
                </c:pt>
                <c:pt idx="966">
                  <c:v>34.686999999999998</c:v>
                </c:pt>
                <c:pt idx="967">
                  <c:v>42.064999999999998</c:v>
                </c:pt>
                <c:pt idx="968">
                  <c:v>33.927</c:v>
                </c:pt>
                <c:pt idx="969">
                  <c:v>34.057000000000002</c:v>
                </c:pt>
                <c:pt idx="970">
                  <c:v>34.103999999999999</c:v>
                </c:pt>
                <c:pt idx="971">
                  <c:v>34.164000000000001</c:v>
                </c:pt>
                <c:pt idx="972">
                  <c:v>34.145000000000003</c:v>
                </c:pt>
                <c:pt idx="973">
                  <c:v>34.165999999999997</c:v>
                </c:pt>
                <c:pt idx="974">
                  <c:v>34.139000000000003</c:v>
                </c:pt>
                <c:pt idx="975">
                  <c:v>34.158000000000001</c:v>
                </c:pt>
                <c:pt idx="976">
                  <c:v>34.137999999999998</c:v>
                </c:pt>
                <c:pt idx="977">
                  <c:v>34.197000000000003</c:v>
                </c:pt>
                <c:pt idx="978">
                  <c:v>34.174999999999997</c:v>
                </c:pt>
                <c:pt idx="979">
                  <c:v>34.159999999999997</c:v>
                </c:pt>
                <c:pt idx="980">
                  <c:v>34.133000000000003</c:v>
                </c:pt>
                <c:pt idx="981">
                  <c:v>34.188000000000002</c:v>
                </c:pt>
                <c:pt idx="982">
                  <c:v>42.07</c:v>
                </c:pt>
                <c:pt idx="983">
                  <c:v>42.072000000000003</c:v>
                </c:pt>
                <c:pt idx="984">
                  <c:v>40.341999999999999</c:v>
                </c:pt>
                <c:pt idx="985">
                  <c:v>40.356000000000002</c:v>
                </c:pt>
                <c:pt idx="986">
                  <c:v>40.323</c:v>
                </c:pt>
                <c:pt idx="987">
                  <c:v>40.337000000000003</c:v>
                </c:pt>
                <c:pt idx="988">
                  <c:v>40.298000000000002</c:v>
                </c:pt>
                <c:pt idx="989">
                  <c:v>40.344999999999999</c:v>
                </c:pt>
                <c:pt idx="990">
                  <c:v>40.338999999999999</c:v>
                </c:pt>
                <c:pt idx="991">
                  <c:v>40.314</c:v>
                </c:pt>
                <c:pt idx="992">
                  <c:v>40.338999999999999</c:v>
                </c:pt>
                <c:pt idx="993">
                  <c:v>40.344000000000001</c:v>
                </c:pt>
                <c:pt idx="994">
                  <c:v>40.317</c:v>
                </c:pt>
                <c:pt idx="995">
                  <c:v>40.344000000000001</c:v>
                </c:pt>
                <c:pt idx="996">
                  <c:v>40.357999999999997</c:v>
                </c:pt>
                <c:pt idx="997">
                  <c:v>40.314</c:v>
                </c:pt>
                <c:pt idx="998">
                  <c:v>40.335000000000001</c:v>
                </c:pt>
                <c:pt idx="999">
                  <c:v>40.350999999999999</c:v>
                </c:pt>
                <c:pt idx="1000">
                  <c:v>40.320999999999998</c:v>
                </c:pt>
                <c:pt idx="1001">
                  <c:v>40.308</c:v>
                </c:pt>
                <c:pt idx="1002">
                  <c:v>40.316000000000003</c:v>
                </c:pt>
                <c:pt idx="1003">
                  <c:v>37.19</c:v>
                </c:pt>
                <c:pt idx="1004">
                  <c:v>37.17</c:v>
                </c:pt>
                <c:pt idx="1005">
                  <c:v>36.982999999999997</c:v>
                </c:pt>
                <c:pt idx="1006">
                  <c:v>37.018999999999998</c:v>
                </c:pt>
                <c:pt idx="1007">
                  <c:v>37.372</c:v>
                </c:pt>
                <c:pt idx="1008">
                  <c:v>40.326999999999998</c:v>
                </c:pt>
                <c:pt idx="1009">
                  <c:v>40.308999999999997</c:v>
                </c:pt>
                <c:pt idx="1010">
                  <c:v>40.338000000000001</c:v>
                </c:pt>
                <c:pt idx="1011">
                  <c:v>40.390999999999998</c:v>
                </c:pt>
                <c:pt idx="1012">
                  <c:v>40.326000000000001</c:v>
                </c:pt>
                <c:pt idx="1013">
                  <c:v>40.320999999999998</c:v>
                </c:pt>
                <c:pt idx="1014">
                  <c:v>40.305</c:v>
                </c:pt>
                <c:pt idx="1015">
                  <c:v>40.329000000000001</c:v>
                </c:pt>
                <c:pt idx="1016">
                  <c:v>40.305999999999997</c:v>
                </c:pt>
                <c:pt idx="1017">
                  <c:v>40.395000000000003</c:v>
                </c:pt>
                <c:pt idx="1018">
                  <c:v>42.868000000000002</c:v>
                </c:pt>
                <c:pt idx="1019">
                  <c:v>42.917999999999999</c:v>
                </c:pt>
                <c:pt idx="1020">
                  <c:v>42.924999999999997</c:v>
                </c:pt>
                <c:pt idx="1021">
                  <c:v>42.918999999999997</c:v>
                </c:pt>
                <c:pt idx="1022">
                  <c:v>42.932000000000002</c:v>
                </c:pt>
                <c:pt idx="1023">
                  <c:v>42.926000000000002</c:v>
                </c:pt>
                <c:pt idx="1024">
                  <c:v>42.956000000000003</c:v>
                </c:pt>
                <c:pt idx="1025">
                  <c:v>42.658000000000001</c:v>
                </c:pt>
                <c:pt idx="1026">
                  <c:v>42.695</c:v>
                </c:pt>
                <c:pt idx="1027">
                  <c:v>42.744</c:v>
                </c:pt>
                <c:pt idx="1028">
                  <c:v>42.764000000000003</c:v>
                </c:pt>
                <c:pt idx="1029">
                  <c:v>42.692999999999998</c:v>
                </c:pt>
                <c:pt idx="1030">
                  <c:v>42.667999999999999</c:v>
                </c:pt>
                <c:pt idx="1031">
                  <c:v>42.604999999999997</c:v>
                </c:pt>
                <c:pt idx="1032">
                  <c:v>42.701000000000001</c:v>
                </c:pt>
                <c:pt idx="1033">
                  <c:v>42.664000000000001</c:v>
                </c:pt>
                <c:pt idx="1034">
                  <c:v>42.673000000000002</c:v>
                </c:pt>
                <c:pt idx="1035">
                  <c:v>42.680999999999997</c:v>
                </c:pt>
                <c:pt idx="1036">
                  <c:v>42.722000000000001</c:v>
                </c:pt>
                <c:pt idx="1037">
                  <c:v>42.731000000000002</c:v>
                </c:pt>
                <c:pt idx="1038">
                  <c:v>42.713999999999999</c:v>
                </c:pt>
                <c:pt idx="1039">
                  <c:v>42.823999999999998</c:v>
                </c:pt>
                <c:pt idx="1040">
                  <c:v>42.75</c:v>
                </c:pt>
                <c:pt idx="1041">
                  <c:v>42.8</c:v>
                </c:pt>
                <c:pt idx="1042">
                  <c:v>42.750999999999998</c:v>
                </c:pt>
                <c:pt idx="1043">
                  <c:v>42.936</c:v>
                </c:pt>
                <c:pt idx="1044">
                  <c:v>42.921999999999997</c:v>
                </c:pt>
                <c:pt idx="1045">
                  <c:v>42.951000000000001</c:v>
                </c:pt>
                <c:pt idx="1046">
                  <c:v>42.935000000000002</c:v>
                </c:pt>
                <c:pt idx="1047">
                  <c:v>42.94</c:v>
                </c:pt>
                <c:pt idx="1048">
                  <c:v>42.935000000000002</c:v>
                </c:pt>
                <c:pt idx="1049">
                  <c:v>42.94</c:v>
                </c:pt>
                <c:pt idx="1050">
                  <c:v>42.93</c:v>
                </c:pt>
                <c:pt idx="1051">
                  <c:v>43.790999999999997</c:v>
                </c:pt>
                <c:pt idx="1052">
                  <c:v>43.805999999999997</c:v>
                </c:pt>
              </c:numCache>
            </c:numRef>
          </c:xVal>
          <c:yVal>
            <c:numRef>
              <c:f>Sheet1!$B$2:$B$1054</c:f>
              <c:numCache>
                <c:formatCode>General</c:formatCode>
                <c:ptCount val="1053"/>
                <c:pt idx="0">
                  <c:v>6827</c:v>
                </c:pt>
                <c:pt idx="1">
                  <c:v>9268</c:v>
                </c:pt>
                <c:pt idx="2">
                  <c:v>2678</c:v>
                </c:pt>
                <c:pt idx="3">
                  <c:v>6175</c:v>
                </c:pt>
                <c:pt idx="4">
                  <c:v>10084</c:v>
                </c:pt>
                <c:pt idx="5">
                  <c:v>9470</c:v>
                </c:pt>
                <c:pt idx="6">
                  <c:v>5524</c:v>
                </c:pt>
                <c:pt idx="7">
                  <c:v>9448</c:v>
                </c:pt>
                <c:pt idx="8">
                  <c:v>6911</c:v>
                </c:pt>
                <c:pt idx="9">
                  <c:v>2990</c:v>
                </c:pt>
                <c:pt idx="10">
                  <c:v>3159</c:v>
                </c:pt>
                <c:pt idx="11">
                  <c:v>4246</c:v>
                </c:pt>
                <c:pt idx="12">
                  <c:v>4297</c:v>
                </c:pt>
                <c:pt idx="13">
                  <c:v>2796</c:v>
                </c:pt>
                <c:pt idx="14">
                  <c:v>3369</c:v>
                </c:pt>
                <c:pt idx="15">
                  <c:v>2348</c:v>
                </c:pt>
                <c:pt idx="16">
                  <c:v>2903</c:v>
                </c:pt>
                <c:pt idx="17">
                  <c:v>2491</c:v>
                </c:pt>
                <c:pt idx="18">
                  <c:v>3968</c:v>
                </c:pt>
                <c:pt idx="19">
                  <c:v>4393</c:v>
                </c:pt>
                <c:pt idx="20">
                  <c:v>2176</c:v>
                </c:pt>
                <c:pt idx="21">
                  <c:v>2443</c:v>
                </c:pt>
                <c:pt idx="22">
                  <c:v>2638</c:v>
                </c:pt>
                <c:pt idx="23">
                  <c:v>1704</c:v>
                </c:pt>
                <c:pt idx="24">
                  <c:v>1872</c:v>
                </c:pt>
                <c:pt idx="25">
                  <c:v>3423</c:v>
                </c:pt>
                <c:pt idx="26">
                  <c:v>4544</c:v>
                </c:pt>
                <c:pt idx="27">
                  <c:v>2426</c:v>
                </c:pt>
                <c:pt idx="28">
                  <c:v>2117</c:v>
                </c:pt>
                <c:pt idx="29">
                  <c:v>1476</c:v>
                </c:pt>
                <c:pt idx="30">
                  <c:v>1974</c:v>
                </c:pt>
                <c:pt idx="31">
                  <c:v>1892</c:v>
                </c:pt>
                <c:pt idx="32">
                  <c:v>4030</c:v>
                </c:pt>
                <c:pt idx="33">
                  <c:v>5304</c:v>
                </c:pt>
                <c:pt idx="34">
                  <c:v>3320</c:v>
                </c:pt>
                <c:pt idx="35">
                  <c:v>4191</c:v>
                </c:pt>
                <c:pt idx="36">
                  <c:v>3809</c:v>
                </c:pt>
                <c:pt idx="37">
                  <c:v>5764</c:v>
                </c:pt>
                <c:pt idx="38">
                  <c:v>3028</c:v>
                </c:pt>
                <c:pt idx="39">
                  <c:v>9284</c:v>
                </c:pt>
                <c:pt idx="40">
                  <c:v>9737</c:v>
                </c:pt>
                <c:pt idx="41">
                  <c:v>4163</c:v>
                </c:pt>
                <c:pt idx="42">
                  <c:v>4552</c:v>
                </c:pt>
                <c:pt idx="43">
                  <c:v>4172</c:v>
                </c:pt>
                <c:pt idx="44">
                  <c:v>5037</c:v>
                </c:pt>
                <c:pt idx="45">
                  <c:v>4259</c:v>
                </c:pt>
                <c:pt idx="46">
                  <c:v>10381</c:v>
                </c:pt>
                <c:pt idx="47">
                  <c:v>11332</c:v>
                </c:pt>
                <c:pt idx="48">
                  <c:v>4127</c:v>
                </c:pt>
                <c:pt idx="49">
                  <c:v>4649</c:v>
                </c:pt>
                <c:pt idx="50">
                  <c:v>1627</c:v>
                </c:pt>
                <c:pt idx="51">
                  <c:v>3281</c:v>
                </c:pt>
                <c:pt idx="52">
                  <c:v>2310</c:v>
                </c:pt>
                <c:pt idx="53">
                  <c:v>9802</c:v>
                </c:pt>
                <c:pt idx="54">
                  <c:v>9772</c:v>
                </c:pt>
                <c:pt idx="55">
                  <c:v>4270</c:v>
                </c:pt>
                <c:pt idx="56">
                  <c:v>4106</c:v>
                </c:pt>
                <c:pt idx="57">
                  <c:v>6937</c:v>
                </c:pt>
                <c:pt idx="58">
                  <c:v>6934</c:v>
                </c:pt>
                <c:pt idx="59">
                  <c:v>11082</c:v>
                </c:pt>
                <c:pt idx="60">
                  <c:v>20805</c:v>
                </c:pt>
                <c:pt idx="61">
                  <c:v>26410</c:v>
                </c:pt>
                <c:pt idx="62">
                  <c:v>15004</c:v>
                </c:pt>
                <c:pt idx="63">
                  <c:v>16884</c:v>
                </c:pt>
                <c:pt idx="64">
                  <c:v>9789</c:v>
                </c:pt>
                <c:pt idx="65">
                  <c:v>8079</c:v>
                </c:pt>
                <c:pt idx="66">
                  <c:v>5072</c:v>
                </c:pt>
                <c:pt idx="67">
                  <c:v>14551</c:v>
                </c:pt>
                <c:pt idx="68">
                  <c:v>16262</c:v>
                </c:pt>
                <c:pt idx="69">
                  <c:v>7014</c:v>
                </c:pt>
                <c:pt idx="70">
                  <c:v>8932</c:v>
                </c:pt>
                <c:pt idx="71">
                  <c:v>5737</c:v>
                </c:pt>
                <c:pt idx="72">
                  <c:v>5903</c:v>
                </c:pt>
                <c:pt idx="73">
                  <c:v>5056</c:v>
                </c:pt>
                <c:pt idx="74">
                  <c:v>12167</c:v>
                </c:pt>
                <c:pt idx="75">
                  <c:v>15971</c:v>
                </c:pt>
                <c:pt idx="76">
                  <c:v>6968</c:v>
                </c:pt>
                <c:pt idx="77">
                  <c:v>7494</c:v>
                </c:pt>
                <c:pt idx="78">
                  <c:v>2707</c:v>
                </c:pt>
                <c:pt idx="79">
                  <c:v>2637</c:v>
                </c:pt>
                <c:pt idx="80">
                  <c:v>5149</c:v>
                </c:pt>
                <c:pt idx="81">
                  <c:v>5735</c:v>
                </c:pt>
                <c:pt idx="82">
                  <c:v>4936</c:v>
                </c:pt>
                <c:pt idx="83">
                  <c:v>2003</c:v>
                </c:pt>
                <c:pt idx="84">
                  <c:v>2323</c:v>
                </c:pt>
                <c:pt idx="85">
                  <c:v>3822</c:v>
                </c:pt>
                <c:pt idx="86">
                  <c:v>3666</c:v>
                </c:pt>
                <c:pt idx="87">
                  <c:v>3543</c:v>
                </c:pt>
                <c:pt idx="88">
                  <c:v>8130</c:v>
                </c:pt>
                <c:pt idx="89">
                  <c:v>10518</c:v>
                </c:pt>
                <c:pt idx="90">
                  <c:v>4791</c:v>
                </c:pt>
                <c:pt idx="91">
                  <c:v>5583</c:v>
                </c:pt>
                <c:pt idx="92">
                  <c:v>7155</c:v>
                </c:pt>
                <c:pt idx="93">
                  <c:v>4575</c:v>
                </c:pt>
                <c:pt idx="94">
                  <c:v>3997</c:v>
                </c:pt>
                <c:pt idx="95">
                  <c:v>5558</c:v>
                </c:pt>
                <c:pt idx="96">
                  <c:v>6320</c:v>
                </c:pt>
                <c:pt idx="97">
                  <c:v>3447</c:v>
                </c:pt>
                <c:pt idx="98">
                  <c:v>3854</c:v>
                </c:pt>
                <c:pt idx="99">
                  <c:v>3394</c:v>
                </c:pt>
                <c:pt idx="100">
                  <c:v>3563</c:v>
                </c:pt>
                <c:pt idx="101">
                  <c:v>5380</c:v>
                </c:pt>
                <c:pt idx="102">
                  <c:v>9573</c:v>
                </c:pt>
                <c:pt idx="103">
                  <c:v>11250</c:v>
                </c:pt>
                <c:pt idx="104">
                  <c:v>4990</c:v>
                </c:pt>
                <c:pt idx="105">
                  <c:v>5810</c:v>
                </c:pt>
                <c:pt idx="106">
                  <c:v>7497</c:v>
                </c:pt>
                <c:pt idx="107">
                  <c:v>8821</c:v>
                </c:pt>
                <c:pt idx="108">
                  <c:v>18366</c:v>
                </c:pt>
                <c:pt idx="109">
                  <c:v>13940</c:v>
                </c:pt>
                <c:pt idx="110">
                  <c:v>10814</c:v>
                </c:pt>
                <c:pt idx="111">
                  <c:v>3429</c:v>
                </c:pt>
                <c:pt idx="112">
                  <c:v>4834</c:v>
                </c:pt>
                <c:pt idx="113">
                  <c:v>5475</c:v>
                </c:pt>
                <c:pt idx="114">
                  <c:v>3121</c:v>
                </c:pt>
                <c:pt idx="115">
                  <c:v>2809</c:v>
                </c:pt>
                <c:pt idx="116">
                  <c:v>8537</c:v>
                </c:pt>
                <c:pt idx="117">
                  <c:v>8209</c:v>
                </c:pt>
                <c:pt idx="118">
                  <c:v>3592</c:v>
                </c:pt>
                <c:pt idx="119">
                  <c:v>3576</c:v>
                </c:pt>
                <c:pt idx="120">
                  <c:v>3807</c:v>
                </c:pt>
                <c:pt idx="121">
                  <c:v>4398</c:v>
                </c:pt>
                <c:pt idx="122">
                  <c:v>5124</c:v>
                </c:pt>
                <c:pt idx="123">
                  <c:v>4581</c:v>
                </c:pt>
                <c:pt idx="124">
                  <c:v>3697</c:v>
                </c:pt>
                <c:pt idx="125">
                  <c:v>2642</c:v>
                </c:pt>
                <c:pt idx="126">
                  <c:v>3154</c:v>
                </c:pt>
                <c:pt idx="127">
                  <c:v>3324</c:v>
                </c:pt>
                <c:pt idx="128">
                  <c:v>2677</c:v>
                </c:pt>
                <c:pt idx="129">
                  <c:v>2683</c:v>
                </c:pt>
                <c:pt idx="130">
                  <c:v>9328</c:v>
                </c:pt>
                <c:pt idx="131">
                  <c:v>13306</c:v>
                </c:pt>
                <c:pt idx="132">
                  <c:v>6173</c:v>
                </c:pt>
                <c:pt idx="133">
                  <c:v>5653</c:v>
                </c:pt>
                <c:pt idx="134">
                  <c:v>4503</c:v>
                </c:pt>
                <c:pt idx="135">
                  <c:v>6253</c:v>
                </c:pt>
                <c:pt idx="136">
                  <c:v>8408</c:v>
                </c:pt>
                <c:pt idx="137">
                  <c:v>12949</c:v>
                </c:pt>
                <c:pt idx="138">
                  <c:v>15508</c:v>
                </c:pt>
                <c:pt idx="139">
                  <c:v>5141</c:v>
                </c:pt>
                <c:pt idx="140">
                  <c:v>5194</c:v>
                </c:pt>
                <c:pt idx="141">
                  <c:v>5550</c:v>
                </c:pt>
                <c:pt idx="142">
                  <c:v>6070</c:v>
                </c:pt>
                <c:pt idx="143">
                  <c:v>3421</c:v>
                </c:pt>
                <c:pt idx="144">
                  <c:v>13384</c:v>
                </c:pt>
                <c:pt idx="145">
                  <c:v>18356</c:v>
                </c:pt>
                <c:pt idx="146">
                  <c:v>6500</c:v>
                </c:pt>
                <c:pt idx="147">
                  <c:v>6752</c:v>
                </c:pt>
                <c:pt idx="148">
                  <c:v>7023</c:v>
                </c:pt>
                <c:pt idx="149">
                  <c:v>7579</c:v>
                </c:pt>
                <c:pt idx="150">
                  <c:v>6448</c:v>
                </c:pt>
                <c:pt idx="151">
                  <c:v>15637</c:v>
                </c:pt>
                <c:pt idx="152">
                  <c:v>18775</c:v>
                </c:pt>
                <c:pt idx="153">
                  <c:v>14188</c:v>
                </c:pt>
                <c:pt idx="154">
                  <c:v>13256</c:v>
                </c:pt>
                <c:pt idx="155">
                  <c:v>10223</c:v>
                </c:pt>
                <c:pt idx="156">
                  <c:v>8904</c:v>
                </c:pt>
                <c:pt idx="157">
                  <c:v>5783</c:v>
                </c:pt>
                <c:pt idx="158">
                  <c:v>9005</c:v>
                </c:pt>
                <c:pt idx="159">
                  <c:v>12222</c:v>
                </c:pt>
                <c:pt idx="160">
                  <c:v>6037</c:v>
                </c:pt>
                <c:pt idx="161">
                  <c:v>6607</c:v>
                </c:pt>
                <c:pt idx="162">
                  <c:v>5857</c:v>
                </c:pt>
                <c:pt idx="163">
                  <c:v>5429</c:v>
                </c:pt>
                <c:pt idx="164">
                  <c:v>6232</c:v>
                </c:pt>
                <c:pt idx="165">
                  <c:v>14585</c:v>
                </c:pt>
                <c:pt idx="166">
                  <c:v>14745</c:v>
                </c:pt>
                <c:pt idx="167">
                  <c:v>6991</c:v>
                </c:pt>
                <c:pt idx="168">
                  <c:v>5788</c:v>
                </c:pt>
                <c:pt idx="169">
                  <c:v>6632</c:v>
                </c:pt>
                <c:pt idx="170">
                  <c:v>5752</c:v>
                </c:pt>
                <c:pt idx="171">
                  <c:v>3578</c:v>
                </c:pt>
                <c:pt idx="172">
                  <c:v>6119</c:v>
                </c:pt>
                <c:pt idx="173">
                  <c:v>6161</c:v>
                </c:pt>
                <c:pt idx="174">
                  <c:v>4015</c:v>
                </c:pt>
                <c:pt idx="175">
                  <c:v>4133</c:v>
                </c:pt>
                <c:pt idx="176">
                  <c:v>1047</c:v>
                </c:pt>
                <c:pt idx="177">
                  <c:v>1601</c:v>
                </c:pt>
                <c:pt idx="178">
                  <c:v>1592</c:v>
                </c:pt>
                <c:pt idx="179">
                  <c:v>3759</c:v>
                </c:pt>
                <c:pt idx="180">
                  <c:v>4172</c:v>
                </c:pt>
                <c:pt idx="181">
                  <c:v>1772</c:v>
                </c:pt>
                <c:pt idx="182">
                  <c:v>2672</c:v>
                </c:pt>
                <c:pt idx="183">
                  <c:v>5143</c:v>
                </c:pt>
                <c:pt idx="184">
                  <c:v>2990</c:v>
                </c:pt>
                <c:pt idx="185">
                  <c:v>2667</c:v>
                </c:pt>
                <c:pt idx="186">
                  <c:v>2799</c:v>
                </c:pt>
                <c:pt idx="187">
                  <c:v>3355</c:v>
                </c:pt>
                <c:pt idx="188">
                  <c:v>2002</c:v>
                </c:pt>
                <c:pt idx="189">
                  <c:v>1967</c:v>
                </c:pt>
                <c:pt idx="190">
                  <c:v>3094</c:v>
                </c:pt>
                <c:pt idx="191">
                  <c:v>2335</c:v>
                </c:pt>
                <c:pt idx="192">
                  <c:v>2968</c:v>
                </c:pt>
                <c:pt idx="193">
                  <c:v>3825</c:v>
                </c:pt>
                <c:pt idx="194">
                  <c:v>2833</c:v>
                </c:pt>
                <c:pt idx="195">
                  <c:v>1419</c:v>
                </c:pt>
                <c:pt idx="196">
                  <c:v>2151</c:v>
                </c:pt>
                <c:pt idx="197">
                  <c:v>3148</c:v>
                </c:pt>
                <c:pt idx="198">
                  <c:v>4825</c:v>
                </c:pt>
                <c:pt idx="199">
                  <c:v>2307</c:v>
                </c:pt>
                <c:pt idx="200">
                  <c:v>3557</c:v>
                </c:pt>
                <c:pt idx="201">
                  <c:v>7485</c:v>
                </c:pt>
                <c:pt idx="202">
                  <c:v>2428</c:v>
                </c:pt>
                <c:pt idx="203">
                  <c:v>2475</c:v>
                </c:pt>
                <c:pt idx="204">
                  <c:v>1618</c:v>
                </c:pt>
                <c:pt idx="205">
                  <c:v>5106</c:v>
                </c:pt>
                <c:pt idx="206">
                  <c:v>2729</c:v>
                </c:pt>
                <c:pt idx="207">
                  <c:v>15897</c:v>
                </c:pt>
                <c:pt idx="208">
                  <c:v>17343</c:v>
                </c:pt>
                <c:pt idx="209">
                  <c:v>8207</c:v>
                </c:pt>
                <c:pt idx="210">
                  <c:v>9018</c:v>
                </c:pt>
                <c:pt idx="211">
                  <c:v>6548</c:v>
                </c:pt>
                <c:pt idx="212">
                  <c:v>6102</c:v>
                </c:pt>
                <c:pt idx="213">
                  <c:v>9108</c:v>
                </c:pt>
                <c:pt idx="214">
                  <c:v>18867</c:v>
                </c:pt>
                <c:pt idx="215">
                  <c:v>19384</c:v>
                </c:pt>
                <c:pt idx="216">
                  <c:v>9473</c:v>
                </c:pt>
                <c:pt idx="217">
                  <c:v>11170</c:v>
                </c:pt>
                <c:pt idx="218">
                  <c:v>8091</c:v>
                </c:pt>
                <c:pt idx="219">
                  <c:v>2303</c:v>
                </c:pt>
                <c:pt idx="220">
                  <c:v>2947</c:v>
                </c:pt>
                <c:pt idx="221">
                  <c:v>13542</c:v>
                </c:pt>
                <c:pt idx="222">
                  <c:v>12588</c:v>
                </c:pt>
                <c:pt idx="223">
                  <c:v>6032</c:v>
                </c:pt>
                <c:pt idx="224">
                  <c:v>7158</c:v>
                </c:pt>
                <c:pt idx="225">
                  <c:v>5863</c:v>
                </c:pt>
                <c:pt idx="226">
                  <c:v>6092</c:v>
                </c:pt>
                <c:pt idx="227">
                  <c:v>5485</c:v>
                </c:pt>
                <c:pt idx="228">
                  <c:v>14587</c:v>
                </c:pt>
                <c:pt idx="229">
                  <c:v>16686</c:v>
                </c:pt>
                <c:pt idx="230">
                  <c:v>7380</c:v>
                </c:pt>
                <c:pt idx="231">
                  <c:v>7864</c:v>
                </c:pt>
                <c:pt idx="232">
                  <c:v>4941</c:v>
                </c:pt>
                <c:pt idx="233">
                  <c:v>5151</c:v>
                </c:pt>
                <c:pt idx="234">
                  <c:v>4928</c:v>
                </c:pt>
                <c:pt idx="235">
                  <c:v>11309</c:v>
                </c:pt>
                <c:pt idx="236">
                  <c:v>13613</c:v>
                </c:pt>
                <c:pt idx="237">
                  <c:v>6424</c:v>
                </c:pt>
                <c:pt idx="238">
                  <c:v>9493</c:v>
                </c:pt>
                <c:pt idx="239">
                  <c:v>7619</c:v>
                </c:pt>
                <c:pt idx="240">
                  <c:v>8909</c:v>
                </c:pt>
                <c:pt idx="241">
                  <c:v>8400</c:v>
                </c:pt>
                <c:pt idx="242">
                  <c:v>19317</c:v>
                </c:pt>
                <c:pt idx="243">
                  <c:v>23310</c:v>
                </c:pt>
                <c:pt idx="244">
                  <c:v>11646</c:v>
                </c:pt>
                <c:pt idx="245">
                  <c:v>19366</c:v>
                </c:pt>
                <c:pt idx="246">
                  <c:v>15291</c:v>
                </c:pt>
                <c:pt idx="247">
                  <c:v>15100</c:v>
                </c:pt>
                <c:pt idx="248">
                  <c:v>10164</c:v>
                </c:pt>
                <c:pt idx="249">
                  <c:v>16310</c:v>
                </c:pt>
                <c:pt idx="250">
                  <c:v>17985</c:v>
                </c:pt>
                <c:pt idx="251">
                  <c:v>7620</c:v>
                </c:pt>
                <c:pt idx="252">
                  <c:v>7958</c:v>
                </c:pt>
                <c:pt idx="253">
                  <c:v>3503</c:v>
                </c:pt>
                <c:pt idx="254">
                  <c:v>2247</c:v>
                </c:pt>
                <c:pt idx="255">
                  <c:v>2023</c:v>
                </c:pt>
                <c:pt idx="256">
                  <c:v>4242</c:v>
                </c:pt>
                <c:pt idx="257">
                  <c:v>4901</c:v>
                </c:pt>
                <c:pt idx="258">
                  <c:v>2467</c:v>
                </c:pt>
                <c:pt idx="259">
                  <c:v>3432</c:v>
                </c:pt>
                <c:pt idx="260">
                  <c:v>2375</c:v>
                </c:pt>
                <c:pt idx="261">
                  <c:v>2105</c:v>
                </c:pt>
                <c:pt idx="262">
                  <c:v>1982</c:v>
                </c:pt>
                <c:pt idx="263">
                  <c:v>3915</c:v>
                </c:pt>
                <c:pt idx="264">
                  <c:v>4383</c:v>
                </c:pt>
                <c:pt idx="265">
                  <c:v>2159</c:v>
                </c:pt>
                <c:pt idx="266">
                  <c:v>2592</c:v>
                </c:pt>
                <c:pt idx="267">
                  <c:v>3143</c:v>
                </c:pt>
                <c:pt idx="268">
                  <c:v>6457</c:v>
                </c:pt>
                <c:pt idx="269">
                  <c:v>11039</c:v>
                </c:pt>
                <c:pt idx="270">
                  <c:v>18036</c:v>
                </c:pt>
                <c:pt idx="271">
                  <c:v>19017</c:v>
                </c:pt>
                <c:pt idx="272">
                  <c:v>8747</c:v>
                </c:pt>
                <c:pt idx="273">
                  <c:v>8147</c:v>
                </c:pt>
                <c:pt idx="274">
                  <c:v>11036</c:v>
                </c:pt>
                <c:pt idx="275">
                  <c:v>18330</c:v>
                </c:pt>
                <c:pt idx="276">
                  <c:v>14503</c:v>
                </c:pt>
                <c:pt idx="277">
                  <c:v>15986</c:v>
                </c:pt>
                <c:pt idx="278">
                  <c:v>20223</c:v>
                </c:pt>
                <c:pt idx="279">
                  <c:v>8631</c:v>
                </c:pt>
                <c:pt idx="280">
                  <c:v>11579</c:v>
                </c:pt>
                <c:pt idx="281">
                  <c:v>2127</c:v>
                </c:pt>
                <c:pt idx="282">
                  <c:v>1923</c:v>
                </c:pt>
                <c:pt idx="283">
                  <c:v>2809</c:v>
                </c:pt>
                <c:pt idx="284">
                  <c:v>4891</c:v>
                </c:pt>
                <c:pt idx="285">
                  <c:v>3758</c:v>
                </c:pt>
                <c:pt idx="286">
                  <c:v>1661</c:v>
                </c:pt>
                <c:pt idx="287">
                  <c:v>2360</c:v>
                </c:pt>
                <c:pt idx="288">
                  <c:v>1894</c:v>
                </c:pt>
                <c:pt idx="289">
                  <c:v>3548</c:v>
                </c:pt>
                <c:pt idx="290">
                  <c:v>2591</c:v>
                </c:pt>
                <c:pt idx="291">
                  <c:v>3293</c:v>
                </c:pt>
                <c:pt idx="292">
                  <c:v>4611</c:v>
                </c:pt>
                <c:pt idx="293">
                  <c:v>2468</c:v>
                </c:pt>
                <c:pt idx="294">
                  <c:v>2773</c:v>
                </c:pt>
                <c:pt idx="295">
                  <c:v>2815</c:v>
                </c:pt>
                <c:pt idx="296">
                  <c:v>2701</c:v>
                </c:pt>
                <c:pt idx="297">
                  <c:v>2651</c:v>
                </c:pt>
                <c:pt idx="298">
                  <c:v>6781</c:v>
                </c:pt>
                <c:pt idx="299">
                  <c:v>8249</c:v>
                </c:pt>
                <c:pt idx="300">
                  <c:v>3502</c:v>
                </c:pt>
                <c:pt idx="301">
                  <c:v>3949</c:v>
                </c:pt>
                <c:pt idx="302">
                  <c:v>2435</c:v>
                </c:pt>
                <c:pt idx="303">
                  <c:v>2232</c:v>
                </c:pt>
                <c:pt idx="304">
                  <c:v>1898</c:v>
                </c:pt>
                <c:pt idx="305">
                  <c:v>4537</c:v>
                </c:pt>
                <c:pt idx="306">
                  <c:v>6730</c:v>
                </c:pt>
                <c:pt idx="307">
                  <c:v>4038</c:v>
                </c:pt>
                <c:pt idx="308">
                  <c:v>5581</c:v>
                </c:pt>
                <c:pt idx="309">
                  <c:v>2519</c:v>
                </c:pt>
                <c:pt idx="310">
                  <c:v>1847</c:v>
                </c:pt>
                <c:pt idx="311">
                  <c:v>2309</c:v>
                </c:pt>
                <c:pt idx="312">
                  <c:v>3722</c:v>
                </c:pt>
                <c:pt idx="313">
                  <c:v>4268</c:v>
                </c:pt>
                <c:pt idx="314">
                  <c:v>1968</c:v>
                </c:pt>
                <c:pt idx="315">
                  <c:v>2016</c:v>
                </c:pt>
                <c:pt idx="316">
                  <c:v>1497</c:v>
                </c:pt>
                <c:pt idx="317">
                  <c:v>1314</c:v>
                </c:pt>
                <c:pt idx="318">
                  <c:v>1466</c:v>
                </c:pt>
                <c:pt idx="319">
                  <c:v>3984</c:v>
                </c:pt>
                <c:pt idx="320">
                  <c:v>4802</c:v>
                </c:pt>
                <c:pt idx="321">
                  <c:v>2017</c:v>
                </c:pt>
                <c:pt idx="322">
                  <c:v>2297</c:v>
                </c:pt>
                <c:pt idx="323">
                  <c:v>1665</c:v>
                </c:pt>
                <c:pt idx="324">
                  <c:v>1291</c:v>
                </c:pt>
                <c:pt idx="325">
                  <c:v>1361</c:v>
                </c:pt>
                <c:pt idx="326">
                  <c:v>1281</c:v>
                </c:pt>
                <c:pt idx="327">
                  <c:v>1122</c:v>
                </c:pt>
                <c:pt idx="328">
                  <c:v>737</c:v>
                </c:pt>
                <c:pt idx="329">
                  <c:v>641</c:v>
                </c:pt>
                <c:pt idx="330">
                  <c:v>968</c:v>
                </c:pt>
                <c:pt idx="331">
                  <c:v>709</c:v>
                </c:pt>
                <c:pt idx="332">
                  <c:v>880</c:v>
                </c:pt>
                <c:pt idx="333">
                  <c:v>1096</c:v>
                </c:pt>
                <c:pt idx="334">
                  <c:v>2068</c:v>
                </c:pt>
                <c:pt idx="335">
                  <c:v>2375</c:v>
                </c:pt>
                <c:pt idx="336">
                  <c:v>2492</c:v>
                </c:pt>
                <c:pt idx="337">
                  <c:v>2170</c:v>
                </c:pt>
                <c:pt idx="338">
                  <c:v>1784</c:v>
                </c:pt>
                <c:pt idx="339">
                  <c:v>1368</c:v>
                </c:pt>
                <c:pt idx="340">
                  <c:v>1914</c:v>
                </c:pt>
                <c:pt idx="341">
                  <c:v>3765</c:v>
                </c:pt>
                <c:pt idx="342">
                  <c:v>2712</c:v>
                </c:pt>
                <c:pt idx="343">
                  <c:v>2222</c:v>
                </c:pt>
                <c:pt idx="344">
                  <c:v>1861</c:v>
                </c:pt>
                <c:pt idx="345">
                  <c:v>4095</c:v>
                </c:pt>
                <c:pt idx="346">
                  <c:v>4157</c:v>
                </c:pt>
                <c:pt idx="347">
                  <c:v>7259</c:v>
                </c:pt>
                <c:pt idx="348">
                  <c:v>9654</c:v>
                </c:pt>
                <c:pt idx="349">
                  <c:v>4632</c:v>
                </c:pt>
                <c:pt idx="350">
                  <c:v>7341</c:v>
                </c:pt>
                <c:pt idx="351">
                  <c:v>4308</c:v>
                </c:pt>
                <c:pt idx="352">
                  <c:v>3865</c:v>
                </c:pt>
                <c:pt idx="353">
                  <c:v>5288</c:v>
                </c:pt>
                <c:pt idx="354">
                  <c:v>7141</c:v>
                </c:pt>
                <c:pt idx="355">
                  <c:v>8268</c:v>
                </c:pt>
                <c:pt idx="356">
                  <c:v>4541</c:v>
                </c:pt>
                <c:pt idx="357">
                  <c:v>5014</c:v>
                </c:pt>
                <c:pt idx="358">
                  <c:v>7778</c:v>
                </c:pt>
                <c:pt idx="359">
                  <c:v>11809</c:v>
                </c:pt>
                <c:pt idx="360">
                  <c:v>3344</c:v>
                </c:pt>
                <c:pt idx="361">
                  <c:v>1169</c:v>
                </c:pt>
                <c:pt idx="362">
                  <c:v>2676</c:v>
                </c:pt>
                <c:pt idx="363">
                  <c:v>1677</c:v>
                </c:pt>
                <c:pt idx="364">
                  <c:v>3237</c:v>
                </c:pt>
                <c:pt idx="365">
                  <c:v>5607</c:v>
                </c:pt>
                <c:pt idx="366">
                  <c:v>9464</c:v>
                </c:pt>
                <c:pt idx="367">
                  <c:v>2905</c:v>
                </c:pt>
                <c:pt idx="368">
                  <c:v>7023</c:v>
                </c:pt>
                <c:pt idx="369">
                  <c:v>6371</c:v>
                </c:pt>
                <c:pt idx="370">
                  <c:v>4624</c:v>
                </c:pt>
                <c:pt idx="371">
                  <c:v>5717</c:v>
                </c:pt>
                <c:pt idx="372">
                  <c:v>4705</c:v>
                </c:pt>
                <c:pt idx="373">
                  <c:v>2020</c:v>
                </c:pt>
                <c:pt idx="374">
                  <c:v>1868</c:v>
                </c:pt>
                <c:pt idx="375">
                  <c:v>3008</c:v>
                </c:pt>
                <c:pt idx="376">
                  <c:v>2934</c:v>
                </c:pt>
                <c:pt idx="377">
                  <c:v>1690</c:v>
                </c:pt>
                <c:pt idx="378">
                  <c:v>2058</c:v>
                </c:pt>
                <c:pt idx="379">
                  <c:v>1570</c:v>
                </c:pt>
                <c:pt idx="380">
                  <c:v>1446</c:v>
                </c:pt>
                <c:pt idx="381">
                  <c:v>1921</c:v>
                </c:pt>
                <c:pt idx="382">
                  <c:v>3629</c:v>
                </c:pt>
                <c:pt idx="383">
                  <c:v>4144</c:v>
                </c:pt>
                <c:pt idx="384">
                  <c:v>1815</c:v>
                </c:pt>
                <c:pt idx="385">
                  <c:v>2189</c:v>
                </c:pt>
                <c:pt idx="386">
                  <c:v>2376</c:v>
                </c:pt>
                <c:pt idx="387">
                  <c:v>1525</c:v>
                </c:pt>
                <c:pt idx="388">
                  <c:v>1616</c:v>
                </c:pt>
                <c:pt idx="389">
                  <c:v>3757</c:v>
                </c:pt>
                <c:pt idx="390">
                  <c:v>3855</c:v>
                </c:pt>
                <c:pt idx="391">
                  <c:v>1897</c:v>
                </c:pt>
                <c:pt idx="392">
                  <c:v>2230</c:v>
                </c:pt>
                <c:pt idx="393">
                  <c:v>1870</c:v>
                </c:pt>
                <c:pt idx="394">
                  <c:v>1455</c:v>
                </c:pt>
                <c:pt idx="395">
                  <c:v>1392</c:v>
                </c:pt>
                <c:pt idx="396">
                  <c:v>3268</c:v>
                </c:pt>
                <c:pt idx="397">
                  <c:v>4862</c:v>
                </c:pt>
                <c:pt idx="398">
                  <c:v>4165</c:v>
                </c:pt>
                <c:pt idx="399">
                  <c:v>3685</c:v>
                </c:pt>
                <c:pt idx="400">
                  <c:v>2479</c:v>
                </c:pt>
                <c:pt idx="401">
                  <c:v>2005</c:v>
                </c:pt>
                <c:pt idx="402">
                  <c:v>1122</c:v>
                </c:pt>
                <c:pt idx="403">
                  <c:v>2082</c:v>
                </c:pt>
                <c:pt idx="404">
                  <c:v>2573</c:v>
                </c:pt>
                <c:pt idx="405">
                  <c:v>1774</c:v>
                </c:pt>
                <c:pt idx="406">
                  <c:v>2378</c:v>
                </c:pt>
                <c:pt idx="407">
                  <c:v>3677</c:v>
                </c:pt>
                <c:pt idx="408">
                  <c:v>4299</c:v>
                </c:pt>
                <c:pt idx="409">
                  <c:v>3674</c:v>
                </c:pt>
                <c:pt idx="410">
                  <c:v>9505</c:v>
                </c:pt>
                <c:pt idx="411">
                  <c:v>11237</c:v>
                </c:pt>
                <c:pt idx="412">
                  <c:v>5406</c:v>
                </c:pt>
                <c:pt idx="413">
                  <c:v>5846</c:v>
                </c:pt>
                <c:pt idx="414">
                  <c:v>3713</c:v>
                </c:pt>
                <c:pt idx="415">
                  <c:v>4270</c:v>
                </c:pt>
                <c:pt idx="416">
                  <c:v>3827</c:v>
                </c:pt>
                <c:pt idx="417">
                  <c:v>7770</c:v>
                </c:pt>
                <c:pt idx="418">
                  <c:v>7102</c:v>
                </c:pt>
                <c:pt idx="419">
                  <c:v>3608</c:v>
                </c:pt>
                <c:pt idx="420">
                  <c:v>2150</c:v>
                </c:pt>
                <c:pt idx="421">
                  <c:v>2530</c:v>
                </c:pt>
                <c:pt idx="422">
                  <c:v>5253</c:v>
                </c:pt>
                <c:pt idx="423">
                  <c:v>4171</c:v>
                </c:pt>
                <c:pt idx="424">
                  <c:v>8156</c:v>
                </c:pt>
                <c:pt idx="425">
                  <c:v>9296</c:v>
                </c:pt>
                <c:pt idx="426">
                  <c:v>6803</c:v>
                </c:pt>
                <c:pt idx="427">
                  <c:v>6221</c:v>
                </c:pt>
                <c:pt idx="428">
                  <c:v>6611</c:v>
                </c:pt>
                <c:pt idx="429">
                  <c:v>6843</c:v>
                </c:pt>
                <c:pt idx="430">
                  <c:v>3858</c:v>
                </c:pt>
                <c:pt idx="431">
                  <c:v>7128</c:v>
                </c:pt>
                <c:pt idx="432">
                  <c:v>8127</c:v>
                </c:pt>
                <c:pt idx="433">
                  <c:v>2966</c:v>
                </c:pt>
                <c:pt idx="434">
                  <c:v>2858</c:v>
                </c:pt>
                <c:pt idx="435">
                  <c:v>1518</c:v>
                </c:pt>
                <c:pt idx="436">
                  <c:v>1386</c:v>
                </c:pt>
                <c:pt idx="437">
                  <c:v>1166</c:v>
                </c:pt>
                <c:pt idx="438">
                  <c:v>2853</c:v>
                </c:pt>
                <c:pt idx="439">
                  <c:v>3657</c:v>
                </c:pt>
                <c:pt idx="440">
                  <c:v>1631</c:v>
                </c:pt>
                <c:pt idx="441">
                  <c:v>1959</c:v>
                </c:pt>
                <c:pt idx="442">
                  <c:v>1230</c:v>
                </c:pt>
                <c:pt idx="443">
                  <c:v>1182</c:v>
                </c:pt>
                <c:pt idx="444">
                  <c:v>1050</c:v>
                </c:pt>
                <c:pt idx="445">
                  <c:v>2353</c:v>
                </c:pt>
                <c:pt idx="446">
                  <c:v>2947</c:v>
                </c:pt>
                <c:pt idx="447">
                  <c:v>1626</c:v>
                </c:pt>
                <c:pt idx="448">
                  <c:v>1976</c:v>
                </c:pt>
                <c:pt idx="449">
                  <c:v>3312</c:v>
                </c:pt>
                <c:pt idx="450">
                  <c:v>6704</c:v>
                </c:pt>
                <c:pt idx="451">
                  <c:v>6077</c:v>
                </c:pt>
                <c:pt idx="452">
                  <c:v>9386</c:v>
                </c:pt>
                <c:pt idx="453">
                  <c:v>12181</c:v>
                </c:pt>
                <c:pt idx="454">
                  <c:v>5937</c:v>
                </c:pt>
                <c:pt idx="455">
                  <c:v>5706</c:v>
                </c:pt>
                <c:pt idx="456">
                  <c:v>9421</c:v>
                </c:pt>
                <c:pt idx="457">
                  <c:v>13207</c:v>
                </c:pt>
                <c:pt idx="458">
                  <c:v>18936</c:v>
                </c:pt>
                <c:pt idx="459">
                  <c:v>13503</c:v>
                </c:pt>
                <c:pt idx="460">
                  <c:v>10600</c:v>
                </c:pt>
                <c:pt idx="461">
                  <c:v>3591</c:v>
                </c:pt>
                <c:pt idx="462">
                  <c:v>4836</c:v>
                </c:pt>
                <c:pt idx="463">
                  <c:v>4348</c:v>
                </c:pt>
                <c:pt idx="464">
                  <c:v>2451</c:v>
                </c:pt>
                <c:pt idx="465">
                  <c:v>1814</c:v>
                </c:pt>
                <c:pt idx="466">
                  <c:v>2770</c:v>
                </c:pt>
                <c:pt idx="467">
                  <c:v>3072</c:v>
                </c:pt>
                <c:pt idx="468">
                  <c:v>1934</c:v>
                </c:pt>
                <c:pt idx="469">
                  <c:v>2019</c:v>
                </c:pt>
                <c:pt idx="470">
                  <c:v>979</c:v>
                </c:pt>
                <c:pt idx="471">
                  <c:v>1398</c:v>
                </c:pt>
                <c:pt idx="472">
                  <c:v>1198</c:v>
                </c:pt>
                <c:pt idx="473">
                  <c:v>2485</c:v>
                </c:pt>
                <c:pt idx="474">
                  <c:v>3172</c:v>
                </c:pt>
                <c:pt idx="475">
                  <c:v>1497</c:v>
                </c:pt>
                <c:pt idx="476">
                  <c:v>1365</c:v>
                </c:pt>
                <c:pt idx="477">
                  <c:v>1353</c:v>
                </c:pt>
                <c:pt idx="478">
                  <c:v>3439</c:v>
                </c:pt>
                <c:pt idx="479">
                  <c:v>1434</c:v>
                </c:pt>
                <c:pt idx="480">
                  <c:v>8892</c:v>
                </c:pt>
                <c:pt idx="481">
                  <c:v>13144</c:v>
                </c:pt>
                <c:pt idx="482">
                  <c:v>5179</c:v>
                </c:pt>
                <c:pt idx="483">
                  <c:v>5014</c:v>
                </c:pt>
                <c:pt idx="484">
                  <c:v>4936</c:v>
                </c:pt>
                <c:pt idx="485">
                  <c:v>5150</c:v>
                </c:pt>
                <c:pt idx="486">
                  <c:v>9986</c:v>
                </c:pt>
                <c:pt idx="487">
                  <c:v>12937</c:v>
                </c:pt>
                <c:pt idx="488">
                  <c:v>12217</c:v>
                </c:pt>
                <c:pt idx="489">
                  <c:v>6721</c:v>
                </c:pt>
                <c:pt idx="490">
                  <c:v>8283</c:v>
                </c:pt>
                <c:pt idx="491">
                  <c:v>6191</c:v>
                </c:pt>
                <c:pt idx="492">
                  <c:v>5959</c:v>
                </c:pt>
                <c:pt idx="493">
                  <c:v>2848</c:v>
                </c:pt>
                <c:pt idx="494">
                  <c:v>8748</c:v>
                </c:pt>
                <c:pt idx="495">
                  <c:v>10329</c:v>
                </c:pt>
                <c:pt idx="496">
                  <c:v>4410</c:v>
                </c:pt>
                <c:pt idx="497">
                  <c:v>5257</c:v>
                </c:pt>
                <c:pt idx="498">
                  <c:v>5118</c:v>
                </c:pt>
                <c:pt idx="499">
                  <c:v>4410</c:v>
                </c:pt>
                <c:pt idx="500">
                  <c:v>3952</c:v>
                </c:pt>
                <c:pt idx="501">
                  <c:v>10084</c:v>
                </c:pt>
                <c:pt idx="502">
                  <c:v>10964</c:v>
                </c:pt>
                <c:pt idx="503">
                  <c:v>4695</c:v>
                </c:pt>
                <c:pt idx="504">
                  <c:v>5205</c:v>
                </c:pt>
                <c:pt idx="505">
                  <c:v>3638</c:v>
                </c:pt>
                <c:pt idx="506">
                  <c:v>4394</c:v>
                </c:pt>
                <c:pt idx="507">
                  <c:v>2012</c:v>
                </c:pt>
                <c:pt idx="508">
                  <c:v>8526</c:v>
                </c:pt>
                <c:pt idx="509">
                  <c:v>11096</c:v>
                </c:pt>
                <c:pt idx="510">
                  <c:v>4489</c:v>
                </c:pt>
                <c:pt idx="511">
                  <c:v>6795</c:v>
                </c:pt>
                <c:pt idx="512">
                  <c:v>5283</c:v>
                </c:pt>
                <c:pt idx="513">
                  <c:v>6453</c:v>
                </c:pt>
                <c:pt idx="514">
                  <c:v>5770</c:v>
                </c:pt>
                <c:pt idx="515">
                  <c:v>12507</c:v>
                </c:pt>
                <c:pt idx="516">
                  <c:v>14475</c:v>
                </c:pt>
                <c:pt idx="517">
                  <c:v>7009</c:v>
                </c:pt>
                <c:pt idx="518">
                  <c:v>11688</c:v>
                </c:pt>
                <c:pt idx="519">
                  <c:v>8863</c:v>
                </c:pt>
                <c:pt idx="520">
                  <c:v>7148</c:v>
                </c:pt>
                <c:pt idx="521">
                  <c:v>5326</c:v>
                </c:pt>
                <c:pt idx="522">
                  <c:v>7775</c:v>
                </c:pt>
                <c:pt idx="523">
                  <c:v>9255</c:v>
                </c:pt>
                <c:pt idx="524">
                  <c:v>4758</c:v>
                </c:pt>
                <c:pt idx="525">
                  <c:v>2613</c:v>
                </c:pt>
                <c:pt idx="526">
                  <c:v>1830</c:v>
                </c:pt>
                <c:pt idx="527">
                  <c:v>1694</c:v>
                </c:pt>
                <c:pt idx="528">
                  <c:v>1642</c:v>
                </c:pt>
                <c:pt idx="529">
                  <c:v>3690</c:v>
                </c:pt>
                <c:pt idx="530">
                  <c:v>4404</c:v>
                </c:pt>
                <c:pt idx="531">
                  <c:v>1992</c:v>
                </c:pt>
                <c:pt idx="532">
                  <c:v>3557</c:v>
                </c:pt>
                <c:pt idx="533">
                  <c:v>2395</c:v>
                </c:pt>
                <c:pt idx="534">
                  <c:v>2120</c:v>
                </c:pt>
                <c:pt idx="535">
                  <c:v>1875</c:v>
                </c:pt>
                <c:pt idx="536">
                  <c:v>3376</c:v>
                </c:pt>
                <c:pt idx="537">
                  <c:v>4027</c:v>
                </c:pt>
                <c:pt idx="538">
                  <c:v>2128</c:v>
                </c:pt>
                <c:pt idx="539">
                  <c:v>2046</c:v>
                </c:pt>
                <c:pt idx="540">
                  <c:v>1546</c:v>
                </c:pt>
                <c:pt idx="541">
                  <c:v>2822</c:v>
                </c:pt>
                <c:pt idx="542">
                  <c:v>4865</c:v>
                </c:pt>
                <c:pt idx="543">
                  <c:v>8450</c:v>
                </c:pt>
                <c:pt idx="544">
                  <c:v>9770</c:v>
                </c:pt>
                <c:pt idx="545">
                  <c:v>4914</c:v>
                </c:pt>
                <c:pt idx="546">
                  <c:v>4385</c:v>
                </c:pt>
                <c:pt idx="547">
                  <c:v>5627</c:v>
                </c:pt>
                <c:pt idx="548">
                  <c:v>8086</c:v>
                </c:pt>
                <c:pt idx="549">
                  <c:v>6639</c:v>
                </c:pt>
                <c:pt idx="550">
                  <c:v>7104</c:v>
                </c:pt>
                <c:pt idx="551">
                  <c:v>8364</c:v>
                </c:pt>
                <c:pt idx="552">
                  <c:v>4146</c:v>
                </c:pt>
                <c:pt idx="553">
                  <c:v>4601</c:v>
                </c:pt>
                <c:pt idx="554">
                  <c:v>3593</c:v>
                </c:pt>
                <c:pt idx="555">
                  <c:v>2114</c:v>
                </c:pt>
                <c:pt idx="556">
                  <c:v>1797</c:v>
                </c:pt>
                <c:pt idx="557">
                  <c:v>3195</c:v>
                </c:pt>
                <c:pt idx="558">
                  <c:v>3595</c:v>
                </c:pt>
                <c:pt idx="559">
                  <c:v>1467</c:v>
                </c:pt>
                <c:pt idx="560">
                  <c:v>1610</c:v>
                </c:pt>
                <c:pt idx="561">
                  <c:v>1307</c:v>
                </c:pt>
                <c:pt idx="562">
                  <c:v>2050</c:v>
                </c:pt>
                <c:pt idx="563">
                  <c:v>1849</c:v>
                </c:pt>
                <c:pt idx="564">
                  <c:v>3070</c:v>
                </c:pt>
                <c:pt idx="565">
                  <c:v>3322</c:v>
                </c:pt>
                <c:pt idx="566">
                  <c:v>1982</c:v>
                </c:pt>
                <c:pt idx="567">
                  <c:v>1787</c:v>
                </c:pt>
                <c:pt idx="568">
                  <c:v>1846</c:v>
                </c:pt>
                <c:pt idx="569">
                  <c:v>1142</c:v>
                </c:pt>
                <c:pt idx="570">
                  <c:v>1734</c:v>
                </c:pt>
                <c:pt idx="571">
                  <c:v>3259</c:v>
                </c:pt>
                <c:pt idx="572">
                  <c:v>3572</c:v>
                </c:pt>
                <c:pt idx="573">
                  <c:v>2109</c:v>
                </c:pt>
                <c:pt idx="574">
                  <c:v>2242</c:v>
                </c:pt>
                <c:pt idx="575">
                  <c:v>1474</c:v>
                </c:pt>
                <c:pt idx="576">
                  <c:v>1381</c:v>
                </c:pt>
                <c:pt idx="577">
                  <c:v>1423</c:v>
                </c:pt>
                <c:pt idx="578">
                  <c:v>3740</c:v>
                </c:pt>
                <c:pt idx="579">
                  <c:v>4453</c:v>
                </c:pt>
                <c:pt idx="580">
                  <c:v>2258</c:v>
                </c:pt>
                <c:pt idx="581">
                  <c:v>2074</c:v>
                </c:pt>
                <c:pt idx="582">
                  <c:v>2007</c:v>
                </c:pt>
                <c:pt idx="583">
                  <c:v>1948</c:v>
                </c:pt>
                <c:pt idx="584">
                  <c:v>1922</c:v>
                </c:pt>
                <c:pt idx="585">
                  <c:v>3088</c:v>
                </c:pt>
                <c:pt idx="586">
                  <c:v>3388</c:v>
                </c:pt>
                <c:pt idx="587">
                  <c:v>1944</c:v>
                </c:pt>
                <c:pt idx="588">
                  <c:v>1812</c:v>
                </c:pt>
                <c:pt idx="589">
                  <c:v>1563</c:v>
                </c:pt>
                <c:pt idx="590">
                  <c:v>1171</c:v>
                </c:pt>
                <c:pt idx="591">
                  <c:v>1035</c:v>
                </c:pt>
                <c:pt idx="592">
                  <c:v>2247</c:v>
                </c:pt>
                <c:pt idx="593">
                  <c:v>3068</c:v>
                </c:pt>
                <c:pt idx="594">
                  <c:v>1866</c:v>
                </c:pt>
                <c:pt idx="595">
                  <c:v>1690</c:v>
                </c:pt>
                <c:pt idx="596">
                  <c:v>922</c:v>
                </c:pt>
                <c:pt idx="597">
                  <c:v>604</c:v>
                </c:pt>
                <c:pt idx="598">
                  <c:v>643</c:v>
                </c:pt>
                <c:pt idx="599">
                  <c:v>2006</c:v>
                </c:pt>
                <c:pt idx="600">
                  <c:v>2677</c:v>
                </c:pt>
                <c:pt idx="601">
                  <c:v>1467</c:v>
                </c:pt>
                <c:pt idx="602">
                  <c:v>1528</c:v>
                </c:pt>
                <c:pt idx="603">
                  <c:v>6360</c:v>
                </c:pt>
                <c:pt idx="604">
                  <c:v>8035</c:v>
                </c:pt>
                <c:pt idx="605">
                  <c:v>6675</c:v>
                </c:pt>
                <c:pt idx="606">
                  <c:v>11330</c:v>
                </c:pt>
                <c:pt idx="607">
                  <c:v>13484</c:v>
                </c:pt>
                <c:pt idx="608">
                  <c:v>5913</c:v>
                </c:pt>
                <c:pt idx="609">
                  <c:v>9721</c:v>
                </c:pt>
                <c:pt idx="610">
                  <c:v>11257</c:v>
                </c:pt>
                <c:pt idx="611">
                  <c:v>10102</c:v>
                </c:pt>
                <c:pt idx="612">
                  <c:v>7938</c:v>
                </c:pt>
                <c:pt idx="613">
                  <c:v>9936</c:v>
                </c:pt>
                <c:pt idx="614">
                  <c:v>10643</c:v>
                </c:pt>
                <c:pt idx="615">
                  <c:v>4800</c:v>
                </c:pt>
                <c:pt idx="616">
                  <c:v>5228</c:v>
                </c:pt>
                <c:pt idx="617">
                  <c:v>1810</c:v>
                </c:pt>
                <c:pt idx="618">
                  <c:v>1961</c:v>
                </c:pt>
                <c:pt idx="619">
                  <c:v>1232</c:v>
                </c:pt>
                <c:pt idx="620">
                  <c:v>2194</c:v>
                </c:pt>
                <c:pt idx="621">
                  <c:v>1469</c:v>
                </c:pt>
                <c:pt idx="622">
                  <c:v>829</c:v>
                </c:pt>
                <c:pt idx="623">
                  <c:v>1329</c:v>
                </c:pt>
                <c:pt idx="624">
                  <c:v>1300</c:v>
                </c:pt>
                <c:pt idx="625">
                  <c:v>773</c:v>
                </c:pt>
                <c:pt idx="626">
                  <c:v>760</c:v>
                </c:pt>
                <c:pt idx="627">
                  <c:v>1755</c:v>
                </c:pt>
                <c:pt idx="628">
                  <c:v>1766</c:v>
                </c:pt>
                <c:pt idx="629">
                  <c:v>1078</c:v>
                </c:pt>
                <c:pt idx="630">
                  <c:v>1124</c:v>
                </c:pt>
                <c:pt idx="631">
                  <c:v>1182</c:v>
                </c:pt>
                <c:pt idx="632">
                  <c:v>3725</c:v>
                </c:pt>
                <c:pt idx="633">
                  <c:v>4492</c:v>
                </c:pt>
                <c:pt idx="634">
                  <c:v>11030</c:v>
                </c:pt>
                <c:pt idx="635">
                  <c:v>10528</c:v>
                </c:pt>
                <c:pt idx="636">
                  <c:v>4895</c:v>
                </c:pt>
                <c:pt idx="637">
                  <c:v>5720</c:v>
                </c:pt>
                <c:pt idx="638">
                  <c:v>4288</c:v>
                </c:pt>
                <c:pt idx="639">
                  <c:v>9693</c:v>
                </c:pt>
                <c:pt idx="640">
                  <c:v>12065</c:v>
                </c:pt>
                <c:pt idx="641">
                  <c:v>11758</c:v>
                </c:pt>
                <c:pt idx="642">
                  <c:v>13508</c:v>
                </c:pt>
                <c:pt idx="643">
                  <c:v>6085</c:v>
                </c:pt>
                <c:pt idx="644">
                  <c:v>8828</c:v>
                </c:pt>
                <c:pt idx="645">
                  <c:v>6636</c:v>
                </c:pt>
                <c:pt idx="646">
                  <c:v>1622</c:v>
                </c:pt>
                <c:pt idx="647">
                  <c:v>1512</c:v>
                </c:pt>
                <c:pt idx="648">
                  <c:v>3211</c:v>
                </c:pt>
                <c:pt idx="649">
                  <c:v>3037</c:v>
                </c:pt>
                <c:pt idx="650">
                  <c:v>1456</c:v>
                </c:pt>
                <c:pt idx="651">
                  <c:v>1465</c:v>
                </c:pt>
                <c:pt idx="652">
                  <c:v>1018</c:v>
                </c:pt>
                <c:pt idx="653">
                  <c:v>1070</c:v>
                </c:pt>
                <c:pt idx="654">
                  <c:v>1357</c:v>
                </c:pt>
                <c:pt idx="655">
                  <c:v>2810</c:v>
                </c:pt>
                <c:pt idx="656">
                  <c:v>2829</c:v>
                </c:pt>
                <c:pt idx="657">
                  <c:v>1517</c:v>
                </c:pt>
                <c:pt idx="658">
                  <c:v>1399</c:v>
                </c:pt>
                <c:pt idx="659">
                  <c:v>1067</c:v>
                </c:pt>
                <c:pt idx="660">
                  <c:v>1361</c:v>
                </c:pt>
                <c:pt idx="661">
                  <c:v>1419</c:v>
                </c:pt>
                <c:pt idx="662">
                  <c:v>5042</c:v>
                </c:pt>
                <c:pt idx="663">
                  <c:v>6872</c:v>
                </c:pt>
                <c:pt idx="664">
                  <c:v>3218</c:v>
                </c:pt>
                <c:pt idx="665">
                  <c:v>3347</c:v>
                </c:pt>
                <c:pt idx="666">
                  <c:v>3177</c:v>
                </c:pt>
                <c:pt idx="667">
                  <c:v>4532</c:v>
                </c:pt>
                <c:pt idx="668">
                  <c:v>3231</c:v>
                </c:pt>
                <c:pt idx="669">
                  <c:v>7731</c:v>
                </c:pt>
                <c:pt idx="670">
                  <c:v>11148</c:v>
                </c:pt>
                <c:pt idx="671">
                  <c:v>7459</c:v>
                </c:pt>
                <c:pt idx="672">
                  <c:v>7316</c:v>
                </c:pt>
                <c:pt idx="673">
                  <c:v>5211</c:v>
                </c:pt>
                <c:pt idx="674">
                  <c:v>5731</c:v>
                </c:pt>
                <c:pt idx="675">
                  <c:v>3036</c:v>
                </c:pt>
                <c:pt idx="676">
                  <c:v>5822</c:v>
                </c:pt>
                <c:pt idx="677">
                  <c:v>7987</c:v>
                </c:pt>
                <c:pt idx="678">
                  <c:v>3640</c:v>
                </c:pt>
                <c:pt idx="679">
                  <c:v>2338</c:v>
                </c:pt>
                <c:pt idx="680">
                  <c:v>3744</c:v>
                </c:pt>
                <c:pt idx="681">
                  <c:v>4216</c:v>
                </c:pt>
                <c:pt idx="682">
                  <c:v>4000</c:v>
                </c:pt>
                <c:pt idx="683">
                  <c:v>10204</c:v>
                </c:pt>
                <c:pt idx="684">
                  <c:v>10769</c:v>
                </c:pt>
                <c:pt idx="685">
                  <c:v>4803</c:v>
                </c:pt>
                <c:pt idx="686">
                  <c:v>5042</c:v>
                </c:pt>
                <c:pt idx="687">
                  <c:v>4342</c:v>
                </c:pt>
                <c:pt idx="688">
                  <c:v>4202</c:v>
                </c:pt>
                <c:pt idx="689">
                  <c:v>4151</c:v>
                </c:pt>
                <c:pt idx="690">
                  <c:v>8567</c:v>
                </c:pt>
                <c:pt idx="691">
                  <c:v>8811</c:v>
                </c:pt>
                <c:pt idx="692">
                  <c:v>4345</c:v>
                </c:pt>
                <c:pt idx="693">
                  <c:v>1937</c:v>
                </c:pt>
                <c:pt idx="694">
                  <c:v>3160</c:v>
                </c:pt>
                <c:pt idx="695">
                  <c:v>6924</c:v>
                </c:pt>
                <c:pt idx="696">
                  <c:v>9273</c:v>
                </c:pt>
                <c:pt idx="697">
                  <c:v>11257</c:v>
                </c:pt>
                <c:pt idx="698">
                  <c:v>13019</c:v>
                </c:pt>
                <c:pt idx="699">
                  <c:v>7139</c:v>
                </c:pt>
                <c:pt idx="700">
                  <c:v>7423</c:v>
                </c:pt>
                <c:pt idx="701">
                  <c:v>7474</c:v>
                </c:pt>
                <c:pt idx="702">
                  <c:v>7056</c:v>
                </c:pt>
                <c:pt idx="703">
                  <c:v>5732</c:v>
                </c:pt>
                <c:pt idx="704">
                  <c:v>9038</c:v>
                </c:pt>
                <c:pt idx="705">
                  <c:v>10737</c:v>
                </c:pt>
                <c:pt idx="706">
                  <c:v>5505</c:v>
                </c:pt>
                <c:pt idx="707">
                  <c:v>2198</c:v>
                </c:pt>
                <c:pt idx="708">
                  <c:v>3190</c:v>
                </c:pt>
                <c:pt idx="709">
                  <c:v>3814</c:v>
                </c:pt>
                <c:pt idx="710">
                  <c:v>3610</c:v>
                </c:pt>
                <c:pt idx="711">
                  <c:v>6227</c:v>
                </c:pt>
                <c:pt idx="712">
                  <c:v>9422</c:v>
                </c:pt>
                <c:pt idx="713">
                  <c:v>5014</c:v>
                </c:pt>
                <c:pt idx="714">
                  <c:v>4715</c:v>
                </c:pt>
                <c:pt idx="715">
                  <c:v>6212</c:v>
                </c:pt>
                <c:pt idx="716">
                  <c:v>6585</c:v>
                </c:pt>
                <c:pt idx="717">
                  <c:v>6051</c:v>
                </c:pt>
                <c:pt idx="718">
                  <c:v>7750</c:v>
                </c:pt>
                <c:pt idx="719">
                  <c:v>9490</c:v>
                </c:pt>
                <c:pt idx="720">
                  <c:v>4382</c:v>
                </c:pt>
                <c:pt idx="721">
                  <c:v>8196</c:v>
                </c:pt>
                <c:pt idx="722">
                  <c:v>8863</c:v>
                </c:pt>
                <c:pt idx="723">
                  <c:v>6534</c:v>
                </c:pt>
                <c:pt idx="724">
                  <c:v>9540</c:v>
                </c:pt>
                <c:pt idx="725">
                  <c:v>3256</c:v>
                </c:pt>
                <c:pt idx="726">
                  <c:v>2013</c:v>
                </c:pt>
                <c:pt idx="727">
                  <c:v>1692</c:v>
                </c:pt>
                <c:pt idx="728">
                  <c:v>3234</c:v>
                </c:pt>
                <c:pt idx="729">
                  <c:v>4592</c:v>
                </c:pt>
                <c:pt idx="730">
                  <c:v>5945</c:v>
                </c:pt>
                <c:pt idx="731">
                  <c:v>9266</c:v>
                </c:pt>
                <c:pt idx="732">
                  <c:v>3179</c:v>
                </c:pt>
                <c:pt idx="733">
                  <c:v>7479</c:v>
                </c:pt>
                <c:pt idx="734">
                  <c:v>4694</c:v>
                </c:pt>
                <c:pt idx="735">
                  <c:v>7843</c:v>
                </c:pt>
                <c:pt idx="736">
                  <c:v>6150</c:v>
                </c:pt>
                <c:pt idx="737">
                  <c:v>2401</c:v>
                </c:pt>
                <c:pt idx="738">
                  <c:v>1808</c:v>
                </c:pt>
                <c:pt idx="739">
                  <c:v>2594</c:v>
                </c:pt>
                <c:pt idx="740">
                  <c:v>3274</c:v>
                </c:pt>
                <c:pt idx="741">
                  <c:v>2207</c:v>
                </c:pt>
                <c:pt idx="742">
                  <c:v>2949</c:v>
                </c:pt>
                <c:pt idx="743">
                  <c:v>2417</c:v>
                </c:pt>
                <c:pt idx="744">
                  <c:v>1644</c:v>
                </c:pt>
                <c:pt idx="745">
                  <c:v>1499</c:v>
                </c:pt>
                <c:pt idx="746">
                  <c:v>3648</c:v>
                </c:pt>
                <c:pt idx="747">
                  <c:v>4652</c:v>
                </c:pt>
                <c:pt idx="748">
                  <c:v>2252</c:v>
                </c:pt>
                <c:pt idx="749">
                  <c:v>2357</c:v>
                </c:pt>
                <c:pt idx="750">
                  <c:v>1715</c:v>
                </c:pt>
                <c:pt idx="751">
                  <c:v>4776</c:v>
                </c:pt>
                <c:pt idx="752">
                  <c:v>1628</c:v>
                </c:pt>
                <c:pt idx="753">
                  <c:v>7806</c:v>
                </c:pt>
                <c:pt idx="754">
                  <c:v>9210</c:v>
                </c:pt>
                <c:pt idx="755">
                  <c:v>4351</c:v>
                </c:pt>
                <c:pt idx="756">
                  <c:v>6278</c:v>
                </c:pt>
                <c:pt idx="757">
                  <c:v>5992</c:v>
                </c:pt>
                <c:pt idx="758">
                  <c:v>6265</c:v>
                </c:pt>
                <c:pt idx="759">
                  <c:v>5723</c:v>
                </c:pt>
                <c:pt idx="760">
                  <c:v>11900</c:v>
                </c:pt>
                <c:pt idx="761">
                  <c:v>15345</c:v>
                </c:pt>
                <c:pt idx="762">
                  <c:v>6525</c:v>
                </c:pt>
                <c:pt idx="763">
                  <c:v>10153</c:v>
                </c:pt>
                <c:pt idx="764">
                  <c:v>8116</c:v>
                </c:pt>
                <c:pt idx="765">
                  <c:v>7712</c:v>
                </c:pt>
                <c:pt idx="766">
                  <c:v>5759</c:v>
                </c:pt>
                <c:pt idx="767">
                  <c:v>9501</c:v>
                </c:pt>
                <c:pt idx="768">
                  <c:v>10840</c:v>
                </c:pt>
                <c:pt idx="769">
                  <c:v>5089</c:v>
                </c:pt>
                <c:pt idx="770">
                  <c:v>6087</c:v>
                </c:pt>
                <c:pt idx="771">
                  <c:v>2053</c:v>
                </c:pt>
                <c:pt idx="772">
                  <c:v>1825</c:v>
                </c:pt>
                <c:pt idx="773">
                  <c:v>1525</c:v>
                </c:pt>
                <c:pt idx="774">
                  <c:v>3542</c:v>
                </c:pt>
                <c:pt idx="775">
                  <c:v>4105</c:v>
                </c:pt>
                <c:pt idx="776">
                  <c:v>2094</c:v>
                </c:pt>
                <c:pt idx="777">
                  <c:v>2940</c:v>
                </c:pt>
                <c:pt idx="778">
                  <c:v>1841</c:v>
                </c:pt>
                <c:pt idx="779">
                  <c:v>4529</c:v>
                </c:pt>
                <c:pt idx="780">
                  <c:v>1658</c:v>
                </c:pt>
                <c:pt idx="781">
                  <c:v>3841</c:v>
                </c:pt>
                <c:pt idx="782">
                  <c:v>9260</c:v>
                </c:pt>
                <c:pt idx="783">
                  <c:v>2308</c:v>
                </c:pt>
                <c:pt idx="784">
                  <c:v>2028</c:v>
                </c:pt>
                <c:pt idx="785">
                  <c:v>1301</c:v>
                </c:pt>
                <c:pt idx="786">
                  <c:v>2213</c:v>
                </c:pt>
                <c:pt idx="787">
                  <c:v>4404</c:v>
                </c:pt>
                <c:pt idx="788">
                  <c:v>4935</c:v>
                </c:pt>
                <c:pt idx="789">
                  <c:v>5609</c:v>
                </c:pt>
                <c:pt idx="790">
                  <c:v>3452</c:v>
                </c:pt>
                <c:pt idx="791">
                  <c:v>4270</c:v>
                </c:pt>
                <c:pt idx="792">
                  <c:v>4719</c:v>
                </c:pt>
                <c:pt idx="793">
                  <c:v>4451</c:v>
                </c:pt>
                <c:pt idx="794">
                  <c:v>3364</c:v>
                </c:pt>
                <c:pt idx="795">
                  <c:v>3665</c:v>
                </c:pt>
                <c:pt idx="796">
                  <c:v>3889</c:v>
                </c:pt>
                <c:pt idx="797">
                  <c:v>1882</c:v>
                </c:pt>
                <c:pt idx="798">
                  <c:v>2405</c:v>
                </c:pt>
                <c:pt idx="799">
                  <c:v>1577</c:v>
                </c:pt>
                <c:pt idx="800">
                  <c:v>913</c:v>
                </c:pt>
                <c:pt idx="801">
                  <c:v>892</c:v>
                </c:pt>
                <c:pt idx="802">
                  <c:v>1855</c:v>
                </c:pt>
                <c:pt idx="803">
                  <c:v>1897</c:v>
                </c:pt>
                <c:pt idx="804">
                  <c:v>883</c:v>
                </c:pt>
                <c:pt idx="805">
                  <c:v>1071</c:v>
                </c:pt>
                <c:pt idx="806">
                  <c:v>1320</c:v>
                </c:pt>
                <c:pt idx="807">
                  <c:v>997</c:v>
                </c:pt>
                <c:pt idx="808">
                  <c:v>817</c:v>
                </c:pt>
                <c:pt idx="809">
                  <c:v>1866</c:v>
                </c:pt>
                <c:pt idx="810">
                  <c:v>2211</c:v>
                </c:pt>
                <c:pt idx="811">
                  <c:v>1304</c:v>
                </c:pt>
                <c:pt idx="812">
                  <c:v>1143</c:v>
                </c:pt>
                <c:pt idx="813">
                  <c:v>1573</c:v>
                </c:pt>
                <c:pt idx="814">
                  <c:v>2065</c:v>
                </c:pt>
                <c:pt idx="815">
                  <c:v>6588</c:v>
                </c:pt>
                <c:pt idx="816">
                  <c:v>5652</c:v>
                </c:pt>
                <c:pt idx="817">
                  <c:v>4103</c:v>
                </c:pt>
                <c:pt idx="818">
                  <c:v>1466</c:v>
                </c:pt>
                <c:pt idx="819">
                  <c:v>2162</c:v>
                </c:pt>
                <c:pt idx="820">
                  <c:v>2155</c:v>
                </c:pt>
                <c:pt idx="821">
                  <c:v>1746</c:v>
                </c:pt>
                <c:pt idx="822">
                  <c:v>3554</c:v>
                </c:pt>
                <c:pt idx="823">
                  <c:v>6282</c:v>
                </c:pt>
                <c:pt idx="824">
                  <c:v>5259</c:v>
                </c:pt>
                <c:pt idx="825">
                  <c:v>2446</c:v>
                </c:pt>
                <c:pt idx="826">
                  <c:v>3345</c:v>
                </c:pt>
                <c:pt idx="827">
                  <c:v>2048</c:v>
                </c:pt>
                <c:pt idx="828">
                  <c:v>1303</c:v>
                </c:pt>
                <c:pt idx="829">
                  <c:v>4413</c:v>
                </c:pt>
                <c:pt idx="830">
                  <c:v>7494</c:v>
                </c:pt>
                <c:pt idx="831">
                  <c:v>7738</c:v>
                </c:pt>
                <c:pt idx="832">
                  <c:v>2958</c:v>
                </c:pt>
                <c:pt idx="833">
                  <c:v>3713</c:v>
                </c:pt>
                <c:pt idx="834">
                  <c:v>3504</c:v>
                </c:pt>
                <c:pt idx="835">
                  <c:v>3534</c:v>
                </c:pt>
                <c:pt idx="836">
                  <c:v>4601</c:v>
                </c:pt>
                <c:pt idx="837">
                  <c:v>10045</c:v>
                </c:pt>
                <c:pt idx="838">
                  <c:v>9301</c:v>
                </c:pt>
                <c:pt idx="839">
                  <c:v>4678</c:v>
                </c:pt>
                <c:pt idx="840">
                  <c:v>4294</c:v>
                </c:pt>
                <c:pt idx="841">
                  <c:v>3606</c:v>
                </c:pt>
                <c:pt idx="842">
                  <c:v>4838</c:v>
                </c:pt>
                <c:pt idx="843">
                  <c:v>4914</c:v>
                </c:pt>
                <c:pt idx="844">
                  <c:v>10269</c:v>
                </c:pt>
                <c:pt idx="845">
                  <c:v>12317</c:v>
                </c:pt>
                <c:pt idx="846">
                  <c:v>5453</c:v>
                </c:pt>
                <c:pt idx="847">
                  <c:v>7372</c:v>
                </c:pt>
                <c:pt idx="848">
                  <c:v>8211</c:v>
                </c:pt>
                <c:pt idx="849">
                  <c:v>9182</c:v>
                </c:pt>
                <c:pt idx="850">
                  <c:v>7520</c:v>
                </c:pt>
                <c:pt idx="851">
                  <c:v>13321</c:v>
                </c:pt>
                <c:pt idx="852">
                  <c:v>16276</c:v>
                </c:pt>
                <c:pt idx="853">
                  <c:v>10388</c:v>
                </c:pt>
                <c:pt idx="854">
                  <c:v>8298</c:v>
                </c:pt>
                <c:pt idx="855">
                  <c:v>8717</c:v>
                </c:pt>
                <c:pt idx="856">
                  <c:v>8364</c:v>
                </c:pt>
                <c:pt idx="857">
                  <c:v>6968</c:v>
                </c:pt>
                <c:pt idx="858">
                  <c:v>9973</c:v>
                </c:pt>
                <c:pt idx="859">
                  <c:v>11363</c:v>
                </c:pt>
                <c:pt idx="860">
                  <c:v>4074</c:v>
                </c:pt>
                <c:pt idx="861">
                  <c:v>1579</c:v>
                </c:pt>
                <c:pt idx="862">
                  <c:v>1016</c:v>
                </c:pt>
                <c:pt idx="863">
                  <c:v>832</c:v>
                </c:pt>
                <c:pt idx="864">
                  <c:v>647</c:v>
                </c:pt>
                <c:pt idx="865">
                  <c:v>1898</c:v>
                </c:pt>
                <c:pt idx="866">
                  <c:v>1961</c:v>
                </c:pt>
                <c:pt idx="867">
                  <c:v>1224</c:v>
                </c:pt>
                <c:pt idx="868">
                  <c:v>1019</c:v>
                </c:pt>
                <c:pt idx="869">
                  <c:v>930</c:v>
                </c:pt>
                <c:pt idx="870">
                  <c:v>818</c:v>
                </c:pt>
                <c:pt idx="871">
                  <c:v>937</c:v>
                </c:pt>
                <c:pt idx="872">
                  <c:v>2302</c:v>
                </c:pt>
                <c:pt idx="873">
                  <c:v>2363</c:v>
                </c:pt>
                <c:pt idx="874">
                  <c:v>1466</c:v>
                </c:pt>
                <c:pt idx="875">
                  <c:v>1644</c:v>
                </c:pt>
                <c:pt idx="876">
                  <c:v>3224</c:v>
                </c:pt>
                <c:pt idx="877">
                  <c:v>7392</c:v>
                </c:pt>
                <c:pt idx="878">
                  <c:v>6138</c:v>
                </c:pt>
                <c:pt idx="879">
                  <c:v>10624</c:v>
                </c:pt>
                <c:pt idx="880">
                  <c:v>11590</c:v>
                </c:pt>
                <c:pt idx="881">
                  <c:v>5959</c:v>
                </c:pt>
                <c:pt idx="882">
                  <c:v>5048</c:v>
                </c:pt>
                <c:pt idx="883">
                  <c:v>7542</c:v>
                </c:pt>
                <c:pt idx="884">
                  <c:v>10761</c:v>
                </c:pt>
                <c:pt idx="885">
                  <c:v>8120</c:v>
                </c:pt>
                <c:pt idx="886">
                  <c:v>10896</c:v>
                </c:pt>
                <c:pt idx="887">
                  <c:v>11726</c:v>
                </c:pt>
                <c:pt idx="888">
                  <c:v>6007</c:v>
                </c:pt>
                <c:pt idx="889">
                  <c:v>5185</c:v>
                </c:pt>
                <c:pt idx="890">
                  <c:v>1675</c:v>
                </c:pt>
                <c:pt idx="891">
                  <c:v>4765</c:v>
                </c:pt>
                <c:pt idx="892">
                  <c:v>3953</c:v>
                </c:pt>
                <c:pt idx="893">
                  <c:v>7190</c:v>
                </c:pt>
                <c:pt idx="894">
                  <c:v>8577</c:v>
                </c:pt>
                <c:pt idx="895">
                  <c:v>3943</c:v>
                </c:pt>
                <c:pt idx="896">
                  <c:v>3707</c:v>
                </c:pt>
                <c:pt idx="897">
                  <c:v>3054</c:v>
                </c:pt>
                <c:pt idx="898">
                  <c:v>6541</c:v>
                </c:pt>
                <c:pt idx="899">
                  <c:v>5749</c:v>
                </c:pt>
                <c:pt idx="900">
                  <c:v>9385</c:v>
                </c:pt>
                <c:pt idx="901">
                  <c:v>9012</c:v>
                </c:pt>
                <c:pt idx="902">
                  <c:v>3831</c:v>
                </c:pt>
                <c:pt idx="903">
                  <c:v>4097</c:v>
                </c:pt>
                <c:pt idx="904">
                  <c:v>3509</c:v>
                </c:pt>
                <c:pt idx="905">
                  <c:v>953</c:v>
                </c:pt>
                <c:pt idx="906">
                  <c:v>4305</c:v>
                </c:pt>
                <c:pt idx="907">
                  <c:v>11667</c:v>
                </c:pt>
                <c:pt idx="908">
                  <c:v>13793</c:v>
                </c:pt>
                <c:pt idx="909">
                  <c:v>6641</c:v>
                </c:pt>
                <c:pt idx="910">
                  <c:v>7593</c:v>
                </c:pt>
                <c:pt idx="911">
                  <c:v>6007</c:v>
                </c:pt>
                <c:pt idx="912">
                  <c:v>6345</c:v>
                </c:pt>
                <c:pt idx="913">
                  <c:v>8482</c:v>
                </c:pt>
                <c:pt idx="914">
                  <c:v>14344</c:v>
                </c:pt>
                <c:pt idx="915">
                  <c:v>13609</c:v>
                </c:pt>
                <c:pt idx="916">
                  <c:v>7259</c:v>
                </c:pt>
                <c:pt idx="917">
                  <c:v>8431</c:v>
                </c:pt>
                <c:pt idx="918">
                  <c:v>6577</c:v>
                </c:pt>
                <c:pt idx="919">
                  <c:v>6098</c:v>
                </c:pt>
                <c:pt idx="920">
                  <c:v>1654</c:v>
                </c:pt>
                <c:pt idx="921">
                  <c:v>2073</c:v>
                </c:pt>
                <c:pt idx="922">
                  <c:v>1871</c:v>
                </c:pt>
                <c:pt idx="923">
                  <c:v>946</c:v>
                </c:pt>
                <c:pt idx="924">
                  <c:v>1090</c:v>
                </c:pt>
                <c:pt idx="925">
                  <c:v>876</c:v>
                </c:pt>
                <c:pt idx="926">
                  <c:v>790</c:v>
                </c:pt>
                <c:pt idx="927">
                  <c:v>723</c:v>
                </c:pt>
                <c:pt idx="928">
                  <c:v>1910</c:v>
                </c:pt>
                <c:pt idx="929">
                  <c:v>2266</c:v>
                </c:pt>
                <c:pt idx="930">
                  <c:v>1078</c:v>
                </c:pt>
                <c:pt idx="931">
                  <c:v>1227</c:v>
                </c:pt>
                <c:pt idx="932">
                  <c:v>900</c:v>
                </c:pt>
                <c:pt idx="933">
                  <c:v>1016</c:v>
                </c:pt>
                <c:pt idx="934">
                  <c:v>836</c:v>
                </c:pt>
                <c:pt idx="935">
                  <c:v>1454</c:v>
                </c:pt>
                <c:pt idx="936">
                  <c:v>1835</c:v>
                </c:pt>
                <c:pt idx="937">
                  <c:v>972</c:v>
                </c:pt>
                <c:pt idx="938">
                  <c:v>1024</c:v>
                </c:pt>
                <c:pt idx="939">
                  <c:v>1044</c:v>
                </c:pt>
                <c:pt idx="940">
                  <c:v>1611</c:v>
                </c:pt>
                <c:pt idx="941">
                  <c:v>1234</c:v>
                </c:pt>
                <c:pt idx="942">
                  <c:v>2223</c:v>
                </c:pt>
                <c:pt idx="943">
                  <c:v>2267</c:v>
                </c:pt>
                <c:pt idx="944">
                  <c:v>1415</c:v>
                </c:pt>
                <c:pt idx="945">
                  <c:v>1548</c:v>
                </c:pt>
                <c:pt idx="946">
                  <c:v>1679</c:v>
                </c:pt>
                <c:pt idx="947">
                  <c:v>1152</c:v>
                </c:pt>
                <c:pt idx="948">
                  <c:v>1101</c:v>
                </c:pt>
                <c:pt idx="949">
                  <c:v>1746</c:v>
                </c:pt>
                <c:pt idx="950">
                  <c:v>1700</c:v>
                </c:pt>
                <c:pt idx="951">
                  <c:v>715</c:v>
                </c:pt>
                <c:pt idx="952">
                  <c:v>897</c:v>
                </c:pt>
                <c:pt idx="953">
                  <c:v>733</c:v>
                </c:pt>
                <c:pt idx="954">
                  <c:v>4282</c:v>
                </c:pt>
                <c:pt idx="955">
                  <c:v>2867</c:v>
                </c:pt>
                <c:pt idx="956">
                  <c:v>6082</c:v>
                </c:pt>
                <c:pt idx="957">
                  <c:v>7771</c:v>
                </c:pt>
                <c:pt idx="958">
                  <c:v>3576</c:v>
                </c:pt>
                <c:pt idx="959">
                  <c:v>4649</c:v>
                </c:pt>
                <c:pt idx="960">
                  <c:v>3302</c:v>
                </c:pt>
                <c:pt idx="961">
                  <c:v>3536</c:v>
                </c:pt>
                <c:pt idx="962">
                  <c:v>3236</c:v>
                </c:pt>
                <c:pt idx="963">
                  <c:v>6646</c:v>
                </c:pt>
                <c:pt idx="964">
                  <c:v>7220</c:v>
                </c:pt>
                <c:pt idx="965">
                  <c:v>3958</c:v>
                </c:pt>
                <c:pt idx="966">
                  <c:v>3672</c:v>
                </c:pt>
                <c:pt idx="967">
                  <c:v>1035</c:v>
                </c:pt>
                <c:pt idx="968">
                  <c:v>3549</c:v>
                </c:pt>
                <c:pt idx="969">
                  <c:v>6647</c:v>
                </c:pt>
                <c:pt idx="970">
                  <c:v>9908</c:v>
                </c:pt>
                <c:pt idx="971">
                  <c:v>10393</c:v>
                </c:pt>
                <c:pt idx="972">
                  <c:v>4507</c:v>
                </c:pt>
                <c:pt idx="973">
                  <c:v>4672</c:v>
                </c:pt>
                <c:pt idx="974">
                  <c:v>3924</c:v>
                </c:pt>
                <c:pt idx="975">
                  <c:v>6918</c:v>
                </c:pt>
                <c:pt idx="976">
                  <c:v>9183</c:v>
                </c:pt>
                <c:pt idx="977">
                  <c:v>10830</c:v>
                </c:pt>
                <c:pt idx="978">
                  <c:v>10800</c:v>
                </c:pt>
                <c:pt idx="979">
                  <c:v>6119</c:v>
                </c:pt>
                <c:pt idx="980">
                  <c:v>6685</c:v>
                </c:pt>
                <c:pt idx="981">
                  <c:v>4519</c:v>
                </c:pt>
                <c:pt idx="982">
                  <c:v>1206</c:v>
                </c:pt>
                <c:pt idx="983">
                  <c:v>1029</c:v>
                </c:pt>
                <c:pt idx="984">
                  <c:v>1917</c:v>
                </c:pt>
                <c:pt idx="985">
                  <c:v>2108</c:v>
                </c:pt>
                <c:pt idx="986">
                  <c:v>1211</c:v>
                </c:pt>
                <c:pt idx="987">
                  <c:v>1291</c:v>
                </c:pt>
                <c:pt idx="988">
                  <c:v>755</c:v>
                </c:pt>
                <c:pt idx="989">
                  <c:v>508</c:v>
                </c:pt>
                <c:pt idx="990">
                  <c:v>1010</c:v>
                </c:pt>
                <c:pt idx="991">
                  <c:v>1733</c:v>
                </c:pt>
                <c:pt idx="992">
                  <c:v>2482</c:v>
                </c:pt>
                <c:pt idx="993">
                  <c:v>1235</c:v>
                </c:pt>
                <c:pt idx="994">
                  <c:v>1155</c:v>
                </c:pt>
                <c:pt idx="995">
                  <c:v>940</c:v>
                </c:pt>
                <c:pt idx="996">
                  <c:v>1241</c:v>
                </c:pt>
                <c:pt idx="997">
                  <c:v>1039</c:v>
                </c:pt>
                <c:pt idx="998">
                  <c:v>3657</c:v>
                </c:pt>
                <c:pt idx="999">
                  <c:v>3758</c:v>
                </c:pt>
                <c:pt idx="1000">
                  <c:v>1797</c:v>
                </c:pt>
                <c:pt idx="1001">
                  <c:v>1671</c:v>
                </c:pt>
                <c:pt idx="1002">
                  <c:v>1462</c:v>
                </c:pt>
                <c:pt idx="1003">
                  <c:v>1581</c:v>
                </c:pt>
                <c:pt idx="1004">
                  <c:v>1534</c:v>
                </c:pt>
                <c:pt idx="1005">
                  <c:v>4216</c:v>
                </c:pt>
                <c:pt idx="1006">
                  <c:v>5632</c:v>
                </c:pt>
                <c:pt idx="1007">
                  <c:v>3173</c:v>
                </c:pt>
                <c:pt idx="1008">
                  <c:v>3540</c:v>
                </c:pt>
                <c:pt idx="1009">
                  <c:v>2397</c:v>
                </c:pt>
                <c:pt idx="1010">
                  <c:v>1955</c:v>
                </c:pt>
                <c:pt idx="1011">
                  <c:v>1740</c:v>
                </c:pt>
                <c:pt idx="1012">
                  <c:v>2176</c:v>
                </c:pt>
                <c:pt idx="1013">
                  <c:v>2283</c:v>
                </c:pt>
                <c:pt idx="1014">
                  <c:v>1284</c:v>
                </c:pt>
                <c:pt idx="1015">
                  <c:v>1263</c:v>
                </c:pt>
                <c:pt idx="1016">
                  <c:v>896</c:v>
                </c:pt>
                <c:pt idx="1017">
                  <c:v>768</c:v>
                </c:pt>
                <c:pt idx="1018">
                  <c:v>521</c:v>
                </c:pt>
                <c:pt idx="1019">
                  <c:v>1618</c:v>
                </c:pt>
                <c:pt idx="1020">
                  <c:v>2147</c:v>
                </c:pt>
                <c:pt idx="1021">
                  <c:v>1335</c:v>
                </c:pt>
                <c:pt idx="1022">
                  <c:v>1332</c:v>
                </c:pt>
                <c:pt idx="1023">
                  <c:v>954</c:v>
                </c:pt>
                <c:pt idx="1024">
                  <c:v>877</c:v>
                </c:pt>
                <c:pt idx="1025">
                  <c:v>906</c:v>
                </c:pt>
                <c:pt idx="1026">
                  <c:v>2249</c:v>
                </c:pt>
                <c:pt idx="1027">
                  <c:v>2472</c:v>
                </c:pt>
                <c:pt idx="1028">
                  <c:v>1280</c:v>
                </c:pt>
                <c:pt idx="1029">
                  <c:v>940</c:v>
                </c:pt>
                <c:pt idx="1030">
                  <c:v>1650</c:v>
                </c:pt>
                <c:pt idx="1031">
                  <c:v>1467</c:v>
                </c:pt>
                <c:pt idx="1032">
                  <c:v>1257</c:v>
                </c:pt>
                <c:pt idx="1033">
                  <c:v>2405</c:v>
                </c:pt>
                <c:pt idx="1034">
                  <c:v>2929</c:v>
                </c:pt>
                <c:pt idx="1035">
                  <c:v>1582</c:v>
                </c:pt>
                <c:pt idx="1036">
                  <c:v>1639</c:v>
                </c:pt>
                <c:pt idx="1037">
                  <c:v>2971</c:v>
                </c:pt>
                <c:pt idx="1038">
                  <c:v>2284</c:v>
                </c:pt>
                <c:pt idx="1039">
                  <c:v>2266</c:v>
                </c:pt>
                <c:pt idx="1040">
                  <c:v>3938</c:v>
                </c:pt>
                <c:pt idx="1041">
                  <c:v>4720</c:v>
                </c:pt>
                <c:pt idx="1042">
                  <c:v>2537</c:v>
                </c:pt>
                <c:pt idx="1043">
                  <c:v>2621</c:v>
                </c:pt>
                <c:pt idx="1044">
                  <c:v>2341</c:v>
                </c:pt>
                <c:pt idx="1045">
                  <c:v>1901</c:v>
                </c:pt>
                <c:pt idx="1046">
                  <c:v>1666</c:v>
                </c:pt>
                <c:pt idx="1047">
                  <c:v>3748</c:v>
                </c:pt>
                <c:pt idx="1048">
                  <c:v>3843</c:v>
                </c:pt>
                <c:pt idx="1049">
                  <c:v>2281</c:v>
                </c:pt>
                <c:pt idx="1050">
                  <c:v>2046</c:v>
                </c:pt>
                <c:pt idx="1051">
                  <c:v>2181</c:v>
                </c:pt>
                <c:pt idx="1052">
                  <c:v>1763</c:v>
                </c:pt>
              </c:numCache>
            </c:numRef>
          </c:yVal>
          <c:smooth val="0"/>
          <c:extLst>
            <c:ext xmlns:c16="http://schemas.microsoft.com/office/drawing/2014/chart" uri="{C3380CC4-5D6E-409C-BE32-E72D297353CC}">
              <c16:uniqueId val="{00000000-AA19-44A5-97EE-FE3E1EF3114E}"/>
            </c:ext>
          </c:extLst>
        </c:ser>
        <c:dLbls>
          <c:showLegendKey val="0"/>
          <c:showVal val="0"/>
          <c:showCatName val="0"/>
          <c:showSerName val="0"/>
          <c:showPercent val="0"/>
          <c:showBubbleSize val="0"/>
        </c:dLbls>
        <c:axId val="2094734554"/>
        <c:axId val="2094734552"/>
      </c:scatterChart>
      <c:valAx>
        <c:axId val="2094734554"/>
        <c:scaling>
          <c:orientation val="minMax"/>
          <c:max val="44"/>
          <c:min val="30"/>
        </c:scaling>
        <c:delete val="0"/>
        <c:axPos val="b"/>
        <c:title>
          <c:tx>
            <c:rich>
              <a:bodyPr/>
              <a:lstStyle/>
              <a:p>
                <a:pPr>
                  <a:defRPr sz="1200" b="0" i="0" u="none" strike="noStrike">
                    <a:solidFill>
                      <a:schemeClr val="accent6"/>
                    </a:solidFill>
                    <a:latin typeface="+mn-lt"/>
                  </a:defRPr>
                </a:pPr>
                <a:r>
                  <a:rPr sz="1200" b="0" i="0" u="none" strike="noStrike">
                    <a:solidFill>
                      <a:schemeClr val="accent6"/>
                    </a:solidFill>
                    <a:latin typeface="+mn-lt"/>
                  </a:rPr>
                  <a:t>Price per unit (R)</a:t>
                </a:r>
              </a:p>
            </c:rich>
          </c:tx>
          <c:overlay val="0"/>
        </c:title>
        <c:numFmt formatCode="General" sourceLinked="1"/>
        <c:majorTickMark val="none"/>
        <c:minorTickMark val="none"/>
        <c:tickLblPos val="nextTo"/>
        <c:spPr>
          <a:ln w="12700" cap="flat">
            <a:noFill/>
            <a:prstDash val="solid"/>
            <a:round/>
          </a:ln>
        </c:spPr>
        <c:txPr>
          <a:bodyPr/>
          <a:lstStyle/>
          <a:p>
            <a:pPr>
              <a:defRPr sz="1200" b="0" i="0" u="none" strike="noStrike">
                <a:solidFill>
                  <a:schemeClr val="accent6"/>
                </a:solidFill>
                <a:latin typeface="+mn-lt"/>
              </a:defRPr>
            </a:pPr>
            <a:endParaRPr lang="en-US"/>
          </a:p>
        </c:txPr>
        <c:crossAx val="2094734552"/>
        <c:crosses val="autoZero"/>
        <c:crossBetween val="midCat"/>
        <c:majorUnit val="2"/>
      </c:valAx>
      <c:valAx>
        <c:axId val="2094734552"/>
        <c:scaling>
          <c:orientation val="minMax"/>
          <c:min val="0"/>
        </c:scaling>
        <c:delete val="0"/>
        <c:axPos val="l"/>
        <c:majorGridlines>
          <c:spPr>
            <a:ln w="9525" cap="flat">
              <a:solidFill>
                <a:srgbClr val="E3E6EA"/>
              </a:solidFill>
              <a:prstDash val="solid"/>
              <a:round/>
            </a:ln>
          </c:spPr>
        </c:majorGridlines>
        <c:title>
          <c:tx>
            <c:rich>
              <a:bodyPr/>
              <a:lstStyle/>
              <a:p>
                <a:pPr>
                  <a:defRPr sz="1200" b="0" i="0" u="none" strike="noStrike">
                    <a:solidFill>
                      <a:schemeClr val="accent6"/>
                    </a:solidFill>
                    <a:latin typeface="+mn-lt"/>
                  </a:defRPr>
                </a:pPr>
                <a:r>
                  <a:rPr sz="1200" b="0" i="0" u="none" strike="noStrike">
                    <a:solidFill>
                      <a:schemeClr val="accent6"/>
                    </a:solidFill>
                    <a:latin typeface="+mn-lt"/>
                  </a:rPr>
                  <a:t>Units sold per day</a:t>
                </a:r>
              </a:p>
            </c:rich>
          </c:tx>
          <c:overlay val="0"/>
        </c:title>
        <c:numFmt formatCode="#,##0" sourceLinked="0"/>
        <c:majorTickMark val="none"/>
        <c:minorTickMark val="none"/>
        <c:tickLblPos val="nextTo"/>
        <c:spPr>
          <a:ln w="12700" cap="flat">
            <a:noFill/>
            <a:prstDash val="solid"/>
            <a:round/>
          </a:ln>
        </c:spPr>
        <c:txPr>
          <a:bodyPr/>
          <a:lstStyle/>
          <a:p>
            <a:pPr>
              <a:defRPr sz="1200" b="0" i="0" u="none" strike="noStrike">
                <a:solidFill>
                  <a:schemeClr val="accent6"/>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1"/>
                </a:solidFill>
                <a:latin typeface="+mn-lt"/>
              </a:defRPr>
            </a:pPr>
            <a:r>
              <a:rPr sz="1400" b="0" i="0" u="none" strike="noStrike">
                <a:solidFill>
                  <a:schemeClr val="tx1"/>
                </a:solidFill>
                <a:latin typeface="+mn-lt"/>
              </a:rPr>
              <a:t>Average daily sales</a:t>
            </a:r>
          </a:p>
        </c:rich>
      </c:tx>
      <c:overlay val="0"/>
    </c:title>
    <c:autoTitleDeleted val="0"/>
    <c:plotArea>
      <c:layout/>
      <c:barChart>
        <c:barDir val="col"/>
        <c:grouping val="clustered"/>
        <c:varyColors val="0"/>
        <c:ser>
          <c:idx val="0"/>
          <c:order val="0"/>
          <c:tx>
            <c:strRef>
              <c:f>Sheet1!$B$1</c:f>
              <c:strCache>
                <c:ptCount val="1"/>
                <c:pt idx="0">
                  <c:v>Average daily sales</c:v>
                </c:pt>
              </c:strCache>
            </c:strRef>
          </c:tx>
          <c:spPr>
            <a:solidFill>
              <a:srgbClr val="2A78D6"/>
            </a:solidFill>
            <a:effectLst/>
          </c:spPr>
          <c:invertIfNegative val="0"/>
          <c:dPt>
            <c:idx val="0"/>
            <c:invertIfNegative val="0"/>
            <c:bubble3D val="0"/>
            <c:extLst>
              <c:ext xmlns:c16="http://schemas.microsoft.com/office/drawing/2014/chart" uri="{C3380CC4-5D6E-409C-BE32-E72D297353CC}">
                <c16:uniqueId val="{00000001-5F31-42F8-A6C8-B98887EE212C}"/>
              </c:ext>
            </c:extLst>
          </c:dPt>
          <c:dPt>
            <c:idx val="1"/>
            <c:invertIfNegative val="0"/>
            <c:bubble3D val="0"/>
            <c:extLst>
              <c:ext xmlns:c16="http://schemas.microsoft.com/office/drawing/2014/chart" uri="{C3380CC4-5D6E-409C-BE32-E72D297353CC}">
                <c16:uniqueId val="{00000003-5F31-42F8-A6C8-B98887EE212C}"/>
              </c:ext>
            </c:extLst>
          </c:dPt>
          <c:dPt>
            <c:idx val="2"/>
            <c:invertIfNegative val="0"/>
            <c:bubble3D val="0"/>
            <c:spPr>
              <a:solidFill>
                <a:srgbClr val="9EC5F4"/>
              </a:solidFill>
              <a:effectLst/>
            </c:spPr>
            <c:extLst>
              <c:ext xmlns:c16="http://schemas.microsoft.com/office/drawing/2014/chart" uri="{C3380CC4-5D6E-409C-BE32-E72D297353CC}">
                <c16:uniqueId val="{00000005-5F31-42F8-A6C8-B98887EE212C}"/>
              </c:ext>
            </c:extLst>
          </c:dPt>
          <c:dLbls>
            <c:numFmt formatCode="&quot;R&quot;#,##0,&quot;K&quot;" sourceLinked="0"/>
            <c:spPr>
              <a:noFill/>
              <a:ln>
                <a:noFill/>
              </a:ln>
              <a:effectLst/>
            </c:spPr>
            <c:txPr>
              <a:bodyPr/>
              <a:lstStyle/>
              <a:p>
                <a:pPr>
                  <a:defRPr sz="1600" b="1"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2014</c:v>
                </c:pt>
                <c:pt idx="1">
                  <c:v>2015</c:v>
                </c:pt>
                <c:pt idx="2">
                  <c:v>2016 (to 16 Nov)</c:v>
                </c:pt>
              </c:strCache>
            </c:strRef>
          </c:cat>
          <c:val>
            <c:numRef>
              <c:f>Sheet1!$B$2:$B$4</c:f>
              <c:numCache>
                <c:formatCode>General</c:formatCode>
                <c:ptCount val="3"/>
                <c:pt idx="0">
                  <c:v>206616</c:v>
                </c:pt>
                <c:pt idx="1">
                  <c:v>175391</c:v>
                </c:pt>
                <c:pt idx="2">
                  <c:v>146271</c:v>
                </c:pt>
              </c:numCache>
            </c:numRef>
          </c:val>
          <c:extLst>
            <c:ext xmlns:c16="http://schemas.microsoft.com/office/drawing/2014/chart" uri="{C3380CC4-5D6E-409C-BE32-E72D297353CC}">
              <c16:uniqueId val="{00000006-5F31-42F8-A6C8-B98887EE212C}"/>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max val="245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2137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case: one product sold at a large retail store, with daily trading data from 30 December 2013 to 16 November 2016.
Say what you will cover: the six metrics the brief asked for, the promotion and price elasticity analysis, extra insights from the data, and recommendations. The three numbers on the right are the headline: strong sales and volume, but a gross loss.
Timing: about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answer. The product sells strongly: R186.9M of sales on 5,279,872 units. But cost of sales was R194.0M, so the product made a gross loss of R7.1M, a margin of −3.8%.
607 of the 1,053 trading days were loss-making. Demand is very sensitive to price: a regression across all days gives an elasticity of about 5.8. Promotions raise volume a lot but, because the price is already close to or below cost, they deepen the loss.
The rest of the presentation shows how I got to these numbers and what I recommend. Timing: about 1 minute.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process I followed, because the brief says the process is assessed as well as the answers.
1. Ingest: the data sits in a Databricks table; I loaded it into pandas.
2. Clean: no missing values or duplicates; converted Date to a datetime and Sales and Cost of Sales to numbers.
3. Engineer: price per unit, gross profit and gross profit %, plus Year, Month and Day of Week columns.
4. Analyse: worked through the six questions in the brief.
5. Visualise: monthly, weekday and price charts, a correlation check and a KPI table.
Point out the definitions at the bottom. One useful detail: the daily gross profit % (question 3) and the gross profit % per unit (question 4) are mathematically the same number, because the units cancel out: (Sales - Cost) / Sales equals ((Sales - Cost) / Units) / (Sales / Units). That is why I also report gross profit per unit in rand.
Tools: Python (pandas, NumPy, matplotlib, seaborn) in a Databricks notebook.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four columns and 1,053 rows, and no missing values or duplicates, so it was ready to use.
The important caveat is the coverage. 2013 contains only two days (30 and 31 December), 2014 and 2015 are complete, and 2016 ends on 16 November (321 days). So I only compare 2014 with 2015 on totals, and I use averages per trading day when comparing months and 2016.
Note that the rows are daily totals for the store, not individual transactions, so I call them trading days.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figures: total sales R186,909,828, cost of sales R194,026,109, gross profit −R7,116,281, 5,279,872 units, 1,053 trading days.
The gross margin of −3.8% is total gross profit divided by total sales. My notebook also shows an average gross profit % of −0.87%; that figure is the simple average of the daily percentages, so every day counts equally. The −3.8% figure weights each day by its sales, so it is the better measure of the overall margin. If asked, explain that both are negative and tell the same story.
The highest sales day was 1 Mar 2014 (R846,678) and the lowest was 14 Sept 2016 (R20,495).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asks for the daily % gross profit: (Sales - Cost of sales) / Sales. Question 4 asks for the same per unit. They give identical percentages because the units cancel, so I also show gross profit per unit in rand: −R1.35 on average (a weighted average selling price of R35.40 against an average cost of R36.75).
The histogram shows how many days fall in each margin band. 607 days (57.6%) made a loss and 446 (42.4%) made a profit, so the product was sold below cost on more than half of trading days.
An extra insight: loss days average 6,894 units and a price of R35.53, while profit days average only 2,455 units at R39.17. The loss-making days are the high-volume, lower-price days.
Possible reasons for the losses are promotions, high procurement costs or pricing strategy.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5a asks for the price elasticity of demand in three promotion periods. I identified promotions as runs of days where the price per unit sat well below the usual price: 28 Aug to 8 Sep 2014, 22 Feb to 8 Mar 2014 and 5 to 19 Jun 2014.
Price elasticity of demand = % change in quantity / % change in price. I compared each promotion with regular days (all days outside the three promotions): an average price of R37.30 and 4,764 units a day.
Results: Promotion 1 −11.5, Promotion 2 −10.4, Promotion 3 −4.4. Anything beyond −1 is elastic: volume rises by more than the price falls.
Be upfront about the limits if asked: regular days are an average across the whole period, and prices vary by season. Promotions 2 and 3 fall in times when prices were already lower than the overall average, so against the 14 days either side the price drops are only about 3% to 4% and the elasticities are different in size (roughly −2 to −29) but still elastic in every case. The regression across all days (−5.8) is a useful middle estimate.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5b asks whether the product performs better or worse on promotion.
On volume and sales it performs better: average daily sales were 1.4x to 2.6x those of regular days, driven by 1.6x to 3.0x more units. Customers clearly respond to lower prices.
On profit it performs worse. Because the product is already sold close to or below cost, every extra unit adds to the loss. None of the 42 promotion days made a gross profit. The deepest discount, Promotion 1 (price down 17.6%), lost R50.3K a day, against R6.1K on regular days. Promotions 2 and 3 had smaller discounts and smaller extra losses.
My opinion: promotions work as a way to build volume, and moderate discounts are better than deep ones, but they only make sense once the selling price covers the unit cost.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show average sales per trading day rather than monthly totals. Months do not all have the same number of days in the data: November has 76 days and December only 64, against 85 to 93 for the other months. Totals would make those two months look weaker than they are. (December actually averages R203K a day, which is above the overall average of R178K.)
May is the strongest month and July the weakest. In my notebook the total-sales ranking also had May first; the per-day view confirms May and shows July as the clear low point.
The right-hand chart shows average price per unit by month: it dips in the months when sales are highest (June, August) and peaks in October and November. This supports the price-volume story on the next slides.
Recommendation: study what made May work (pricing, marketing, seasonal demand) and test similar actions in July, October and January, provided the margin stays positive.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uses total gross profit divided by total sales for each month, so busy days count for more than quiet days.
Every month was loss-making overall. July (−1.4%) and October (−1.8%) lost the least, matching my notebook's finding that they were the strongest months for profitability. September (−5.5%) was the worst, with May, August and December close behind.
One thing to be ready for: in my notebook's monthly chart I averaged the daily margin percentages, which showed July and October slightly positive. Those averages count a quiet, high-priced day the same as a huge, low-priced day. Weighted by sales, as here, both months are still small losses. Also note that May, the best sales month, lost −R1.08M, the largest monthly loss in rand, because the high volume comes at low prices.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Saturday is the strongest day (R279K on average) and Friday is close behind (R245K). Together they make up about 42% of sales.
Correction to my notebook text: I described Sunday as the lowest day. The numbers show Tuesday (R137K) is marginally lower than Sunday (R138K), so the accurate statement is that Sunday to Thursday are all similar and low.
Implication: plan stock, staffing and any promotions around Friday and Saturday, and treat the rest of the week as the opportunity for demand-building offers, but only where the unit margin stays positive.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trading day. Higher prices go with fewer units: the correlation between price and units sold is -0.62. Sales and cost of sales are almost perfectly correlated with units (about 0.99), which tells us volume drives both revenue and cost.
The table groups days by price band. On days priced up to R33 the product sold 9,893 units a day; above R40 only 2,061. Interestingly, the only band with a positive gross margin is above R40 (+5.7%). Every other band loses money. So the business is trading margin for volume, and the volume it gains is not profitable.
Be careful with wording: correlation is not proof of cause. Prices and costs also move together over time, so I treat this as a strong pattern rather than a proven effect.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extra insight beyond the six questions. Using average sales per trading day, so partial years are comparable: R207K a day in 2014, R175K in 2015 and R146K in 2016 so far.
Prices rose from an average of R34.57 in 2014 to R38.33 in 2015, while units per day fell from 6,176 to 4,699. Total sales were R75.4M in 2014 and R64.0M in 2015. For 2016, sales to 16 November (R47.0M) are 12.9% lower than the same dates in 2015 (R53.9M).
The gross margin was −6.1% in 2015 and improved to −2.0% in 2016 as prices went up, but it is still negative. Consistent with the elasticity result: higher prices cost volume, and this data cannot tell us whether competitors, demand or the price rise itself is the main cause. 2013 is left out because it has only two days.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recommendations follow directly from the findings.
1. The biggest issue is the cost-price gap: the weighted average cost per unit is R36.75 against a weighted average selling price of R35.40. Review both sides of that gap.
2. Promotions work for volume but lose money while price is below cost, so use them selectively and keep discounts moderate.
3. The only profitable price band is above R40, and it sells far fewer units. The business should test price points in between to find the best trade-off.
4. Use the calendar patterns: Friday and Saturday, and April to June, are strong; July, October and January are weak.
5. Monitor price, volume and margin daily so loss-making days are caught early.
Timing: about 1.5 minutes.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four messages: demand is strong and very price-sensitive; the product is sold below cost on average; promotions grow volume but not profit; the levers are price, cost and timing.
Limitations to mention honestly: this is one product in a simulated dataset, with no competitor, marketing or stock information. 2013 and 2016 are partial years, and the promotion periods were identified from price patterns rather than from a promotions calendar.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Primrose Mukwesha  |  Sales Case Study</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6309360" cy="1371600"/>
          </a:xfrm>
          <a:prstGeom prst="rect">
            <a:avLst/>
          </a:prstGeom>
          <a:noFill/>
          <a:ln/>
        </p:spPr>
        <p:txBody>
          <a:bodyPr wrap="square" rtlCol="0"/>
          <a:lstStyle>
            <a:lvl1pPr marL="0" indent="0" algn="l">
              <a:buNone/>
              <a:defRPr lang="en-US" sz="5600" b="1" dirty="0">
                <a:solidFill>
                  <a:schemeClr val="bg1"/>
                </a:solidFill>
              </a:defRPr>
            </a:lvl1pPr>
          </a:lstStyle>
          <a:p>
            <a:pPr marL="0" indent="0" algn="l">
              <a:buNone/>
            </a:pPr>
            <a:endParaRPr lang="en-US" sz="5600" dirty="0"/>
          </a:p>
        </p:txBody>
      </p:sp>
      <p:sp>
        <p:nvSpPr>
          <p:cNvPr id="3" name="Text 0"/>
          <p:cNvSpPr>
            <a:spLocks noGrp="1"/>
          </p:cNvSpPr>
          <p:nvPr>
            <p:ph type="body" idx="101" hasCustomPrompt="1"/>
          </p:nvPr>
        </p:nvSpPr>
        <p:spPr>
          <a:xfrm>
            <a:off x="731520" y="3337560"/>
            <a:ext cx="6035040" cy="1005840"/>
          </a:xfrm>
          <a:prstGeom prst="rect">
            <a:avLst/>
          </a:prstGeom>
          <a:noFill/>
          <a:ln/>
        </p:spPr>
        <p:txBody>
          <a:bodyPr wrap="square" rtlCol="0"/>
          <a:lstStyle>
            <a:lvl1pPr marL="0" indent="0" algn="l">
              <a:buNone/>
              <a:defRPr lang="en-US" sz="2200" dirty="0">
                <a:solidFill>
                  <a:schemeClr val="accent4"/>
                </a:solidFill>
              </a:defRPr>
            </a:lvl1pPr>
          </a:lstStyle>
          <a:p>
            <a:pPr marL="0" indent="0" algn="l">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4"/>
                </a:solidFill>
              </a:rPr>
              <a:t>Primrose Mukwesha  |  Sales Case Study</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EC5F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1371600"/>
            <a:ext cx="5943600" cy="365760"/>
          </a:xfrm>
          <a:prstGeom prst="rect">
            <a:avLst/>
          </a:prstGeom>
          <a:noFill/>
          <a:ln/>
        </p:spPr>
        <p:txBody>
          <a:bodyPr wrap="square" lIns="0" tIns="0" rIns="0" bIns="0" rtlCol="0" anchor="t"/>
          <a:lstStyle/>
          <a:p>
            <a:pPr marL="0" indent="0">
              <a:buNone/>
            </a:pPr>
            <a:r>
              <a:rPr lang="en-US" sz="1400" b="1" kern="0" spc="300" dirty="0">
                <a:solidFill>
                  <a:schemeClr val="accent4"/>
                </a:solidFill>
              </a:rPr>
              <a:t>DATA ANALYST CASE STUDY</a:t>
            </a:r>
            <a:endParaRPr lang="en-US" sz="1400" dirty="0"/>
          </a:p>
        </p:txBody>
      </p:sp>
      <p:sp>
        <p:nvSpPr>
          <p:cNvPr id="3" name="Text 0"/>
          <p:cNvSpPr>
            <a:spLocks noGrp="1"/>
          </p:cNvSpPr>
          <p:nvPr>
            <p:ph type="title" idx="100" hasCustomPrompt="1"/>
          </p:nvPr>
        </p:nvSpPr>
        <p:spPr>
          <a:xfrm>
            <a:off x="731520" y="1828800"/>
            <a:ext cx="6309360" cy="1371600"/>
          </a:xfrm>
          <a:prstGeom prst="rect">
            <a:avLst/>
          </a:prstGeom>
          <a:noFill/>
          <a:ln/>
        </p:spPr>
        <p:txBody>
          <a:bodyPr wrap="square" lIns="0" tIns="0" rIns="0" bIns="0" rtlCol="0" anchor="b"/>
          <a:lstStyle/>
          <a:p>
            <a:pPr marL="0" indent="0" algn="l">
              <a:buNone/>
            </a:pPr>
            <a:r>
              <a:rPr lang="en-US" sz="5600" b="1" dirty="0">
                <a:solidFill>
                  <a:schemeClr val="bg1"/>
                </a:solidFill>
              </a:rPr>
              <a:t>Sales Case Study</a:t>
            </a:r>
            <a:endParaRPr lang="en-US" sz="5600" dirty="0"/>
          </a:p>
        </p:txBody>
      </p:sp>
      <p:sp>
        <p:nvSpPr>
          <p:cNvPr id="4" name="Text 0"/>
          <p:cNvSpPr>
            <a:spLocks noGrp="1"/>
          </p:cNvSpPr>
          <p:nvPr>
            <p:ph type="body" idx="101" hasCustomPrompt="1"/>
          </p:nvPr>
        </p:nvSpPr>
        <p:spPr>
          <a:xfrm>
            <a:off x="731520" y="3337560"/>
            <a:ext cx="6035040" cy="1005840"/>
          </a:xfrm>
          <a:prstGeom prst="rect">
            <a:avLst/>
          </a:prstGeom>
          <a:noFill/>
          <a:ln/>
        </p:spPr>
        <p:txBody>
          <a:bodyPr wrap="square" lIns="0" tIns="0" rIns="0" bIns="0" rtlCol="0" anchor="t"/>
          <a:lstStyle/>
          <a:p>
            <a:pPr marL="0" indent="0" algn="l">
              <a:buNone/>
            </a:pPr>
            <a:r>
              <a:rPr lang="en-US" sz="2200" dirty="0">
                <a:solidFill>
                  <a:schemeClr val="accent4"/>
                </a:solidFill>
              </a:rPr>
              <a:t>Pricing, promotions and profitability of one retail product</a:t>
            </a:r>
            <a:endParaRPr lang="en-US" sz="2200" dirty="0"/>
          </a:p>
        </p:txBody>
      </p:sp>
      <p:sp>
        <p:nvSpPr>
          <p:cNvPr id="5" name="Presenter"/>
          <p:cNvSpPr txBox="1"/>
          <p:nvPr/>
        </p:nvSpPr>
        <p:spPr>
          <a:xfrm>
            <a:off x="731520" y="4983480"/>
            <a:ext cx="5486400" cy="411480"/>
          </a:xfrm>
          <a:prstGeom prst="rect">
            <a:avLst/>
          </a:prstGeom>
          <a:noFill/>
          <a:ln/>
        </p:spPr>
        <p:txBody>
          <a:bodyPr wrap="square" lIns="0" tIns="0" rIns="0" bIns="0" rtlCol="0" anchor="t"/>
          <a:lstStyle/>
          <a:p>
            <a:pPr marL="0" indent="0">
              <a:buNone/>
            </a:pPr>
            <a:r>
              <a:rPr lang="en-US" sz="2200" b="1" dirty="0">
                <a:solidFill>
                  <a:schemeClr val="bg1"/>
                </a:solidFill>
              </a:rPr>
              <a:t>Primrose Mukwesha</a:t>
            </a:r>
            <a:endParaRPr lang="en-US" sz="2200" dirty="0"/>
          </a:p>
        </p:txBody>
      </p:sp>
      <p:sp>
        <p:nvSpPr>
          <p:cNvPr id="6" name="Date"/>
          <p:cNvSpPr txBox="1"/>
          <p:nvPr/>
        </p:nvSpPr>
        <p:spPr>
          <a:xfrm>
            <a:off x="731520" y="5440680"/>
            <a:ext cx="5486400" cy="365760"/>
          </a:xfrm>
          <a:prstGeom prst="rect">
            <a:avLst/>
          </a:prstGeom>
          <a:noFill/>
          <a:ln/>
        </p:spPr>
        <p:txBody>
          <a:bodyPr wrap="square" lIns="0" tIns="0" rIns="0" bIns="0" rtlCol="0" anchor="t"/>
          <a:lstStyle/>
          <a:p>
            <a:pPr marL="0" indent="0">
              <a:buNone/>
            </a:pPr>
            <a:r>
              <a:rPr lang="en-US" sz="1600" dirty="0">
                <a:solidFill>
                  <a:schemeClr val="accent4"/>
                </a:solidFill>
              </a:rPr>
              <a:t>October 2026</a:t>
            </a:r>
            <a:endParaRPr lang="en-US" sz="1600" dirty="0"/>
          </a:p>
        </p:txBody>
      </p:sp>
      <p:sp>
        <p:nvSpPr>
          <p:cNvPr id="7" name="Stat card 1"/>
          <p:cNvSpPr/>
          <p:nvPr/>
        </p:nvSpPr>
        <p:spPr>
          <a:xfrm>
            <a:off x="7589520" y="1371600"/>
            <a:ext cx="4023360" cy="1371600"/>
          </a:xfrm>
          <a:prstGeom prst="roundRect">
            <a:avLst>
              <a:gd name="adj" fmla="val 8000"/>
            </a:avLst>
          </a:prstGeom>
          <a:solidFill>
            <a:schemeClr val="bg1">
              <a:alpha val="10000"/>
            </a:schemeClr>
          </a:solidFill>
          <a:ln/>
        </p:spPr>
        <p:txBody>
          <a:bodyPr/>
          <a:lstStyle/>
          <a:p>
            <a:endParaRPr lang="en-ZA"/>
          </a:p>
        </p:txBody>
      </p:sp>
      <p:sp>
        <p:nvSpPr>
          <p:cNvPr id="8" name="Stat value 1"/>
          <p:cNvSpPr txBox="1"/>
          <p:nvPr/>
        </p:nvSpPr>
        <p:spPr>
          <a:xfrm>
            <a:off x="7863840" y="1508760"/>
            <a:ext cx="3566160" cy="731520"/>
          </a:xfrm>
          <a:prstGeom prst="rect">
            <a:avLst/>
          </a:prstGeom>
          <a:noFill/>
          <a:ln/>
        </p:spPr>
        <p:txBody>
          <a:bodyPr wrap="square" lIns="0" tIns="0" rIns="0" bIns="0" rtlCol="0" anchor="ctr"/>
          <a:lstStyle/>
          <a:p>
            <a:pPr marL="0" indent="0">
              <a:buNone/>
            </a:pPr>
            <a:r>
              <a:rPr lang="en-US" sz="4400" b="1" dirty="0">
                <a:solidFill>
                  <a:schemeClr val="bg1"/>
                </a:solidFill>
              </a:rPr>
              <a:t>R186.9M</a:t>
            </a:r>
            <a:endParaRPr lang="en-US" sz="4400" dirty="0"/>
          </a:p>
        </p:txBody>
      </p:sp>
      <p:sp>
        <p:nvSpPr>
          <p:cNvPr id="9" name="Stat label 1"/>
          <p:cNvSpPr txBox="1"/>
          <p:nvPr/>
        </p:nvSpPr>
        <p:spPr>
          <a:xfrm>
            <a:off x="7863840" y="2240280"/>
            <a:ext cx="3566160" cy="365760"/>
          </a:xfrm>
          <a:prstGeom prst="rect">
            <a:avLst/>
          </a:prstGeom>
          <a:noFill/>
          <a:ln/>
        </p:spPr>
        <p:txBody>
          <a:bodyPr wrap="square" lIns="0" tIns="0" rIns="0" bIns="0" rtlCol="0" anchor="t"/>
          <a:lstStyle/>
          <a:p>
            <a:pPr marL="0" indent="0">
              <a:buNone/>
            </a:pPr>
            <a:r>
              <a:rPr lang="en-US" sz="1600" dirty="0">
                <a:solidFill>
                  <a:schemeClr val="accent4"/>
                </a:solidFill>
              </a:rPr>
              <a:t>Total sales</a:t>
            </a:r>
            <a:endParaRPr lang="en-US" sz="1600" dirty="0"/>
          </a:p>
        </p:txBody>
      </p:sp>
      <p:sp>
        <p:nvSpPr>
          <p:cNvPr id="10" name="Stat card 2"/>
          <p:cNvSpPr/>
          <p:nvPr/>
        </p:nvSpPr>
        <p:spPr>
          <a:xfrm>
            <a:off x="7589520" y="2971800"/>
            <a:ext cx="4023360" cy="1371600"/>
          </a:xfrm>
          <a:prstGeom prst="roundRect">
            <a:avLst>
              <a:gd name="adj" fmla="val 8000"/>
            </a:avLst>
          </a:prstGeom>
          <a:solidFill>
            <a:schemeClr val="bg1">
              <a:alpha val="10000"/>
            </a:schemeClr>
          </a:solidFill>
          <a:ln/>
        </p:spPr>
        <p:txBody>
          <a:bodyPr/>
          <a:lstStyle/>
          <a:p>
            <a:endParaRPr lang="en-ZA"/>
          </a:p>
        </p:txBody>
      </p:sp>
      <p:sp>
        <p:nvSpPr>
          <p:cNvPr id="11" name="Stat value 2"/>
          <p:cNvSpPr txBox="1"/>
          <p:nvPr/>
        </p:nvSpPr>
        <p:spPr>
          <a:xfrm>
            <a:off x="7863840" y="3108960"/>
            <a:ext cx="3566160" cy="731520"/>
          </a:xfrm>
          <a:prstGeom prst="rect">
            <a:avLst/>
          </a:prstGeom>
          <a:noFill/>
          <a:ln/>
        </p:spPr>
        <p:txBody>
          <a:bodyPr wrap="square" lIns="0" tIns="0" rIns="0" bIns="0" rtlCol="0" anchor="ctr"/>
          <a:lstStyle/>
          <a:p>
            <a:pPr marL="0" indent="0">
              <a:buNone/>
            </a:pPr>
            <a:r>
              <a:rPr lang="en-US" sz="4400" b="1" dirty="0">
                <a:solidFill>
                  <a:schemeClr val="accent2"/>
                </a:solidFill>
              </a:rPr>
              <a:t>−R7.1M</a:t>
            </a:r>
            <a:endParaRPr lang="en-US" sz="4400" dirty="0"/>
          </a:p>
        </p:txBody>
      </p:sp>
      <p:sp>
        <p:nvSpPr>
          <p:cNvPr id="12" name="Stat label 2"/>
          <p:cNvSpPr txBox="1"/>
          <p:nvPr/>
        </p:nvSpPr>
        <p:spPr>
          <a:xfrm>
            <a:off x="7863840" y="3840480"/>
            <a:ext cx="3566160" cy="365760"/>
          </a:xfrm>
          <a:prstGeom prst="rect">
            <a:avLst/>
          </a:prstGeom>
          <a:noFill/>
          <a:ln/>
        </p:spPr>
        <p:txBody>
          <a:bodyPr wrap="square" lIns="0" tIns="0" rIns="0" bIns="0" rtlCol="0" anchor="t"/>
          <a:lstStyle/>
          <a:p>
            <a:pPr marL="0" indent="0">
              <a:buNone/>
            </a:pPr>
            <a:r>
              <a:rPr lang="en-US" sz="1600" dirty="0">
                <a:solidFill>
                  <a:schemeClr val="accent4"/>
                </a:solidFill>
              </a:rPr>
              <a:t>Gross profit (−3.8%)</a:t>
            </a:r>
            <a:endParaRPr lang="en-US" sz="1600" dirty="0"/>
          </a:p>
        </p:txBody>
      </p:sp>
      <p:sp>
        <p:nvSpPr>
          <p:cNvPr id="13" name="Stat card 3"/>
          <p:cNvSpPr/>
          <p:nvPr/>
        </p:nvSpPr>
        <p:spPr>
          <a:xfrm>
            <a:off x="7589520" y="4572000"/>
            <a:ext cx="4023360" cy="1371600"/>
          </a:xfrm>
          <a:prstGeom prst="roundRect">
            <a:avLst>
              <a:gd name="adj" fmla="val 8000"/>
            </a:avLst>
          </a:prstGeom>
          <a:solidFill>
            <a:schemeClr val="bg1">
              <a:alpha val="10000"/>
            </a:schemeClr>
          </a:solidFill>
          <a:ln/>
        </p:spPr>
        <p:txBody>
          <a:bodyPr/>
          <a:lstStyle/>
          <a:p>
            <a:endParaRPr lang="en-ZA"/>
          </a:p>
        </p:txBody>
      </p:sp>
      <p:sp>
        <p:nvSpPr>
          <p:cNvPr id="14" name="Stat value 3"/>
          <p:cNvSpPr txBox="1"/>
          <p:nvPr/>
        </p:nvSpPr>
        <p:spPr>
          <a:xfrm>
            <a:off x="7863840" y="4709160"/>
            <a:ext cx="3566160" cy="731520"/>
          </a:xfrm>
          <a:prstGeom prst="rect">
            <a:avLst/>
          </a:prstGeom>
          <a:noFill/>
          <a:ln/>
        </p:spPr>
        <p:txBody>
          <a:bodyPr wrap="square" lIns="0" tIns="0" rIns="0" bIns="0" rtlCol="0" anchor="ctr"/>
          <a:lstStyle/>
          <a:p>
            <a:pPr marL="0" indent="0">
              <a:buNone/>
            </a:pPr>
            <a:r>
              <a:rPr lang="en-US" sz="4400" b="1" dirty="0">
                <a:solidFill>
                  <a:schemeClr val="bg1"/>
                </a:solidFill>
              </a:rPr>
              <a:t>5.28M</a:t>
            </a:r>
            <a:endParaRPr lang="en-US" sz="4400" dirty="0"/>
          </a:p>
        </p:txBody>
      </p:sp>
      <p:sp>
        <p:nvSpPr>
          <p:cNvPr id="15" name="Stat label 3"/>
          <p:cNvSpPr txBox="1"/>
          <p:nvPr/>
        </p:nvSpPr>
        <p:spPr>
          <a:xfrm>
            <a:off x="7863840" y="5440680"/>
            <a:ext cx="3566160" cy="365760"/>
          </a:xfrm>
          <a:prstGeom prst="rect">
            <a:avLst/>
          </a:prstGeom>
          <a:noFill/>
          <a:ln/>
        </p:spPr>
        <p:txBody>
          <a:bodyPr wrap="square" lIns="0" tIns="0" rIns="0" bIns="0" rtlCol="0" anchor="t"/>
          <a:lstStyle/>
          <a:p>
            <a:pPr marL="0" indent="0">
              <a:buNone/>
            </a:pPr>
            <a:r>
              <a:rPr lang="en-US" sz="1600" dirty="0">
                <a:solidFill>
                  <a:schemeClr val="accent4"/>
                </a:solidFill>
              </a:rPr>
              <a:t>Units sold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tx1"/>
                </a:solidFill>
              </a:rPr>
              <a:t>The product sells well but loses money</a:t>
            </a:r>
            <a:endParaRPr lang="en-US" sz="3400" dirty="0"/>
          </a:p>
        </p:txBody>
      </p:sp>
      <p:sp>
        <p:nvSpPr>
          <p:cNvPr id="3" name="Summary card 1"/>
          <p:cNvSpPr/>
          <p:nvPr/>
        </p:nvSpPr>
        <p:spPr>
          <a:xfrm>
            <a:off x="548640" y="1417320"/>
            <a:ext cx="5422392" cy="1691640"/>
          </a:xfrm>
          <a:prstGeom prst="roundRect">
            <a:avLst>
              <a:gd name="adj" fmla="val 6486"/>
            </a:avLst>
          </a:prstGeom>
          <a:solidFill>
            <a:schemeClr val="bg2"/>
          </a:solidFill>
          <a:ln/>
        </p:spPr>
        <p:txBody>
          <a:bodyPr/>
          <a:lstStyle/>
          <a:p>
            <a:endParaRPr lang="en-ZA"/>
          </a:p>
        </p:txBody>
      </p:sp>
      <p:sp>
        <p:nvSpPr>
          <p:cNvPr id="4" name="Summary value 1"/>
          <p:cNvSpPr txBox="1"/>
          <p:nvPr/>
        </p:nvSpPr>
        <p:spPr>
          <a:xfrm>
            <a:off x="822960" y="1600200"/>
            <a:ext cx="2148840" cy="1325880"/>
          </a:xfrm>
          <a:prstGeom prst="rect">
            <a:avLst/>
          </a:prstGeom>
          <a:noFill/>
          <a:ln/>
        </p:spPr>
        <p:txBody>
          <a:bodyPr wrap="square" lIns="0" tIns="0" rIns="0" bIns="0" rtlCol="0" anchor="ctr"/>
          <a:lstStyle/>
          <a:p>
            <a:pPr marL="0" indent="0">
              <a:buNone/>
            </a:pPr>
            <a:r>
              <a:rPr lang="en-US" sz="3800" b="1" dirty="0">
                <a:solidFill>
                  <a:schemeClr val="accent1"/>
                </a:solidFill>
              </a:rPr>
              <a:t>R186.9M</a:t>
            </a:r>
            <a:endParaRPr lang="en-US" sz="3800" dirty="0"/>
          </a:p>
        </p:txBody>
      </p:sp>
      <p:sp>
        <p:nvSpPr>
          <p:cNvPr id="5" name="Summary label 1"/>
          <p:cNvSpPr txBox="1"/>
          <p:nvPr/>
        </p:nvSpPr>
        <p:spPr>
          <a:xfrm>
            <a:off x="3063240" y="1737360"/>
            <a:ext cx="2697480" cy="365760"/>
          </a:xfrm>
          <a:prstGeom prst="rect">
            <a:avLst/>
          </a:prstGeom>
          <a:noFill/>
          <a:ln/>
        </p:spPr>
        <p:txBody>
          <a:bodyPr wrap="square" lIns="0" tIns="0" rIns="0" bIns="0" rtlCol="0" anchor="ctr"/>
          <a:lstStyle/>
          <a:p>
            <a:pPr marL="0" indent="0">
              <a:buNone/>
            </a:pPr>
            <a:r>
              <a:rPr lang="en-US" sz="1800" b="1" dirty="0">
                <a:solidFill>
                  <a:schemeClr val="tx1"/>
                </a:solidFill>
              </a:rPr>
              <a:t>Total sales</a:t>
            </a:r>
            <a:endParaRPr lang="en-US" sz="1800" dirty="0"/>
          </a:p>
        </p:txBody>
      </p:sp>
      <p:sp>
        <p:nvSpPr>
          <p:cNvPr id="6" name="Summary text 1"/>
          <p:cNvSpPr txBox="1"/>
          <p:nvPr/>
        </p:nvSpPr>
        <p:spPr>
          <a:xfrm>
            <a:off x="3063240" y="2148840"/>
            <a:ext cx="2697480" cy="777240"/>
          </a:xfrm>
          <a:prstGeom prst="rect">
            <a:avLst/>
          </a:prstGeom>
          <a:noFill/>
          <a:ln/>
        </p:spPr>
        <p:txBody>
          <a:bodyPr wrap="square" lIns="0" tIns="0" rIns="0" bIns="0" rtlCol="0" anchor="t"/>
          <a:lstStyle/>
          <a:p>
            <a:pPr marL="0" indent="0">
              <a:buNone/>
            </a:pPr>
            <a:r>
              <a:rPr lang="en-US" sz="1400" dirty="0">
                <a:solidFill>
                  <a:schemeClr val="tx1"/>
                </a:solidFill>
              </a:rPr>
              <a:t>5,279,872 units over 1,053 trading days</a:t>
            </a:r>
            <a:endParaRPr lang="en-US" sz="1400" dirty="0"/>
          </a:p>
        </p:txBody>
      </p:sp>
      <p:sp>
        <p:nvSpPr>
          <p:cNvPr id="7" name="Summary card 2"/>
          <p:cNvSpPr/>
          <p:nvPr/>
        </p:nvSpPr>
        <p:spPr>
          <a:xfrm>
            <a:off x="6217920" y="1417320"/>
            <a:ext cx="5422392" cy="1691640"/>
          </a:xfrm>
          <a:prstGeom prst="roundRect">
            <a:avLst>
              <a:gd name="adj" fmla="val 6486"/>
            </a:avLst>
          </a:prstGeom>
          <a:solidFill>
            <a:schemeClr val="bg2"/>
          </a:solidFill>
          <a:ln/>
        </p:spPr>
        <p:txBody>
          <a:bodyPr/>
          <a:lstStyle/>
          <a:p>
            <a:endParaRPr lang="en-ZA"/>
          </a:p>
        </p:txBody>
      </p:sp>
      <p:sp>
        <p:nvSpPr>
          <p:cNvPr id="8" name="Summary value 2"/>
          <p:cNvSpPr txBox="1"/>
          <p:nvPr/>
        </p:nvSpPr>
        <p:spPr>
          <a:xfrm>
            <a:off x="6492240" y="1600200"/>
            <a:ext cx="2148840" cy="1325880"/>
          </a:xfrm>
          <a:prstGeom prst="rect">
            <a:avLst/>
          </a:prstGeom>
          <a:noFill/>
          <a:ln/>
        </p:spPr>
        <p:txBody>
          <a:bodyPr wrap="square" lIns="0" tIns="0" rIns="0" bIns="0" rtlCol="0" anchor="ctr"/>
          <a:lstStyle/>
          <a:p>
            <a:pPr marL="0" indent="0">
              <a:buNone/>
            </a:pPr>
            <a:r>
              <a:rPr lang="en-US" sz="3800" b="1" dirty="0">
                <a:solidFill>
                  <a:schemeClr val="accent2"/>
                </a:solidFill>
              </a:rPr>
              <a:t>−3.8%</a:t>
            </a:r>
            <a:endParaRPr lang="en-US" sz="3800" dirty="0"/>
          </a:p>
        </p:txBody>
      </p:sp>
      <p:sp>
        <p:nvSpPr>
          <p:cNvPr id="9" name="Summary label 2"/>
          <p:cNvSpPr txBox="1"/>
          <p:nvPr/>
        </p:nvSpPr>
        <p:spPr>
          <a:xfrm>
            <a:off x="8732520" y="1737360"/>
            <a:ext cx="2697480" cy="365760"/>
          </a:xfrm>
          <a:prstGeom prst="rect">
            <a:avLst/>
          </a:prstGeom>
          <a:noFill/>
          <a:ln/>
        </p:spPr>
        <p:txBody>
          <a:bodyPr wrap="square" lIns="0" tIns="0" rIns="0" bIns="0" rtlCol="0" anchor="ctr"/>
          <a:lstStyle/>
          <a:p>
            <a:pPr marL="0" indent="0">
              <a:buNone/>
            </a:pPr>
            <a:r>
              <a:rPr lang="en-US" sz="1800" b="1" dirty="0">
                <a:solidFill>
                  <a:schemeClr val="tx1"/>
                </a:solidFill>
              </a:rPr>
              <a:t>Gross margin</a:t>
            </a:r>
            <a:endParaRPr lang="en-US" sz="1800" dirty="0"/>
          </a:p>
        </p:txBody>
      </p:sp>
      <p:sp>
        <p:nvSpPr>
          <p:cNvPr id="10" name="Summary text 2"/>
          <p:cNvSpPr txBox="1"/>
          <p:nvPr/>
        </p:nvSpPr>
        <p:spPr>
          <a:xfrm>
            <a:off x="8732520" y="2148840"/>
            <a:ext cx="2697480" cy="777240"/>
          </a:xfrm>
          <a:prstGeom prst="rect">
            <a:avLst/>
          </a:prstGeom>
          <a:noFill/>
          <a:ln/>
        </p:spPr>
        <p:txBody>
          <a:bodyPr wrap="square" lIns="0" tIns="0" rIns="0" bIns="0" rtlCol="0" anchor="t"/>
          <a:lstStyle/>
          <a:p>
            <a:pPr marL="0" indent="0">
              <a:buNone/>
            </a:pPr>
            <a:r>
              <a:rPr lang="en-US" sz="1400" dirty="0">
                <a:solidFill>
                  <a:schemeClr val="tx1"/>
                </a:solidFill>
              </a:rPr>
              <a:t>Cost of sales exceeded sales by R7.1M</a:t>
            </a:r>
            <a:endParaRPr lang="en-US" sz="1400" dirty="0"/>
          </a:p>
        </p:txBody>
      </p:sp>
      <p:sp>
        <p:nvSpPr>
          <p:cNvPr id="11" name="Summary card 3"/>
          <p:cNvSpPr/>
          <p:nvPr/>
        </p:nvSpPr>
        <p:spPr>
          <a:xfrm>
            <a:off x="548640" y="3291840"/>
            <a:ext cx="5422392" cy="1691640"/>
          </a:xfrm>
          <a:prstGeom prst="roundRect">
            <a:avLst>
              <a:gd name="adj" fmla="val 6486"/>
            </a:avLst>
          </a:prstGeom>
          <a:solidFill>
            <a:schemeClr val="bg2"/>
          </a:solidFill>
          <a:ln/>
        </p:spPr>
        <p:txBody>
          <a:bodyPr/>
          <a:lstStyle/>
          <a:p>
            <a:endParaRPr lang="en-ZA"/>
          </a:p>
        </p:txBody>
      </p:sp>
      <p:sp>
        <p:nvSpPr>
          <p:cNvPr id="12" name="Summary value 3"/>
          <p:cNvSpPr txBox="1"/>
          <p:nvPr/>
        </p:nvSpPr>
        <p:spPr>
          <a:xfrm>
            <a:off x="822960" y="3474720"/>
            <a:ext cx="2148840" cy="1325880"/>
          </a:xfrm>
          <a:prstGeom prst="rect">
            <a:avLst/>
          </a:prstGeom>
          <a:noFill/>
          <a:ln/>
        </p:spPr>
        <p:txBody>
          <a:bodyPr wrap="square" lIns="0" tIns="0" rIns="0" bIns="0" rtlCol="0" anchor="ctr"/>
          <a:lstStyle/>
          <a:p>
            <a:pPr marL="0" indent="0">
              <a:buNone/>
            </a:pPr>
            <a:r>
              <a:rPr lang="en-US" sz="3800" b="1" dirty="0">
                <a:solidFill>
                  <a:schemeClr val="accent2"/>
                </a:solidFill>
              </a:rPr>
              <a:t>57.6%</a:t>
            </a:r>
            <a:endParaRPr lang="en-US" sz="3800" dirty="0"/>
          </a:p>
        </p:txBody>
      </p:sp>
      <p:sp>
        <p:nvSpPr>
          <p:cNvPr id="13" name="Summary label 3"/>
          <p:cNvSpPr txBox="1"/>
          <p:nvPr/>
        </p:nvSpPr>
        <p:spPr>
          <a:xfrm>
            <a:off x="3063240" y="3611880"/>
            <a:ext cx="2697480" cy="365760"/>
          </a:xfrm>
          <a:prstGeom prst="rect">
            <a:avLst/>
          </a:prstGeom>
          <a:noFill/>
          <a:ln/>
        </p:spPr>
        <p:txBody>
          <a:bodyPr wrap="square" lIns="0" tIns="0" rIns="0" bIns="0" rtlCol="0" anchor="ctr"/>
          <a:lstStyle/>
          <a:p>
            <a:pPr marL="0" indent="0">
              <a:buNone/>
            </a:pPr>
            <a:r>
              <a:rPr lang="en-US" sz="1800" b="1" dirty="0">
                <a:solidFill>
                  <a:schemeClr val="tx1"/>
                </a:solidFill>
              </a:rPr>
              <a:t>Days with a gross loss</a:t>
            </a:r>
            <a:endParaRPr lang="en-US" sz="1800" dirty="0"/>
          </a:p>
        </p:txBody>
      </p:sp>
      <p:sp>
        <p:nvSpPr>
          <p:cNvPr id="14" name="Summary text 3"/>
          <p:cNvSpPr txBox="1"/>
          <p:nvPr/>
        </p:nvSpPr>
        <p:spPr>
          <a:xfrm>
            <a:off x="3063240" y="4023360"/>
            <a:ext cx="2697480" cy="777240"/>
          </a:xfrm>
          <a:prstGeom prst="rect">
            <a:avLst/>
          </a:prstGeom>
          <a:noFill/>
          <a:ln/>
        </p:spPr>
        <p:txBody>
          <a:bodyPr wrap="square" lIns="0" tIns="0" rIns="0" bIns="0" rtlCol="0" anchor="t"/>
          <a:lstStyle/>
          <a:p>
            <a:pPr marL="0" indent="0">
              <a:buNone/>
            </a:pPr>
            <a:r>
              <a:rPr lang="en-US" sz="1400" dirty="0">
                <a:solidFill>
                  <a:schemeClr val="tx1"/>
                </a:solidFill>
              </a:rPr>
              <a:t>607 of 1,053 days sold below cost</a:t>
            </a:r>
            <a:endParaRPr lang="en-US" sz="1400" dirty="0"/>
          </a:p>
        </p:txBody>
      </p:sp>
      <p:sp>
        <p:nvSpPr>
          <p:cNvPr id="15" name="Summary card 4"/>
          <p:cNvSpPr/>
          <p:nvPr/>
        </p:nvSpPr>
        <p:spPr>
          <a:xfrm>
            <a:off x="6217920" y="3291840"/>
            <a:ext cx="5422392" cy="1691640"/>
          </a:xfrm>
          <a:prstGeom prst="roundRect">
            <a:avLst>
              <a:gd name="adj" fmla="val 6486"/>
            </a:avLst>
          </a:prstGeom>
          <a:solidFill>
            <a:schemeClr val="bg2"/>
          </a:solidFill>
          <a:ln/>
        </p:spPr>
        <p:txBody>
          <a:bodyPr/>
          <a:lstStyle/>
          <a:p>
            <a:endParaRPr lang="en-ZA"/>
          </a:p>
        </p:txBody>
      </p:sp>
      <p:sp>
        <p:nvSpPr>
          <p:cNvPr id="16" name="Summary value 4"/>
          <p:cNvSpPr txBox="1"/>
          <p:nvPr/>
        </p:nvSpPr>
        <p:spPr>
          <a:xfrm>
            <a:off x="6492240" y="3474720"/>
            <a:ext cx="2148840" cy="1325880"/>
          </a:xfrm>
          <a:prstGeom prst="rect">
            <a:avLst/>
          </a:prstGeom>
          <a:noFill/>
          <a:ln/>
        </p:spPr>
        <p:txBody>
          <a:bodyPr wrap="square" lIns="0" tIns="0" rIns="0" bIns="0" rtlCol="0" anchor="ctr"/>
          <a:lstStyle/>
          <a:p>
            <a:pPr marL="0" indent="0">
              <a:buNone/>
            </a:pPr>
            <a:r>
              <a:rPr lang="en-US" sz="3800" b="1" dirty="0">
                <a:solidFill>
                  <a:schemeClr val="accent1"/>
                </a:solidFill>
              </a:rPr>
              <a:t>−5.8</a:t>
            </a:r>
            <a:endParaRPr lang="en-US" sz="3800" dirty="0"/>
          </a:p>
        </p:txBody>
      </p:sp>
      <p:sp>
        <p:nvSpPr>
          <p:cNvPr id="17" name="Summary label 4"/>
          <p:cNvSpPr txBox="1"/>
          <p:nvPr/>
        </p:nvSpPr>
        <p:spPr>
          <a:xfrm>
            <a:off x="8732520" y="3611880"/>
            <a:ext cx="2697480" cy="365760"/>
          </a:xfrm>
          <a:prstGeom prst="rect">
            <a:avLst/>
          </a:prstGeom>
          <a:noFill/>
          <a:ln/>
        </p:spPr>
        <p:txBody>
          <a:bodyPr wrap="square" lIns="0" tIns="0" rIns="0" bIns="0" rtlCol="0" anchor="ctr"/>
          <a:lstStyle/>
          <a:p>
            <a:pPr marL="0" indent="0">
              <a:buNone/>
            </a:pPr>
            <a:r>
              <a:rPr lang="en-US" sz="1800" b="1" dirty="0">
                <a:solidFill>
                  <a:schemeClr val="tx1"/>
                </a:solidFill>
              </a:rPr>
              <a:t>Price elasticity of demand</a:t>
            </a:r>
            <a:endParaRPr lang="en-US" sz="1800" dirty="0"/>
          </a:p>
        </p:txBody>
      </p:sp>
      <p:sp>
        <p:nvSpPr>
          <p:cNvPr id="18" name="Summary text 4"/>
          <p:cNvSpPr txBox="1"/>
          <p:nvPr/>
        </p:nvSpPr>
        <p:spPr>
          <a:xfrm>
            <a:off x="8732520" y="4023360"/>
            <a:ext cx="2697480" cy="777240"/>
          </a:xfrm>
          <a:prstGeom prst="rect">
            <a:avLst/>
          </a:prstGeom>
          <a:noFill/>
          <a:ln/>
        </p:spPr>
        <p:txBody>
          <a:bodyPr wrap="square" lIns="0" tIns="0" rIns="0" bIns="0" rtlCol="0" anchor="t"/>
          <a:lstStyle/>
          <a:p>
            <a:pPr marL="0" indent="0">
              <a:buNone/>
            </a:pPr>
            <a:r>
              <a:rPr lang="en-US" sz="1400" dirty="0">
                <a:solidFill>
                  <a:schemeClr val="tx1"/>
                </a:solidFill>
              </a:rPr>
              <a:t>A 1% price cut lifts units sold by about 5.8%</a:t>
            </a:r>
            <a:endParaRPr lang="en-US" sz="1400" dirty="0"/>
          </a:p>
        </p:txBody>
      </p:sp>
      <p:sp>
        <p:nvSpPr>
          <p:cNvPr id="19" name="Takeaway banner"/>
          <p:cNvSpPr/>
          <p:nvPr/>
        </p:nvSpPr>
        <p:spPr>
          <a:xfrm>
            <a:off x="548640" y="5257800"/>
            <a:ext cx="11091672" cy="822960"/>
          </a:xfrm>
          <a:prstGeom prst="roundRect">
            <a:avLst>
              <a:gd name="adj" fmla="val 13333"/>
            </a:avLst>
          </a:prstGeom>
          <a:solidFill>
            <a:schemeClr val="tx2"/>
          </a:solidFill>
          <a:ln/>
        </p:spPr>
        <p:txBody>
          <a:bodyPr/>
          <a:lstStyle/>
          <a:p>
            <a:endParaRPr lang="en-ZA"/>
          </a:p>
        </p:txBody>
      </p:sp>
      <p:sp>
        <p:nvSpPr>
          <p:cNvPr id="20" name="Takeaway text"/>
          <p:cNvSpPr txBox="1"/>
          <p:nvPr/>
        </p:nvSpPr>
        <p:spPr>
          <a:xfrm>
            <a:off x="822960" y="5257800"/>
            <a:ext cx="10515600" cy="822960"/>
          </a:xfrm>
          <a:prstGeom prst="rect">
            <a:avLst/>
          </a:prstGeom>
          <a:noFill/>
          <a:ln/>
        </p:spPr>
        <p:txBody>
          <a:bodyPr wrap="square" lIns="0" tIns="0" rIns="0" bIns="0" rtlCol="0" anchor="ctr"/>
          <a:lstStyle/>
          <a:p>
            <a:pPr marL="0" indent="0">
              <a:buNone/>
            </a:pPr>
            <a:r>
              <a:rPr lang="en-US" sz="2000" b="1" dirty="0">
                <a:solidFill>
                  <a:schemeClr val="bg1"/>
                </a:solidFill>
              </a:rPr>
              <a:t>Fix the unit economics first, then use promotions selectively to grow volume</a:t>
            </a:r>
            <a:endParaRPr lang="en-US" sz="2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tx1"/>
                </a:solidFill>
              </a:rPr>
              <a:t>Approach: from raw daily data to insight</a:t>
            </a:r>
            <a:endParaRPr lang="en-US" sz="3400" dirty="0"/>
          </a:p>
        </p:txBody>
      </p:sp>
      <p:sp>
        <p:nvSpPr>
          <p:cNvPr id="3" name="Objective"/>
          <p:cNvSpPr txBox="1"/>
          <p:nvPr/>
        </p:nvSpPr>
        <p:spPr>
          <a:xfrm>
            <a:off x="548640" y="1280160"/>
            <a:ext cx="11091672" cy="365760"/>
          </a:xfrm>
          <a:prstGeom prst="rect">
            <a:avLst/>
          </a:prstGeom>
          <a:noFill/>
          <a:ln/>
        </p:spPr>
        <p:txBody>
          <a:bodyPr wrap="square" lIns="0" tIns="0" rIns="0" bIns="0" rtlCol="0" anchor="t"/>
          <a:lstStyle/>
          <a:p>
            <a:pPr marL="0" indent="0">
              <a:buNone/>
            </a:pPr>
            <a:r>
              <a:rPr lang="en-US" sz="1600" dirty="0">
                <a:solidFill>
                  <a:schemeClr val="accent6"/>
                </a:solidFill>
              </a:rPr>
              <a:t>Objective: develop sales metrics for one product at a large retail store and derive insights from them</a:t>
            </a:r>
            <a:endParaRPr lang="en-US" sz="1600" dirty="0"/>
          </a:p>
        </p:txBody>
      </p:sp>
      <p:sp>
        <p:nvSpPr>
          <p:cNvPr id="4" name="Step card 1"/>
          <p:cNvSpPr/>
          <p:nvPr/>
        </p:nvSpPr>
        <p:spPr>
          <a:xfrm>
            <a:off x="548640" y="1874520"/>
            <a:ext cx="2103120" cy="2697480"/>
          </a:xfrm>
          <a:prstGeom prst="roundRect">
            <a:avLst>
              <a:gd name="adj" fmla="val 5217"/>
            </a:avLst>
          </a:prstGeom>
          <a:solidFill>
            <a:schemeClr val="bg2"/>
          </a:solidFill>
          <a:ln/>
        </p:spPr>
        <p:txBody>
          <a:bodyPr/>
          <a:lstStyle/>
          <a:p>
            <a:endParaRPr lang="en-ZA"/>
          </a:p>
        </p:txBody>
      </p:sp>
      <p:sp>
        <p:nvSpPr>
          <p:cNvPr id="5" name="Step number 1"/>
          <p:cNvSpPr/>
          <p:nvPr/>
        </p:nvSpPr>
        <p:spPr>
          <a:xfrm>
            <a:off x="777240" y="2103120"/>
            <a:ext cx="548640" cy="548640"/>
          </a:xfrm>
          <a:prstGeom prst="ellipse">
            <a:avLst/>
          </a:prstGeom>
          <a:solidFill>
            <a:schemeClr val="accent1"/>
          </a:solidFill>
          <a:ln/>
        </p:spPr>
        <p:txBody>
          <a:bodyPr/>
          <a:lstStyle/>
          <a:p>
            <a:endParaRPr lang="en-ZA"/>
          </a:p>
        </p:txBody>
      </p:sp>
      <p:sp>
        <p:nvSpPr>
          <p:cNvPr id="6" name="Step digit 1"/>
          <p:cNvSpPr txBox="1"/>
          <p:nvPr/>
        </p:nvSpPr>
        <p:spPr>
          <a:xfrm>
            <a:off x="777240" y="21031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7" name="Step title 1"/>
          <p:cNvSpPr txBox="1"/>
          <p:nvPr/>
        </p:nvSpPr>
        <p:spPr>
          <a:xfrm>
            <a:off x="777240" y="2788920"/>
            <a:ext cx="1691640" cy="365760"/>
          </a:xfrm>
          <a:prstGeom prst="rect">
            <a:avLst/>
          </a:prstGeom>
          <a:noFill/>
          <a:ln/>
        </p:spPr>
        <p:txBody>
          <a:bodyPr wrap="square" lIns="0" tIns="0" rIns="0" bIns="0" rtlCol="0" anchor="ctr"/>
          <a:lstStyle/>
          <a:p>
            <a:pPr marL="0" indent="0">
              <a:buNone/>
            </a:pPr>
            <a:r>
              <a:rPr lang="en-US" sz="1800" b="1" dirty="0">
                <a:solidFill>
                  <a:schemeClr val="tx1"/>
                </a:solidFill>
              </a:rPr>
              <a:t>Ingest</a:t>
            </a:r>
            <a:endParaRPr lang="en-US" sz="1800" dirty="0"/>
          </a:p>
        </p:txBody>
      </p:sp>
      <p:sp>
        <p:nvSpPr>
          <p:cNvPr id="8" name="Step text 1"/>
          <p:cNvSpPr txBox="1"/>
          <p:nvPr/>
        </p:nvSpPr>
        <p:spPr>
          <a:xfrm>
            <a:off x="777240" y="3200400"/>
            <a:ext cx="1691640" cy="1280160"/>
          </a:xfrm>
          <a:prstGeom prst="rect">
            <a:avLst/>
          </a:prstGeom>
          <a:noFill/>
          <a:ln/>
        </p:spPr>
        <p:txBody>
          <a:bodyPr wrap="square" lIns="0" tIns="0" rIns="0" bIns="0" rtlCol="0" anchor="t"/>
          <a:lstStyle/>
          <a:p>
            <a:pPr marL="0" indent="0">
              <a:buNone/>
            </a:pPr>
            <a:r>
              <a:rPr lang="en-US" sz="1400" dirty="0">
                <a:solidFill>
                  <a:schemeClr val="tx1"/>
                </a:solidFill>
              </a:rPr>
              <a:t>Loaded the daily sales table into Python on Databricks (1,053 rows)</a:t>
            </a:r>
            <a:endParaRPr lang="en-US" sz="1400" dirty="0"/>
          </a:p>
        </p:txBody>
      </p:sp>
      <p:sp>
        <p:nvSpPr>
          <p:cNvPr id="9" name="Step card 2"/>
          <p:cNvSpPr/>
          <p:nvPr/>
        </p:nvSpPr>
        <p:spPr>
          <a:xfrm>
            <a:off x="2798064" y="1874520"/>
            <a:ext cx="2103120" cy="2697480"/>
          </a:xfrm>
          <a:prstGeom prst="roundRect">
            <a:avLst>
              <a:gd name="adj" fmla="val 5217"/>
            </a:avLst>
          </a:prstGeom>
          <a:solidFill>
            <a:schemeClr val="bg2"/>
          </a:solidFill>
          <a:ln/>
        </p:spPr>
        <p:txBody>
          <a:bodyPr/>
          <a:lstStyle/>
          <a:p>
            <a:endParaRPr lang="en-ZA"/>
          </a:p>
        </p:txBody>
      </p:sp>
      <p:sp>
        <p:nvSpPr>
          <p:cNvPr id="10" name="Step number 2"/>
          <p:cNvSpPr/>
          <p:nvPr/>
        </p:nvSpPr>
        <p:spPr>
          <a:xfrm>
            <a:off x="3026664" y="2103120"/>
            <a:ext cx="548640" cy="548640"/>
          </a:xfrm>
          <a:prstGeom prst="ellipse">
            <a:avLst/>
          </a:prstGeom>
          <a:solidFill>
            <a:schemeClr val="accent1"/>
          </a:solidFill>
          <a:ln/>
        </p:spPr>
        <p:txBody>
          <a:bodyPr/>
          <a:lstStyle/>
          <a:p>
            <a:endParaRPr lang="en-ZA"/>
          </a:p>
        </p:txBody>
      </p:sp>
      <p:sp>
        <p:nvSpPr>
          <p:cNvPr id="11" name="Step digit 2"/>
          <p:cNvSpPr txBox="1"/>
          <p:nvPr/>
        </p:nvSpPr>
        <p:spPr>
          <a:xfrm>
            <a:off x="3026664" y="21031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2" name="Step title 2"/>
          <p:cNvSpPr txBox="1"/>
          <p:nvPr/>
        </p:nvSpPr>
        <p:spPr>
          <a:xfrm>
            <a:off x="3026664" y="2788920"/>
            <a:ext cx="1691640" cy="365760"/>
          </a:xfrm>
          <a:prstGeom prst="rect">
            <a:avLst/>
          </a:prstGeom>
          <a:noFill/>
          <a:ln/>
        </p:spPr>
        <p:txBody>
          <a:bodyPr wrap="square" lIns="0" tIns="0" rIns="0" bIns="0" rtlCol="0" anchor="ctr"/>
          <a:lstStyle/>
          <a:p>
            <a:pPr marL="0" indent="0">
              <a:buNone/>
            </a:pPr>
            <a:r>
              <a:rPr lang="en-US" sz="1800" b="1" dirty="0">
                <a:solidFill>
                  <a:schemeClr val="tx1"/>
                </a:solidFill>
              </a:rPr>
              <a:t>Clean</a:t>
            </a:r>
            <a:endParaRPr lang="en-US" sz="1800" dirty="0"/>
          </a:p>
        </p:txBody>
      </p:sp>
      <p:sp>
        <p:nvSpPr>
          <p:cNvPr id="13" name="Step text 2"/>
          <p:cNvSpPr txBox="1"/>
          <p:nvPr/>
        </p:nvSpPr>
        <p:spPr>
          <a:xfrm>
            <a:off x="3026664" y="3200400"/>
            <a:ext cx="1691640" cy="1280160"/>
          </a:xfrm>
          <a:prstGeom prst="rect">
            <a:avLst/>
          </a:prstGeom>
          <a:noFill/>
          <a:ln/>
        </p:spPr>
        <p:txBody>
          <a:bodyPr wrap="square" lIns="0" tIns="0" rIns="0" bIns="0" rtlCol="0" anchor="t"/>
          <a:lstStyle/>
          <a:p>
            <a:pPr marL="0" indent="0">
              <a:buNone/>
            </a:pPr>
            <a:r>
              <a:rPr lang="en-US" sz="1400" dirty="0">
                <a:solidFill>
                  <a:schemeClr val="tx1"/>
                </a:solidFill>
              </a:rPr>
              <a:t>Checked for nulls and duplicates; set Date, Sales and Cost to proper types</a:t>
            </a:r>
            <a:endParaRPr lang="en-US" sz="1400" dirty="0"/>
          </a:p>
        </p:txBody>
      </p:sp>
      <p:sp>
        <p:nvSpPr>
          <p:cNvPr id="14" name="Step card 3"/>
          <p:cNvSpPr/>
          <p:nvPr/>
        </p:nvSpPr>
        <p:spPr>
          <a:xfrm>
            <a:off x="5047488" y="1874520"/>
            <a:ext cx="2103120" cy="2697480"/>
          </a:xfrm>
          <a:prstGeom prst="roundRect">
            <a:avLst>
              <a:gd name="adj" fmla="val 5217"/>
            </a:avLst>
          </a:prstGeom>
          <a:solidFill>
            <a:schemeClr val="bg2"/>
          </a:solidFill>
          <a:ln/>
        </p:spPr>
        <p:txBody>
          <a:bodyPr/>
          <a:lstStyle/>
          <a:p>
            <a:endParaRPr lang="en-ZA"/>
          </a:p>
        </p:txBody>
      </p:sp>
      <p:sp>
        <p:nvSpPr>
          <p:cNvPr id="15" name="Step number 3"/>
          <p:cNvSpPr/>
          <p:nvPr/>
        </p:nvSpPr>
        <p:spPr>
          <a:xfrm>
            <a:off x="5276088" y="2103120"/>
            <a:ext cx="548640" cy="548640"/>
          </a:xfrm>
          <a:prstGeom prst="ellipse">
            <a:avLst/>
          </a:prstGeom>
          <a:solidFill>
            <a:schemeClr val="accent1"/>
          </a:solidFill>
          <a:ln/>
        </p:spPr>
        <p:txBody>
          <a:bodyPr/>
          <a:lstStyle/>
          <a:p>
            <a:endParaRPr lang="en-ZA"/>
          </a:p>
        </p:txBody>
      </p:sp>
      <p:sp>
        <p:nvSpPr>
          <p:cNvPr id="16" name="Step digit 3"/>
          <p:cNvSpPr txBox="1"/>
          <p:nvPr/>
        </p:nvSpPr>
        <p:spPr>
          <a:xfrm>
            <a:off x="5276088" y="21031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7" name="Step title 3"/>
          <p:cNvSpPr txBox="1"/>
          <p:nvPr/>
        </p:nvSpPr>
        <p:spPr>
          <a:xfrm>
            <a:off x="5276088" y="2788920"/>
            <a:ext cx="1691640" cy="365760"/>
          </a:xfrm>
          <a:prstGeom prst="rect">
            <a:avLst/>
          </a:prstGeom>
          <a:noFill/>
          <a:ln/>
        </p:spPr>
        <p:txBody>
          <a:bodyPr wrap="square" lIns="0" tIns="0" rIns="0" bIns="0" rtlCol="0" anchor="ctr"/>
          <a:lstStyle/>
          <a:p>
            <a:pPr marL="0" indent="0">
              <a:buNone/>
            </a:pPr>
            <a:r>
              <a:rPr lang="en-US" sz="1800" b="1" dirty="0">
                <a:solidFill>
                  <a:schemeClr val="tx1"/>
                </a:solidFill>
              </a:rPr>
              <a:t>Engineer</a:t>
            </a:r>
            <a:endParaRPr lang="en-US" sz="1800" dirty="0"/>
          </a:p>
        </p:txBody>
      </p:sp>
      <p:sp>
        <p:nvSpPr>
          <p:cNvPr id="18" name="Step text 3"/>
          <p:cNvSpPr txBox="1"/>
          <p:nvPr/>
        </p:nvSpPr>
        <p:spPr>
          <a:xfrm>
            <a:off x="5276088" y="3200400"/>
            <a:ext cx="1691640" cy="1280160"/>
          </a:xfrm>
          <a:prstGeom prst="rect">
            <a:avLst/>
          </a:prstGeom>
          <a:noFill/>
          <a:ln/>
        </p:spPr>
        <p:txBody>
          <a:bodyPr wrap="square" lIns="0" tIns="0" rIns="0" bIns="0" rtlCol="0" anchor="t"/>
          <a:lstStyle/>
          <a:p>
            <a:pPr marL="0" indent="0">
              <a:buNone/>
            </a:pPr>
            <a:r>
              <a:rPr lang="en-US" sz="1400" dirty="0">
                <a:solidFill>
                  <a:schemeClr val="tx1"/>
                </a:solidFill>
              </a:rPr>
              <a:t>Added price per unit, gross profit, gross profit % and date parts</a:t>
            </a:r>
            <a:endParaRPr lang="en-US" sz="1400" dirty="0"/>
          </a:p>
        </p:txBody>
      </p:sp>
      <p:sp>
        <p:nvSpPr>
          <p:cNvPr id="19" name="Step card 4"/>
          <p:cNvSpPr/>
          <p:nvPr/>
        </p:nvSpPr>
        <p:spPr>
          <a:xfrm>
            <a:off x="7296912" y="1874520"/>
            <a:ext cx="2103120" cy="2697480"/>
          </a:xfrm>
          <a:prstGeom prst="roundRect">
            <a:avLst>
              <a:gd name="adj" fmla="val 5217"/>
            </a:avLst>
          </a:prstGeom>
          <a:solidFill>
            <a:schemeClr val="bg2"/>
          </a:solidFill>
          <a:ln/>
        </p:spPr>
        <p:txBody>
          <a:bodyPr/>
          <a:lstStyle/>
          <a:p>
            <a:endParaRPr lang="en-ZA"/>
          </a:p>
        </p:txBody>
      </p:sp>
      <p:sp>
        <p:nvSpPr>
          <p:cNvPr id="20" name="Step number 4"/>
          <p:cNvSpPr/>
          <p:nvPr/>
        </p:nvSpPr>
        <p:spPr>
          <a:xfrm>
            <a:off x="7525512" y="2103120"/>
            <a:ext cx="548640" cy="548640"/>
          </a:xfrm>
          <a:prstGeom prst="ellipse">
            <a:avLst/>
          </a:prstGeom>
          <a:solidFill>
            <a:schemeClr val="accent1"/>
          </a:solidFill>
          <a:ln/>
        </p:spPr>
        <p:txBody>
          <a:bodyPr/>
          <a:lstStyle/>
          <a:p>
            <a:endParaRPr lang="en-ZA"/>
          </a:p>
        </p:txBody>
      </p:sp>
      <p:sp>
        <p:nvSpPr>
          <p:cNvPr id="21" name="Step digit 4"/>
          <p:cNvSpPr txBox="1"/>
          <p:nvPr/>
        </p:nvSpPr>
        <p:spPr>
          <a:xfrm>
            <a:off x="7525512" y="21031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2" name="Step title 4"/>
          <p:cNvSpPr txBox="1"/>
          <p:nvPr/>
        </p:nvSpPr>
        <p:spPr>
          <a:xfrm>
            <a:off x="7525512" y="2788920"/>
            <a:ext cx="1691640" cy="365760"/>
          </a:xfrm>
          <a:prstGeom prst="rect">
            <a:avLst/>
          </a:prstGeom>
          <a:noFill/>
          <a:ln/>
        </p:spPr>
        <p:txBody>
          <a:bodyPr wrap="square" lIns="0" tIns="0" rIns="0" bIns="0" rtlCol="0" anchor="ctr"/>
          <a:lstStyle/>
          <a:p>
            <a:pPr marL="0" indent="0">
              <a:buNone/>
            </a:pPr>
            <a:r>
              <a:rPr lang="en-US" sz="1800" b="1" dirty="0">
                <a:solidFill>
                  <a:schemeClr val="tx1"/>
                </a:solidFill>
              </a:rPr>
              <a:t>Analyse</a:t>
            </a:r>
            <a:endParaRPr lang="en-US" sz="1800" dirty="0"/>
          </a:p>
        </p:txBody>
      </p:sp>
      <p:sp>
        <p:nvSpPr>
          <p:cNvPr id="23" name="Step text 4"/>
          <p:cNvSpPr txBox="1"/>
          <p:nvPr/>
        </p:nvSpPr>
        <p:spPr>
          <a:xfrm>
            <a:off x="7525512" y="3200400"/>
            <a:ext cx="1691640" cy="1280160"/>
          </a:xfrm>
          <a:prstGeom prst="rect">
            <a:avLst/>
          </a:prstGeom>
          <a:noFill/>
          <a:ln/>
        </p:spPr>
        <p:txBody>
          <a:bodyPr wrap="square" lIns="0" tIns="0" rIns="0" bIns="0" rtlCol="0" anchor="t"/>
          <a:lstStyle/>
          <a:p>
            <a:pPr marL="0" indent="0">
              <a:buNone/>
            </a:pPr>
            <a:r>
              <a:rPr lang="en-US" sz="1400" dirty="0">
                <a:solidFill>
                  <a:schemeClr val="tx1"/>
                </a:solidFill>
              </a:rPr>
              <a:t>Answered the six case questions: price, margin, promotions, elasticity</a:t>
            </a:r>
            <a:endParaRPr lang="en-US" sz="1400" dirty="0"/>
          </a:p>
        </p:txBody>
      </p:sp>
      <p:sp>
        <p:nvSpPr>
          <p:cNvPr id="24" name="Step card 5"/>
          <p:cNvSpPr/>
          <p:nvPr/>
        </p:nvSpPr>
        <p:spPr>
          <a:xfrm>
            <a:off x="9546336" y="1874520"/>
            <a:ext cx="2103120" cy="2697480"/>
          </a:xfrm>
          <a:prstGeom prst="roundRect">
            <a:avLst>
              <a:gd name="adj" fmla="val 5217"/>
            </a:avLst>
          </a:prstGeom>
          <a:solidFill>
            <a:schemeClr val="bg2"/>
          </a:solidFill>
          <a:ln/>
        </p:spPr>
        <p:txBody>
          <a:bodyPr/>
          <a:lstStyle/>
          <a:p>
            <a:endParaRPr lang="en-ZA"/>
          </a:p>
        </p:txBody>
      </p:sp>
      <p:sp>
        <p:nvSpPr>
          <p:cNvPr id="25" name="Step number 5"/>
          <p:cNvSpPr/>
          <p:nvPr/>
        </p:nvSpPr>
        <p:spPr>
          <a:xfrm>
            <a:off x="9774936" y="2103120"/>
            <a:ext cx="548640" cy="548640"/>
          </a:xfrm>
          <a:prstGeom prst="ellipse">
            <a:avLst/>
          </a:prstGeom>
          <a:solidFill>
            <a:schemeClr val="accent1"/>
          </a:solidFill>
          <a:ln/>
        </p:spPr>
        <p:txBody>
          <a:bodyPr/>
          <a:lstStyle/>
          <a:p>
            <a:endParaRPr lang="en-ZA"/>
          </a:p>
        </p:txBody>
      </p:sp>
      <p:sp>
        <p:nvSpPr>
          <p:cNvPr id="26" name="Step digit 5"/>
          <p:cNvSpPr txBox="1"/>
          <p:nvPr/>
        </p:nvSpPr>
        <p:spPr>
          <a:xfrm>
            <a:off x="9774936" y="21031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7" name="Step title 5"/>
          <p:cNvSpPr txBox="1"/>
          <p:nvPr/>
        </p:nvSpPr>
        <p:spPr>
          <a:xfrm>
            <a:off x="9774936" y="2788920"/>
            <a:ext cx="1691640" cy="365760"/>
          </a:xfrm>
          <a:prstGeom prst="rect">
            <a:avLst/>
          </a:prstGeom>
          <a:noFill/>
          <a:ln/>
        </p:spPr>
        <p:txBody>
          <a:bodyPr wrap="square" lIns="0" tIns="0" rIns="0" bIns="0" rtlCol="0" anchor="ctr"/>
          <a:lstStyle/>
          <a:p>
            <a:pPr marL="0" indent="0">
              <a:buNone/>
            </a:pPr>
            <a:r>
              <a:rPr lang="en-US" sz="1800" b="1" dirty="0">
                <a:solidFill>
                  <a:schemeClr val="tx1"/>
                </a:solidFill>
              </a:rPr>
              <a:t>Visualise</a:t>
            </a:r>
            <a:endParaRPr lang="en-US" sz="1800" dirty="0"/>
          </a:p>
        </p:txBody>
      </p:sp>
      <p:sp>
        <p:nvSpPr>
          <p:cNvPr id="28" name="Step text 5"/>
          <p:cNvSpPr txBox="1"/>
          <p:nvPr/>
        </p:nvSpPr>
        <p:spPr>
          <a:xfrm>
            <a:off x="9774936" y="3200400"/>
            <a:ext cx="1691640" cy="1280160"/>
          </a:xfrm>
          <a:prstGeom prst="rect">
            <a:avLst/>
          </a:prstGeom>
          <a:noFill/>
          <a:ln/>
        </p:spPr>
        <p:txBody>
          <a:bodyPr wrap="square" lIns="0" tIns="0" rIns="0" bIns="0" rtlCol="0" anchor="t"/>
          <a:lstStyle/>
          <a:p>
            <a:pPr marL="0" indent="0">
              <a:buNone/>
            </a:pPr>
            <a:r>
              <a:rPr lang="en-US" sz="1400" dirty="0">
                <a:solidFill>
                  <a:schemeClr val="tx1"/>
                </a:solidFill>
              </a:rPr>
              <a:t>Charts and KPIs to find patterns by month, weekday and year</a:t>
            </a:r>
            <a:endParaRPr lang="en-US" sz="1400" dirty="0"/>
          </a:p>
        </p:txBody>
      </p:sp>
      <p:sp>
        <p:nvSpPr>
          <p:cNvPr id="29" name="Definitions card"/>
          <p:cNvSpPr/>
          <p:nvPr/>
        </p:nvSpPr>
        <p:spPr>
          <a:xfrm>
            <a:off x="548640" y="4846320"/>
            <a:ext cx="11091672" cy="1325880"/>
          </a:xfrm>
          <a:prstGeom prst="roundRect">
            <a:avLst>
              <a:gd name="adj" fmla="val 8276"/>
            </a:avLst>
          </a:prstGeom>
          <a:solidFill>
            <a:schemeClr val="bg2"/>
          </a:solidFill>
          <a:ln/>
        </p:spPr>
        <p:txBody>
          <a:bodyPr/>
          <a:lstStyle/>
          <a:p>
            <a:endParaRPr lang="en-ZA"/>
          </a:p>
        </p:txBody>
      </p:sp>
      <p:sp>
        <p:nvSpPr>
          <p:cNvPr id="30" name="Definitions heading"/>
          <p:cNvSpPr txBox="1"/>
          <p:nvPr/>
        </p:nvSpPr>
        <p:spPr>
          <a:xfrm>
            <a:off x="822960" y="4956048"/>
            <a:ext cx="3657600" cy="320040"/>
          </a:xfrm>
          <a:prstGeom prst="rect">
            <a:avLst/>
          </a:prstGeom>
          <a:noFill/>
          <a:ln/>
        </p:spPr>
        <p:txBody>
          <a:bodyPr wrap="square" lIns="0" tIns="0" rIns="0" bIns="0" rtlCol="0" anchor="ctr"/>
          <a:lstStyle/>
          <a:p>
            <a:pPr marL="0" indent="0">
              <a:buNone/>
            </a:pPr>
            <a:r>
              <a:rPr lang="en-US" sz="1600" b="1" dirty="0">
                <a:solidFill>
                  <a:schemeClr val="tx1"/>
                </a:solidFill>
              </a:rPr>
              <a:t>Metric definitions</a:t>
            </a:r>
            <a:endParaRPr lang="en-US" sz="1600" dirty="0"/>
          </a:p>
        </p:txBody>
      </p:sp>
      <p:sp>
        <p:nvSpPr>
          <p:cNvPr id="31" name="Definition name 1"/>
          <p:cNvSpPr txBox="1"/>
          <p:nvPr/>
        </p:nvSpPr>
        <p:spPr>
          <a:xfrm>
            <a:off x="822960" y="5349240"/>
            <a:ext cx="3291840" cy="274320"/>
          </a:xfrm>
          <a:prstGeom prst="rect">
            <a:avLst/>
          </a:prstGeom>
          <a:noFill/>
          <a:ln/>
        </p:spPr>
        <p:txBody>
          <a:bodyPr wrap="square" lIns="0" tIns="0" rIns="0" bIns="0" rtlCol="0" anchor="t"/>
          <a:lstStyle/>
          <a:p>
            <a:pPr marL="0" indent="0">
              <a:buNone/>
            </a:pPr>
            <a:r>
              <a:rPr lang="en-US" sz="1400" b="1" dirty="0">
                <a:solidFill>
                  <a:schemeClr val="accent1"/>
                </a:solidFill>
              </a:rPr>
              <a:t>Price per unit</a:t>
            </a:r>
            <a:endParaRPr lang="en-US" sz="1400" dirty="0"/>
          </a:p>
        </p:txBody>
      </p:sp>
      <p:sp>
        <p:nvSpPr>
          <p:cNvPr id="32" name="Definition formula 1"/>
          <p:cNvSpPr txBox="1"/>
          <p:nvPr/>
        </p:nvSpPr>
        <p:spPr>
          <a:xfrm>
            <a:off x="822960" y="5641848"/>
            <a:ext cx="3291840" cy="320040"/>
          </a:xfrm>
          <a:prstGeom prst="rect">
            <a:avLst/>
          </a:prstGeom>
          <a:noFill/>
          <a:ln/>
        </p:spPr>
        <p:txBody>
          <a:bodyPr wrap="square" lIns="0" tIns="0" rIns="0" bIns="0" rtlCol="0" anchor="t"/>
          <a:lstStyle/>
          <a:p>
            <a:pPr marL="0" indent="0">
              <a:buNone/>
            </a:pPr>
            <a:r>
              <a:rPr lang="en-US" sz="1600" dirty="0">
                <a:solidFill>
                  <a:schemeClr val="tx1"/>
                </a:solidFill>
              </a:rPr>
              <a:t>Sales ÷ Quantity sold</a:t>
            </a:r>
            <a:endParaRPr lang="en-US" sz="1600" dirty="0"/>
          </a:p>
        </p:txBody>
      </p:sp>
      <p:sp>
        <p:nvSpPr>
          <p:cNvPr id="33" name="Definition name 2"/>
          <p:cNvSpPr txBox="1"/>
          <p:nvPr/>
        </p:nvSpPr>
        <p:spPr>
          <a:xfrm>
            <a:off x="4434840" y="5349240"/>
            <a:ext cx="3291840" cy="274320"/>
          </a:xfrm>
          <a:prstGeom prst="rect">
            <a:avLst/>
          </a:prstGeom>
          <a:noFill/>
          <a:ln/>
        </p:spPr>
        <p:txBody>
          <a:bodyPr wrap="square" lIns="0" tIns="0" rIns="0" bIns="0" rtlCol="0" anchor="t"/>
          <a:lstStyle/>
          <a:p>
            <a:pPr marL="0" indent="0">
              <a:buNone/>
            </a:pPr>
            <a:r>
              <a:rPr lang="en-US" sz="1400" b="1" dirty="0">
                <a:solidFill>
                  <a:schemeClr val="accent1"/>
                </a:solidFill>
              </a:rPr>
              <a:t>Gross profit</a:t>
            </a:r>
            <a:endParaRPr lang="en-US" sz="1400" dirty="0"/>
          </a:p>
        </p:txBody>
      </p:sp>
      <p:sp>
        <p:nvSpPr>
          <p:cNvPr id="34" name="Definition formula 2"/>
          <p:cNvSpPr txBox="1"/>
          <p:nvPr/>
        </p:nvSpPr>
        <p:spPr>
          <a:xfrm>
            <a:off x="4434840" y="5641848"/>
            <a:ext cx="3291840" cy="320040"/>
          </a:xfrm>
          <a:prstGeom prst="rect">
            <a:avLst/>
          </a:prstGeom>
          <a:noFill/>
          <a:ln/>
        </p:spPr>
        <p:txBody>
          <a:bodyPr wrap="square" lIns="0" tIns="0" rIns="0" bIns="0" rtlCol="0" anchor="t"/>
          <a:lstStyle/>
          <a:p>
            <a:pPr marL="0" indent="0">
              <a:buNone/>
            </a:pPr>
            <a:r>
              <a:rPr lang="en-US" sz="1600" dirty="0">
                <a:solidFill>
                  <a:schemeClr val="tx1"/>
                </a:solidFill>
              </a:rPr>
              <a:t>Sales − Cost of sales</a:t>
            </a:r>
            <a:endParaRPr lang="en-US" sz="1600" dirty="0"/>
          </a:p>
        </p:txBody>
      </p:sp>
      <p:sp>
        <p:nvSpPr>
          <p:cNvPr id="35" name="Definition name 3"/>
          <p:cNvSpPr txBox="1"/>
          <p:nvPr/>
        </p:nvSpPr>
        <p:spPr>
          <a:xfrm>
            <a:off x="8046720" y="5349240"/>
            <a:ext cx="3291840" cy="274320"/>
          </a:xfrm>
          <a:prstGeom prst="rect">
            <a:avLst/>
          </a:prstGeom>
          <a:noFill/>
          <a:ln/>
        </p:spPr>
        <p:txBody>
          <a:bodyPr wrap="square" lIns="0" tIns="0" rIns="0" bIns="0" rtlCol="0" anchor="t"/>
          <a:lstStyle/>
          <a:p>
            <a:pPr marL="0" indent="0">
              <a:buNone/>
            </a:pPr>
            <a:r>
              <a:rPr lang="en-US" sz="1400" b="1" dirty="0">
                <a:solidFill>
                  <a:schemeClr val="accent1"/>
                </a:solidFill>
              </a:rPr>
              <a:t>Gross profit %</a:t>
            </a:r>
            <a:endParaRPr lang="en-US" sz="1400" dirty="0"/>
          </a:p>
        </p:txBody>
      </p:sp>
      <p:sp>
        <p:nvSpPr>
          <p:cNvPr id="36" name="Definition formula 3"/>
          <p:cNvSpPr txBox="1"/>
          <p:nvPr/>
        </p:nvSpPr>
        <p:spPr>
          <a:xfrm>
            <a:off x="8046720" y="5641848"/>
            <a:ext cx="3291840" cy="320040"/>
          </a:xfrm>
          <a:prstGeom prst="rect">
            <a:avLst/>
          </a:prstGeom>
          <a:noFill/>
          <a:ln/>
        </p:spPr>
        <p:txBody>
          <a:bodyPr wrap="square" lIns="0" tIns="0" rIns="0" bIns="0" rtlCol="0" anchor="t"/>
          <a:lstStyle/>
          <a:p>
            <a:pPr marL="0" indent="0">
              <a:buNone/>
            </a:pPr>
            <a:r>
              <a:rPr lang="en-US" sz="1600" dirty="0">
                <a:solidFill>
                  <a:schemeClr val="tx1"/>
                </a:solidFill>
              </a:rPr>
              <a:t>Gross profit ÷ Sales</a:t>
            </a:r>
            <a:endParaRPr lang="en-US" sz="1600" dirty="0"/>
          </a:p>
        </p:txBody>
      </p:sp>
      <p:sp>
        <p:nvSpPr>
          <p:cNvPr id="37"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tx1"/>
                </a:solidFill>
              </a:rPr>
              <a:t>Clean data, but uneven coverage by year</a:t>
            </a:r>
            <a:endParaRPr lang="en-US" sz="3400" dirty="0"/>
          </a:p>
        </p:txBody>
      </p:sp>
      <p:sp>
        <p:nvSpPr>
          <p:cNvPr id="3" name="Data card"/>
          <p:cNvSpPr/>
          <p:nvPr/>
        </p:nvSpPr>
        <p:spPr>
          <a:xfrm>
            <a:off x="548640" y="1417320"/>
            <a:ext cx="5577840" cy="4663440"/>
          </a:xfrm>
          <a:prstGeom prst="roundRect">
            <a:avLst>
              <a:gd name="adj" fmla="val 2353"/>
            </a:avLst>
          </a:prstGeom>
          <a:solidFill>
            <a:schemeClr val="bg2"/>
          </a:solidFill>
          <a:ln/>
        </p:spPr>
        <p:txBody>
          <a:bodyPr/>
          <a:lstStyle/>
          <a:p>
            <a:endParaRPr lang="en-ZA"/>
          </a:p>
        </p:txBody>
      </p:sp>
      <p:sp>
        <p:nvSpPr>
          <p:cNvPr id="4" name="Data heading"/>
          <p:cNvSpPr txBox="1"/>
          <p:nvPr/>
        </p:nvSpPr>
        <p:spPr>
          <a:xfrm>
            <a:off x="822960" y="1600200"/>
            <a:ext cx="5029200" cy="365760"/>
          </a:xfrm>
          <a:prstGeom prst="rect">
            <a:avLst/>
          </a:prstGeom>
          <a:noFill/>
          <a:ln/>
        </p:spPr>
        <p:txBody>
          <a:bodyPr wrap="square" lIns="0" tIns="0" rIns="0" bIns="0" rtlCol="0" anchor="ctr"/>
          <a:lstStyle/>
          <a:p>
            <a:pPr marL="0" indent="0">
              <a:buNone/>
            </a:pPr>
            <a:r>
              <a:rPr lang="en-US" sz="2000" b="1" dirty="0">
                <a:solidFill>
                  <a:schemeClr val="tx1"/>
                </a:solidFill>
              </a:rPr>
              <a:t>What the data contains</a:t>
            </a:r>
            <a:endParaRPr lang="en-US" sz="2000" dirty="0"/>
          </a:p>
        </p:txBody>
      </p:sp>
      <p:sp>
        <p:nvSpPr>
          <p:cNvPr id="5" name="Field list"/>
          <p:cNvSpPr txBox="1"/>
          <p:nvPr/>
        </p:nvSpPr>
        <p:spPr>
          <a:xfrm>
            <a:off x="822960" y="2103120"/>
            <a:ext cx="5029200" cy="1737360"/>
          </a:xfrm>
          <a:prstGeom prst="rect">
            <a:avLst/>
          </a:prstGeom>
          <a:noFill/>
          <a:ln/>
        </p:spPr>
        <p:txBody>
          <a:bodyPr wrap="square" lIns="0" tIns="0" rIns="0" bIns="0" rtlCol="0" anchor="t"/>
          <a:lstStyle/>
          <a:p>
            <a:pPr marL="0" indent="0">
              <a:spcAft>
                <a:spcPts val="1000"/>
              </a:spcAft>
              <a:buNone/>
            </a:pPr>
            <a:r>
              <a:rPr lang="en-US" sz="1600" b="1" dirty="0">
                <a:solidFill>
                  <a:schemeClr val="tx1"/>
                </a:solidFill>
              </a:rPr>
              <a:t>Date: </a:t>
            </a:r>
            <a:r>
              <a:rPr lang="en-US" sz="1600" dirty="0">
                <a:solidFill>
                  <a:schemeClr val="tx1"/>
                </a:solidFill>
              </a:rPr>
              <a:t>each trading day, 30 Dec 2013 to 16 Nov 2016</a:t>
            </a:r>
            <a:endParaRPr lang="en-US" sz="1600" dirty="0"/>
          </a:p>
          <a:p>
            <a:pPr marL="0" indent="0">
              <a:spcAft>
                <a:spcPts val="1000"/>
              </a:spcAft>
              <a:buNone/>
            </a:pPr>
            <a:r>
              <a:rPr lang="en-US" sz="1600" b="1" dirty="0">
                <a:solidFill>
                  <a:schemeClr val="tx1"/>
                </a:solidFill>
              </a:rPr>
              <a:t>Sales: </a:t>
            </a:r>
            <a:r>
              <a:rPr lang="en-US" sz="1600" dirty="0">
                <a:solidFill>
                  <a:schemeClr val="tx1"/>
                </a:solidFill>
              </a:rPr>
              <a:t>total rand value of sales that day</a:t>
            </a:r>
            <a:endParaRPr lang="en-US" sz="1600" dirty="0"/>
          </a:p>
          <a:p>
            <a:pPr marL="0" indent="0">
              <a:spcAft>
                <a:spcPts val="1000"/>
              </a:spcAft>
              <a:buNone/>
            </a:pPr>
            <a:r>
              <a:rPr lang="en-US" sz="1600" b="1" dirty="0">
                <a:solidFill>
                  <a:schemeClr val="tx1"/>
                </a:solidFill>
              </a:rPr>
              <a:t>Cost of Sales: </a:t>
            </a:r>
            <a:r>
              <a:rPr lang="en-US" sz="1600" dirty="0">
                <a:solidFill>
                  <a:schemeClr val="tx1"/>
                </a:solidFill>
              </a:rPr>
              <a:t>total rand cost of those sales</a:t>
            </a:r>
            <a:endParaRPr lang="en-US" sz="1600" dirty="0"/>
          </a:p>
          <a:p>
            <a:pPr marL="0" indent="0">
              <a:spcAft>
                <a:spcPts val="1000"/>
              </a:spcAft>
              <a:buNone/>
            </a:pPr>
            <a:r>
              <a:rPr lang="en-US" sz="1600" b="1" dirty="0">
                <a:solidFill>
                  <a:schemeClr val="tx1"/>
                </a:solidFill>
              </a:rPr>
              <a:t>Quantity Sold: </a:t>
            </a:r>
            <a:r>
              <a:rPr lang="en-US" sz="1600" dirty="0">
                <a:solidFill>
                  <a:schemeClr val="tx1"/>
                </a:solidFill>
              </a:rPr>
              <a:t>total units sold that day</a:t>
            </a:r>
            <a:endParaRPr lang="en-US" sz="1600" dirty="0"/>
          </a:p>
        </p:txBody>
      </p:sp>
      <p:sp>
        <p:nvSpPr>
          <p:cNvPr id="6" name="Quality check"/>
          <p:cNvSpPr txBox="1"/>
          <p:nvPr/>
        </p:nvSpPr>
        <p:spPr>
          <a:xfrm>
            <a:off x="822960" y="3977640"/>
            <a:ext cx="5029200" cy="365760"/>
          </a:xfrm>
          <a:prstGeom prst="rect">
            <a:avLst/>
          </a:prstGeom>
          <a:noFill/>
          <a:ln/>
        </p:spPr>
        <p:txBody>
          <a:bodyPr wrap="square" lIns="0" tIns="0" rIns="0" bIns="0" rtlCol="0" anchor="ctr"/>
          <a:lstStyle/>
          <a:p>
            <a:pPr marL="0" indent="0">
              <a:buNone/>
            </a:pPr>
            <a:r>
              <a:rPr lang="en-US" sz="1600" b="1" dirty="0">
                <a:solidFill>
                  <a:schemeClr val="accent1"/>
                </a:solidFill>
              </a:rPr>
              <a:t>1,053 rows, 4 columns, 0 missing values, 0 duplicates</a:t>
            </a:r>
            <a:endParaRPr lang="en-US" sz="1600" dirty="0"/>
          </a:p>
        </p:txBody>
      </p:sp>
      <p:sp>
        <p:nvSpPr>
          <p:cNvPr id="7" name="Quality note"/>
          <p:cNvSpPr txBox="1"/>
          <p:nvPr/>
        </p:nvSpPr>
        <p:spPr>
          <a:xfrm>
            <a:off x="822960" y="4434840"/>
            <a:ext cx="5029200" cy="822960"/>
          </a:xfrm>
          <a:prstGeom prst="rect">
            <a:avLst/>
          </a:prstGeom>
          <a:noFill/>
          <a:ln/>
        </p:spPr>
        <p:txBody>
          <a:bodyPr wrap="square" lIns="0" tIns="0" rIns="0" bIns="0" rtlCol="0" anchor="t"/>
          <a:lstStyle/>
          <a:p>
            <a:pPr marL="0" indent="0">
              <a:buNone/>
            </a:pPr>
            <a:r>
              <a:rPr lang="en-US" sz="1400" dirty="0">
                <a:solidFill>
                  <a:schemeClr val="tx1"/>
                </a:solidFill>
              </a:rPr>
              <a:t>The data is complete and consistent, so no rows were removed or imputed.</a:t>
            </a:r>
            <a:endParaRPr lang="en-US" sz="1400" dirty="0"/>
          </a:p>
        </p:txBody>
      </p:sp>
      <p:graphicFrame>
        <p:nvGraphicFramePr>
          <p:cNvPr id="8" name="Chart 0"/>
          <p:cNvGraphicFramePr/>
          <p:nvPr/>
        </p:nvGraphicFramePr>
        <p:xfrm>
          <a:off x="6400800" y="1371600"/>
          <a:ext cx="5239512"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9" name="Implication card"/>
          <p:cNvSpPr/>
          <p:nvPr/>
        </p:nvSpPr>
        <p:spPr>
          <a:xfrm>
            <a:off x="6400800" y="4800600"/>
            <a:ext cx="5239512" cy="1280160"/>
          </a:xfrm>
          <a:prstGeom prst="roundRect">
            <a:avLst>
              <a:gd name="adj" fmla="val 8571"/>
            </a:avLst>
          </a:prstGeom>
          <a:solidFill>
            <a:schemeClr val="bg2"/>
          </a:solidFill>
          <a:ln/>
        </p:spPr>
        <p:txBody>
          <a:bodyPr/>
          <a:lstStyle/>
          <a:p>
            <a:endParaRPr lang="en-ZA"/>
          </a:p>
        </p:txBody>
      </p:sp>
      <p:sp>
        <p:nvSpPr>
          <p:cNvPr id="10" name="Implication heading"/>
          <p:cNvSpPr txBox="1"/>
          <p:nvPr/>
        </p:nvSpPr>
        <p:spPr>
          <a:xfrm>
            <a:off x="6629400" y="4892040"/>
            <a:ext cx="4846320" cy="320040"/>
          </a:xfrm>
          <a:prstGeom prst="rect">
            <a:avLst/>
          </a:prstGeom>
          <a:noFill/>
          <a:ln/>
        </p:spPr>
        <p:txBody>
          <a:bodyPr wrap="square" lIns="0" tIns="0" rIns="0" bIns="0" rtlCol="0" anchor="ctr"/>
          <a:lstStyle/>
          <a:p>
            <a:pPr marL="0" indent="0">
              <a:buNone/>
            </a:pPr>
            <a:r>
              <a:rPr lang="en-US" sz="1600" b="1" dirty="0">
                <a:solidFill>
                  <a:schemeClr val="tx1"/>
                </a:solidFill>
              </a:rPr>
              <a:t>Only 2014 and 2015 are full years</a:t>
            </a:r>
            <a:endParaRPr lang="en-US" sz="1600" dirty="0"/>
          </a:p>
        </p:txBody>
      </p:sp>
      <p:sp>
        <p:nvSpPr>
          <p:cNvPr id="11" name="Implication text"/>
          <p:cNvSpPr txBox="1"/>
          <p:nvPr/>
        </p:nvSpPr>
        <p:spPr>
          <a:xfrm>
            <a:off x="6629400" y="5257800"/>
            <a:ext cx="4846320" cy="731520"/>
          </a:xfrm>
          <a:prstGeom prst="rect">
            <a:avLst/>
          </a:prstGeom>
          <a:noFill/>
          <a:ln/>
        </p:spPr>
        <p:txBody>
          <a:bodyPr wrap="square" lIns="0" tIns="0" rIns="0" bIns="0" rtlCol="0" anchor="t"/>
          <a:lstStyle/>
          <a:p>
            <a:pPr marL="0" indent="0">
              <a:buNone/>
            </a:pPr>
            <a:r>
              <a:rPr lang="en-US" sz="1400" dirty="0">
                <a:solidFill>
                  <a:schemeClr val="tx1"/>
                </a:solidFill>
              </a:rPr>
              <a:t>2013 has 2 days and 2016 stops on 16 Nov, so I compare years on a per-day basis.</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tx1"/>
                </a:solidFill>
              </a:rPr>
              <a:t>Headline KPIs: strong sales, negative profit</a:t>
            </a:r>
            <a:endParaRPr lang="en-US" sz="3400" dirty="0"/>
          </a:p>
        </p:txBody>
      </p:sp>
      <p:sp>
        <p:nvSpPr>
          <p:cNvPr id="3" name="KPI tile 1"/>
          <p:cNvSpPr/>
          <p:nvPr/>
        </p:nvSpPr>
        <p:spPr>
          <a:xfrm>
            <a:off x="548640" y="1417320"/>
            <a:ext cx="2606040" cy="1371600"/>
          </a:xfrm>
          <a:prstGeom prst="roundRect">
            <a:avLst>
              <a:gd name="adj" fmla="val 8000"/>
            </a:avLst>
          </a:prstGeom>
          <a:solidFill>
            <a:schemeClr val="bg2"/>
          </a:solidFill>
          <a:ln/>
        </p:spPr>
        <p:txBody>
          <a:bodyPr/>
          <a:lstStyle/>
          <a:p>
            <a:endParaRPr lang="en-ZA"/>
          </a:p>
        </p:txBody>
      </p:sp>
      <p:sp>
        <p:nvSpPr>
          <p:cNvPr id="4" name="KPI label 1"/>
          <p:cNvSpPr txBox="1"/>
          <p:nvPr/>
        </p:nvSpPr>
        <p:spPr>
          <a:xfrm>
            <a:off x="777240" y="1581912"/>
            <a:ext cx="2194560" cy="320040"/>
          </a:xfrm>
          <a:prstGeom prst="rect">
            <a:avLst/>
          </a:prstGeom>
          <a:noFill/>
          <a:ln/>
        </p:spPr>
        <p:txBody>
          <a:bodyPr wrap="square" lIns="0" tIns="0" rIns="0" bIns="0" rtlCol="0" anchor="ctr"/>
          <a:lstStyle/>
          <a:p>
            <a:pPr marL="0" indent="0">
              <a:buNone/>
            </a:pPr>
            <a:r>
              <a:rPr lang="en-US" sz="1400" dirty="0">
                <a:solidFill>
                  <a:schemeClr val="accent6"/>
                </a:solidFill>
              </a:rPr>
              <a:t>Total sales</a:t>
            </a:r>
            <a:endParaRPr lang="en-US" sz="1400" dirty="0"/>
          </a:p>
        </p:txBody>
      </p:sp>
      <p:sp>
        <p:nvSpPr>
          <p:cNvPr id="5" name="KPI value 1"/>
          <p:cNvSpPr txBox="1"/>
          <p:nvPr/>
        </p:nvSpPr>
        <p:spPr>
          <a:xfrm>
            <a:off x="777240" y="1965960"/>
            <a:ext cx="2194560" cy="640080"/>
          </a:xfrm>
          <a:prstGeom prst="rect">
            <a:avLst/>
          </a:prstGeom>
          <a:noFill/>
          <a:ln/>
        </p:spPr>
        <p:txBody>
          <a:bodyPr wrap="square" lIns="0" tIns="0" rIns="0" bIns="0" rtlCol="0" anchor="ctr"/>
          <a:lstStyle/>
          <a:p>
            <a:pPr marL="0" indent="0">
              <a:buNone/>
            </a:pPr>
            <a:r>
              <a:rPr lang="en-US" sz="3200" b="1" dirty="0">
                <a:solidFill>
                  <a:schemeClr val="tx1"/>
                </a:solidFill>
              </a:rPr>
              <a:t>R186.9M</a:t>
            </a:r>
            <a:endParaRPr lang="en-US" sz="3200" dirty="0"/>
          </a:p>
        </p:txBody>
      </p:sp>
      <p:sp>
        <p:nvSpPr>
          <p:cNvPr id="6" name="KPI tile 2"/>
          <p:cNvSpPr/>
          <p:nvPr/>
        </p:nvSpPr>
        <p:spPr>
          <a:xfrm>
            <a:off x="3374136" y="1417320"/>
            <a:ext cx="2606040" cy="1371600"/>
          </a:xfrm>
          <a:prstGeom prst="roundRect">
            <a:avLst>
              <a:gd name="adj" fmla="val 8000"/>
            </a:avLst>
          </a:prstGeom>
          <a:solidFill>
            <a:schemeClr val="bg2"/>
          </a:solidFill>
          <a:ln/>
        </p:spPr>
        <p:txBody>
          <a:bodyPr/>
          <a:lstStyle/>
          <a:p>
            <a:endParaRPr lang="en-ZA"/>
          </a:p>
        </p:txBody>
      </p:sp>
      <p:sp>
        <p:nvSpPr>
          <p:cNvPr id="7" name="KPI label 2"/>
          <p:cNvSpPr txBox="1"/>
          <p:nvPr/>
        </p:nvSpPr>
        <p:spPr>
          <a:xfrm>
            <a:off x="3602736" y="1581912"/>
            <a:ext cx="2194560" cy="320040"/>
          </a:xfrm>
          <a:prstGeom prst="rect">
            <a:avLst/>
          </a:prstGeom>
          <a:noFill/>
          <a:ln/>
        </p:spPr>
        <p:txBody>
          <a:bodyPr wrap="square" lIns="0" tIns="0" rIns="0" bIns="0" rtlCol="0" anchor="ctr"/>
          <a:lstStyle/>
          <a:p>
            <a:pPr marL="0" indent="0">
              <a:buNone/>
            </a:pPr>
            <a:r>
              <a:rPr lang="en-US" sz="1400" dirty="0">
                <a:solidFill>
                  <a:schemeClr val="accent6"/>
                </a:solidFill>
              </a:rPr>
              <a:t>Total cost of sales</a:t>
            </a:r>
            <a:endParaRPr lang="en-US" sz="1400" dirty="0"/>
          </a:p>
        </p:txBody>
      </p:sp>
      <p:sp>
        <p:nvSpPr>
          <p:cNvPr id="8" name="KPI value 2"/>
          <p:cNvSpPr txBox="1"/>
          <p:nvPr/>
        </p:nvSpPr>
        <p:spPr>
          <a:xfrm>
            <a:off x="3602736" y="1965960"/>
            <a:ext cx="2194560" cy="640080"/>
          </a:xfrm>
          <a:prstGeom prst="rect">
            <a:avLst/>
          </a:prstGeom>
          <a:noFill/>
          <a:ln/>
        </p:spPr>
        <p:txBody>
          <a:bodyPr wrap="square" lIns="0" tIns="0" rIns="0" bIns="0" rtlCol="0" anchor="ctr"/>
          <a:lstStyle/>
          <a:p>
            <a:pPr marL="0" indent="0">
              <a:buNone/>
            </a:pPr>
            <a:r>
              <a:rPr lang="en-US" sz="3200" b="1" dirty="0">
                <a:solidFill>
                  <a:schemeClr val="tx1"/>
                </a:solidFill>
              </a:rPr>
              <a:t>R194.0M</a:t>
            </a:r>
            <a:endParaRPr lang="en-US" sz="3200" dirty="0"/>
          </a:p>
        </p:txBody>
      </p:sp>
      <p:sp>
        <p:nvSpPr>
          <p:cNvPr id="9" name="KPI tile 3"/>
          <p:cNvSpPr/>
          <p:nvPr/>
        </p:nvSpPr>
        <p:spPr>
          <a:xfrm>
            <a:off x="6199632" y="1417320"/>
            <a:ext cx="2606040" cy="1371600"/>
          </a:xfrm>
          <a:prstGeom prst="roundRect">
            <a:avLst>
              <a:gd name="adj" fmla="val 8000"/>
            </a:avLst>
          </a:prstGeom>
          <a:solidFill>
            <a:schemeClr val="bg2"/>
          </a:solidFill>
          <a:ln/>
        </p:spPr>
        <p:txBody>
          <a:bodyPr/>
          <a:lstStyle/>
          <a:p>
            <a:endParaRPr lang="en-ZA"/>
          </a:p>
        </p:txBody>
      </p:sp>
      <p:sp>
        <p:nvSpPr>
          <p:cNvPr id="10" name="KPI label 3"/>
          <p:cNvSpPr txBox="1"/>
          <p:nvPr/>
        </p:nvSpPr>
        <p:spPr>
          <a:xfrm>
            <a:off x="6428232" y="1581912"/>
            <a:ext cx="2194560" cy="320040"/>
          </a:xfrm>
          <a:prstGeom prst="rect">
            <a:avLst/>
          </a:prstGeom>
          <a:noFill/>
          <a:ln/>
        </p:spPr>
        <p:txBody>
          <a:bodyPr wrap="square" lIns="0" tIns="0" rIns="0" bIns="0" rtlCol="0" anchor="ctr"/>
          <a:lstStyle/>
          <a:p>
            <a:pPr marL="0" indent="0">
              <a:buNone/>
            </a:pPr>
            <a:r>
              <a:rPr lang="en-US" sz="1400" dirty="0">
                <a:solidFill>
                  <a:schemeClr val="accent6"/>
                </a:solidFill>
              </a:rPr>
              <a:t>Total gross profit</a:t>
            </a:r>
            <a:endParaRPr lang="en-US" sz="1400" dirty="0"/>
          </a:p>
        </p:txBody>
      </p:sp>
      <p:sp>
        <p:nvSpPr>
          <p:cNvPr id="11" name="KPI value 3"/>
          <p:cNvSpPr txBox="1"/>
          <p:nvPr/>
        </p:nvSpPr>
        <p:spPr>
          <a:xfrm>
            <a:off x="6428232" y="1965960"/>
            <a:ext cx="2194560" cy="640080"/>
          </a:xfrm>
          <a:prstGeom prst="rect">
            <a:avLst/>
          </a:prstGeom>
          <a:noFill/>
          <a:ln/>
        </p:spPr>
        <p:txBody>
          <a:bodyPr wrap="square" lIns="0" tIns="0" rIns="0" bIns="0" rtlCol="0" anchor="ctr"/>
          <a:lstStyle/>
          <a:p>
            <a:pPr marL="0" indent="0">
              <a:buNone/>
            </a:pPr>
            <a:r>
              <a:rPr lang="en-US" sz="3200" b="1" dirty="0">
                <a:solidFill>
                  <a:schemeClr val="accent2"/>
                </a:solidFill>
              </a:rPr>
              <a:t>−R7.1M</a:t>
            </a:r>
            <a:endParaRPr lang="en-US" sz="3200" dirty="0"/>
          </a:p>
        </p:txBody>
      </p:sp>
      <p:sp>
        <p:nvSpPr>
          <p:cNvPr id="12" name="KPI tile 4"/>
          <p:cNvSpPr/>
          <p:nvPr/>
        </p:nvSpPr>
        <p:spPr>
          <a:xfrm>
            <a:off x="9025128" y="1417320"/>
            <a:ext cx="2606040" cy="1371600"/>
          </a:xfrm>
          <a:prstGeom prst="roundRect">
            <a:avLst>
              <a:gd name="adj" fmla="val 8000"/>
            </a:avLst>
          </a:prstGeom>
          <a:solidFill>
            <a:schemeClr val="bg2"/>
          </a:solidFill>
          <a:ln/>
        </p:spPr>
        <p:txBody>
          <a:bodyPr/>
          <a:lstStyle/>
          <a:p>
            <a:endParaRPr lang="en-ZA"/>
          </a:p>
        </p:txBody>
      </p:sp>
      <p:sp>
        <p:nvSpPr>
          <p:cNvPr id="13" name="KPI label 4"/>
          <p:cNvSpPr txBox="1"/>
          <p:nvPr/>
        </p:nvSpPr>
        <p:spPr>
          <a:xfrm>
            <a:off x="9253728" y="1581912"/>
            <a:ext cx="2194560" cy="320040"/>
          </a:xfrm>
          <a:prstGeom prst="rect">
            <a:avLst/>
          </a:prstGeom>
          <a:noFill/>
          <a:ln/>
        </p:spPr>
        <p:txBody>
          <a:bodyPr wrap="square" lIns="0" tIns="0" rIns="0" bIns="0" rtlCol="0" anchor="ctr"/>
          <a:lstStyle/>
          <a:p>
            <a:pPr marL="0" indent="0">
              <a:buNone/>
            </a:pPr>
            <a:r>
              <a:rPr lang="en-US" sz="1400" dirty="0">
                <a:solidFill>
                  <a:schemeClr val="accent6"/>
                </a:solidFill>
              </a:rPr>
              <a:t>Gross margin</a:t>
            </a:r>
            <a:endParaRPr lang="en-US" sz="1400" dirty="0"/>
          </a:p>
        </p:txBody>
      </p:sp>
      <p:sp>
        <p:nvSpPr>
          <p:cNvPr id="14" name="KPI value 4"/>
          <p:cNvSpPr txBox="1"/>
          <p:nvPr/>
        </p:nvSpPr>
        <p:spPr>
          <a:xfrm>
            <a:off x="9253728" y="1965960"/>
            <a:ext cx="2194560" cy="640080"/>
          </a:xfrm>
          <a:prstGeom prst="rect">
            <a:avLst/>
          </a:prstGeom>
          <a:noFill/>
          <a:ln/>
        </p:spPr>
        <p:txBody>
          <a:bodyPr wrap="square" lIns="0" tIns="0" rIns="0" bIns="0" rtlCol="0" anchor="ctr"/>
          <a:lstStyle/>
          <a:p>
            <a:pPr marL="0" indent="0">
              <a:buNone/>
            </a:pPr>
            <a:r>
              <a:rPr lang="en-US" sz="3200" b="1" dirty="0">
                <a:solidFill>
                  <a:schemeClr val="accent2"/>
                </a:solidFill>
              </a:rPr>
              <a:t>−3.8%</a:t>
            </a:r>
            <a:endParaRPr lang="en-US" sz="3200" dirty="0"/>
          </a:p>
        </p:txBody>
      </p:sp>
      <p:sp>
        <p:nvSpPr>
          <p:cNvPr id="15" name="KPI tile 5"/>
          <p:cNvSpPr/>
          <p:nvPr/>
        </p:nvSpPr>
        <p:spPr>
          <a:xfrm>
            <a:off x="548640" y="2971800"/>
            <a:ext cx="2606040" cy="1371600"/>
          </a:xfrm>
          <a:prstGeom prst="roundRect">
            <a:avLst>
              <a:gd name="adj" fmla="val 8000"/>
            </a:avLst>
          </a:prstGeom>
          <a:solidFill>
            <a:schemeClr val="bg2"/>
          </a:solidFill>
          <a:ln/>
        </p:spPr>
        <p:txBody>
          <a:bodyPr/>
          <a:lstStyle/>
          <a:p>
            <a:endParaRPr lang="en-ZA"/>
          </a:p>
        </p:txBody>
      </p:sp>
      <p:sp>
        <p:nvSpPr>
          <p:cNvPr id="16" name="KPI label 5"/>
          <p:cNvSpPr txBox="1"/>
          <p:nvPr/>
        </p:nvSpPr>
        <p:spPr>
          <a:xfrm>
            <a:off x="777240" y="3136392"/>
            <a:ext cx="2194560" cy="320040"/>
          </a:xfrm>
          <a:prstGeom prst="rect">
            <a:avLst/>
          </a:prstGeom>
          <a:noFill/>
          <a:ln/>
        </p:spPr>
        <p:txBody>
          <a:bodyPr wrap="square" lIns="0" tIns="0" rIns="0" bIns="0" rtlCol="0" anchor="ctr"/>
          <a:lstStyle/>
          <a:p>
            <a:pPr marL="0" indent="0">
              <a:buNone/>
            </a:pPr>
            <a:r>
              <a:rPr lang="en-US" sz="1400" dirty="0">
                <a:solidFill>
                  <a:schemeClr val="accent6"/>
                </a:solidFill>
              </a:rPr>
              <a:t>Units sold</a:t>
            </a:r>
            <a:endParaRPr lang="en-US" sz="1400" dirty="0"/>
          </a:p>
        </p:txBody>
      </p:sp>
      <p:sp>
        <p:nvSpPr>
          <p:cNvPr id="17" name="KPI value 5"/>
          <p:cNvSpPr txBox="1"/>
          <p:nvPr/>
        </p:nvSpPr>
        <p:spPr>
          <a:xfrm>
            <a:off x="777240" y="3520440"/>
            <a:ext cx="2194560" cy="640080"/>
          </a:xfrm>
          <a:prstGeom prst="rect">
            <a:avLst/>
          </a:prstGeom>
          <a:noFill/>
          <a:ln/>
        </p:spPr>
        <p:txBody>
          <a:bodyPr wrap="square" lIns="0" tIns="0" rIns="0" bIns="0" rtlCol="0" anchor="ctr"/>
          <a:lstStyle/>
          <a:p>
            <a:pPr marL="0" indent="0">
              <a:buNone/>
            </a:pPr>
            <a:r>
              <a:rPr lang="en-US" sz="3200" b="1" dirty="0">
                <a:solidFill>
                  <a:schemeClr val="tx1"/>
                </a:solidFill>
              </a:rPr>
              <a:t>5,279,872</a:t>
            </a:r>
            <a:endParaRPr lang="en-US" sz="3200" dirty="0"/>
          </a:p>
        </p:txBody>
      </p:sp>
      <p:sp>
        <p:nvSpPr>
          <p:cNvPr id="18" name="KPI tile 6"/>
          <p:cNvSpPr/>
          <p:nvPr/>
        </p:nvSpPr>
        <p:spPr>
          <a:xfrm>
            <a:off x="3374136" y="2971800"/>
            <a:ext cx="2606040" cy="1371600"/>
          </a:xfrm>
          <a:prstGeom prst="roundRect">
            <a:avLst>
              <a:gd name="adj" fmla="val 8000"/>
            </a:avLst>
          </a:prstGeom>
          <a:solidFill>
            <a:schemeClr val="bg2"/>
          </a:solidFill>
          <a:ln/>
        </p:spPr>
        <p:txBody>
          <a:bodyPr/>
          <a:lstStyle/>
          <a:p>
            <a:endParaRPr lang="en-ZA"/>
          </a:p>
        </p:txBody>
      </p:sp>
      <p:sp>
        <p:nvSpPr>
          <p:cNvPr id="19" name="KPI label 6"/>
          <p:cNvSpPr txBox="1"/>
          <p:nvPr/>
        </p:nvSpPr>
        <p:spPr>
          <a:xfrm>
            <a:off x="3602736" y="3136392"/>
            <a:ext cx="2194560" cy="320040"/>
          </a:xfrm>
          <a:prstGeom prst="rect">
            <a:avLst/>
          </a:prstGeom>
          <a:noFill/>
          <a:ln/>
        </p:spPr>
        <p:txBody>
          <a:bodyPr wrap="square" lIns="0" tIns="0" rIns="0" bIns="0" rtlCol="0" anchor="ctr"/>
          <a:lstStyle/>
          <a:p>
            <a:pPr marL="0" indent="0">
              <a:buNone/>
            </a:pPr>
            <a:r>
              <a:rPr lang="en-US" sz="1400" dirty="0">
                <a:solidFill>
                  <a:schemeClr val="accent6"/>
                </a:solidFill>
              </a:rPr>
              <a:t>Average daily sales</a:t>
            </a:r>
            <a:endParaRPr lang="en-US" sz="1400" dirty="0"/>
          </a:p>
        </p:txBody>
      </p:sp>
      <p:sp>
        <p:nvSpPr>
          <p:cNvPr id="20" name="KPI value 6"/>
          <p:cNvSpPr txBox="1"/>
          <p:nvPr/>
        </p:nvSpPr>
        <p:spPr>
          <a:xfrm>
            <a:off x="3602736" y="3520440"/>
            <a:ext cx="2194560" cy="640080"/>
          </a:xfrm>
          <a:prstGeom prst="rect">
            <a:avLst/>
          </a:prstGeom>
          <a:noFill/>
          <a:ln/>
        </p:spPr>
        <p:txBody>
          <a:bodyPr wrap="square" lIns="0" tIns="0" rIns="0" bIns="0" rtlCol="0" anchor="ctr"/>
          <a:lstStyle/>
          <a:p>
            <a:pPr marL="0" indent="0">
              <a:buNone/>
            </a:pPr>
            <a:r>
              <a:rPr lang="en-US" sz="3200" b="1" dirty="0">
                <a:solidFill>
                  <a:schemeClr val="tx1"/>
                </a:solidFill>
              </a:rPr>
              <a:t>R177.5K</a:t>
            </a:r>
            <a:endParaRPr lang="en-US" sz="3200" dirty="0"/>
          </a:p>
        </p:txBody>
      </p:sp>
      <p:sp>
        <p:nvSpPr>
          <p:cNvPr id="21" name="KPI tile 7"/>
          <p:cNvSpPr/>
          <p:nvPr/>
        </p:nvSpPr>
        <p:spPr>
          <a:xfrm>
            <a:off x="6199632" y="2971800"/>
            <a:ext cx="2606040" cy="1371600"/>
          </a:xfrm>
          <a:prstGeom prst="roundRect">
            <a:avLst>
              <a:gd name="adj" fmla="val 8000"/>
            </a:avLst>
          </a:prstGeom>
          <a:solidFill>
            <a:schemeClr val="bg2"/>
          </a:solidFill>
          <a:ln/>
        </p:spPr>
        <p:txBody>
          <a:bodyPr/>
          <a:lstStyle/>
          <a:p>
            <a:endParaRPr lang="en-ZA"/>
          </a:p>
        </p:txBody>
      </p:sp>
      <p:sp>
        <p:nvSpPr>
          <p:cNvPr id="22" name="KPI label 7"/>
          <p:cNvSpPr txBox="1"/>
          <p:nvPr/>
        </p:nvSpPr>
        <p:spPr>
          <a:xfrm>
            <a:off x="6428232" y="3136392"/>
            <a:ext cx="2194560" cy="320040"/>
          </a:xfrm>
          <a:prstGeom prst="rect">
            <a:avLst/>
          </a:prstGeom>
          <a:noFill/>
          <a:ln/>
        </p:spPr>
        <p:txBody>
          <a:bodyPr wrap="square" lIns="0" tIns="0" rIns="0" bIns="0" rtlCol="0" anchor="ctr"/>
          <a:lstStyle/>
          <a:p>
            <a:pPr marL="0" indent="0">
              <a:buNone/>
            </a:pPr>
            <a:r>
              <a:rPr lang="en-US" sz="1400" dirty="0">
                <a:solidFill>
                  <a:schemeClr val="accent6"/>
                </a:solidFill>
              </a:rPr>
              <a:t>Average price per unit</a:t>
            </a:r>
            <a:endParaRPr lang="en-US" sz="1400" dirty="0"/>
          </a:p>
        </p:txBody>
      </p:sp>
      <p:sp>
        <p:nvSpPr>
          <p:cNvPr id="23" name="KPI value 7"/>
          <p:cNvSpPr txBox="1"/>
          <p:nvPr/>
        </p:nvSpPr>
        <p:spPr>
          <a:xfrm>
            <a:off x="6428232" y="3520440"/>
            <a:ext cx="2194560" cy="640080"/>
          </a:xfrm>
          <a:prstGeom prst="rect">
            <a:avLst/>
          </a:prstGeom>
          <a:noFill/>
          <a:ln/>
        </p:spPr>
        <p:txBody>
          <a:bodyPr wrap="square" lIns="0" tIns="0" rIns="0" bIns="0" rtlCol="0" anchor="ctr"/>
          <a:lstStyle/>
          <a:p>
            <a:pPr marL="0" indent="0">
              <a:buNone/>
            </a:pPr>
            <a:r>
              <a:rPr lang="en-US" sz="3200" b="1" dirty="0">
                <a:solidFill>
                  <a:schemeClr val="tx1"/>
                </a:solidFill>
              </a:rPr>
              <a:t>R37.07</a:t>
            </a:r>
            <a:endParaRPr lang="en-US" sz="3200" dirty="0"/>
          </a:p>
        </p:txBody>
      </p:sp>
      <p:sp>
        <p:nvSpPr>
          <p:cNvPr id="24" name="KPI tile 8"/>
          <p:cNvSpPr/>
          <p:nvPr/>
        </p:nvSpPr>
        <p:spPr>
          <a:xfrm>
            <a:off x="9025128" y="2971800"/>
            <a:ext cx="2606040" cy="1371600"/>
          </a:xfrm>
          <a:prstGeom prst="roundRect">
            <a:avLst>
              <a:gd name="adj" fmla="val 8000"/>
            </a:avLst>
          </a:prstGeom>
          <a:solidFill>
            <a:schemeClr val="bg2"/>
          </a:solidFill>
          <a:ln/>
        </p:spPr>
        <p:txBody>
          <a:bodyPr/>
          <a:lstStyle/>
          <a:p>
            <a:endParaRPr lang="en-ZA"/>
          </a:p>
        </p:txBody>
      </p:sp>
      <p:sp>
        <p:nvSpPr>
          <p:cNvPr id="25" name="KPI label 8"/>
          <p:cNvSpPr txBox="1"/>
          <p:nvPr/>
        </p:nvSpPr>
        <p:spPr>
          <a:xfrm>
            <a:off x="9253728" y="3136392"/>
            <a:ext cx="2194560" cy="320040"/>
          </a:xfrm>
          <a:prstGeom prst="rect">
            <a:avLst/>
          </a:prstGeom>
          <a:noFill/>
          <a:ln/>
        </p:spPr>
        <p:txBody>
          <a:bodyPr wrap="square" lIns="0" tIns="0" rIns="0" bIns="0" rtlCol="0" anchor="ctr"/>
          <a:lstStyle/>
          <a:p>
            <a:pPr marL="0" indent="0">
              <a:buNone/>
            </a:pPr>
            <a:r>
              <a:rPr lang="en-US" sz="1400" dirty="0">
                <a:solidFill>
                  <a:schemeClr val="accent6"/>
                </a:solidFill>
              </a:rPr>
              <a:t>Trading days</a:t>
            </a:r>
            <a:endParaRPr lang="en-US" sz="1400" dirty="0"/>
          </a:p>
        </p:txBody>
      </p:sp>
      <p:sp>
        <p:nvSpPr>
          <p:cNvPr id="26" name="KPI value 8"/>
          <p:cNvSpPr txBox="1"/>
          <p:nvPr/>
        </p:nvSpPr>
        <p:spPr>
          <a:xfrm>
            <a:off x="9253728" y="3520440"/>
            <a:ext cx="2194560" cy="640080"/>
          </a:xfrm>
          <a:prstGeom prst="rect">
            <a:avLst/>
          </a:prstGeom>
          <a:noFill/>
          <a:ln/>
        </p:spPr>
        <p:txBody>
          <a:bodyPr wrap="square" lIns="0" tIns="0" rIns="0" bIns="0" rtlCol="0" anchor="ctr"/>
          <a:lstStyle/>
          <a:p>
            <a:pPr marL="0" indent="0">
              <a:buNone/>
            </a:pPr>
            <a:r>
              <a:rPr lang="en-US" sz="3200" b="1" dirty="0">
                <a:solidFill>
                  <a:schemeClr val="tx1"/>
                </a:solidFill>
              </a:rPr>
              <a:t>1,053</a:t>
            </a:r>
            <a:endParaRPr lang="en-US" sz="3200" dirty="0"/>
          </a:p>
        </p:txBody>
      </p:sp>
      <p:sp>
        <p:nvSpPr>
          <p:cNvPr id="27" name="Extremes strip"/>
          <p:cNvSpPr/>
          <p:nvPr/>
        </p:nvSpPr>
        <p:spPr>
          <a:xfrm>
            <a:off x="548640" y="4663440"/>
            <a:ext cx="11091672" cy="777240"/>
          </a:xfrm>
          <a:prstGeom prst="roundRect">
            <a:avLst>
              <a:gd name="adj" fmla="val 14118"/>
            </a:avLst>
          </a:prstGeom>
          <a:solidFill>
            <a:schemeClr val="bg2"/>
          </a:solidFill>
          <a:ln/>
        </p:spPr>
        <p:txBody>
          <a:bodyPr/>
          <a:lstStyle/>
          <a:p>
            <a:endParaRPr lang="en-ZA"/>
          </a:p>
        </p:txBody>
      </p:sp>
      <p:sp>
        <p:nvSpPr>
          <p:cNvPr id="28" name="Extremes text"/>
          <p:cNvSpPr txBox="1"/>
          <p:nvPr/>
        </p:nvSpPr>
        <p:spPr>
          <a:xfrm>
            <a:off x="822960" y="4663440"/>
            <a:ext cx="10607040" cy="777240"/>
          </a:xfrm>
          <a:prstGeom prst="rect">
            <a:avLst/>
          </a:prstGeom>
          <a:noFill/>
          <a:ln/>
        </p:spPr>
        <p:txBody>
          <a:bodyPr wrap="square" lIns="0" tIns="0" rIns="0" bIns="0" rtlCol="0" anchor="ctr"/>
          <a:lstStyle/>
          <a:p>
            <a:pPr marL="0" indent="0">
              <a:buNone/>
            </a:pPr>
            <a:r>
              <a:rPr lang="en-US" sz="1600" b="1" dirty="0">
                <a:solidFill>
                  <a:schemeClr val="tx1"/>
                </a:solidFill>
              </a:rPr>
              <a:t>Highest sales day: </a:t>
            </a:r>
            <a:r>
              <a:rPr lang="en-US" sz="1600" dirty="0">
                <a:solidFill>
                  <a:schemeClr val="tx1"/>
                </a:solidFill>
              </a:rPr>
              <a:t>R846,678 on 1 Mar 2014</a:t>
            </a:r>
            <a:r>
              <a:rPr lang="en-US" sz="1600" dirty="0">
                <a:solidFill>
                  <a:srgbClr val="B9B8B1"/>
                </a:solidFill>
              </a:rPr>
              <a:t>      |      </a:t>
            </a:r>
            <a:r>
              <a:rPr lang="en-US" sz="1600" b="1" dirty="0">
                <a:solidFill>
                  <a:schemeClr val="tx1"/>
                </a:solidFill>
              </a:rPr>
              <a:t>Lowest sales day: </a:t>
            </a:r>
            <a:r>
              <a:rPr lang="en-US" sz="1600" dirty="0">
                <a:solidFill>
                  <a:schemeClr val="tx1"/>
                </a:solidFill>
              </a:rPr>
              <a:t>R20,495 on 14 Sept 2016</a:t>
            </a:r>
            <a:endParaRPr lang="en-US" sz="1600" dirty="0"/>
          </a:p>
        </p:txBody>
      </p:sp>
      <p:sp>
        <p:nvSpPr>
          <p:cNvPr id="29" name="KPI takeaway"/>
          <p:cNvSpPr txBox="1"/>
          <p:nvPr/>
        </p:nvSpPr>
        <p:spPr>
          <a:xfrm>
            <a:off x="548640" y="5577840"/>
            <a:ext cx="11091672" cy="365760"/>
          </a:xfrm>
          <a:prstGeom prst="rect">
            <a:avLst/>
          </a:prstGeom>
          <a:noFill/>
          <a:ln/>
        </p:spPr>
        <p:txBody>
          <a:bodyPr wrap="square" lIns="0" tIns="0" rIns="0" bIns="0" rtlCol="0" anchor="ctr"/>
          <a:lstStyle/>
          <a:p>
            <a:pPr marL="0" indent="0">
              <a:buNone/>
            </a:pPr>
            <a:r>
              <a:rPr lang="en-US" sz="1800" b="1" dirty="0">
                <a:solidFill>
                  <a:schemeClr val="tx1"/>
                </a:solidFill>
              </a:rPr>
              <a:t>Sales are healthy, but profitability is a major concern because costs exceed revenue.</a:t>
            </a:r>
            <a:endParaRPr lang="en-US" sz="1800" dirty="0"/>
          </a:p>
        </p:txBody>
      </p:sp>
      <p:sp>
        <p:nvSpPr>
          <p:cNvPr id="30" name="KPI footnote"/>
          <p:cNvSpPr txBox="1"/>
          <p:nvPr/>
        </p:nvSpPr>
        <p:spPr>
          <a:xfrm>
            <a:off x="548640" y="5989320"/>
            <a:ext cx="11091672" cy="274320"/>
          </a:xfrm>
          <a:prstGeom prst="rect">
            <a:avLst/>
          </a:prstGeom>
          <a:noFill/>
          <a:ln/>
        </p:spPr>
        <p:txBody>
          <a:bodyPr wrap="square" lIns="0" tIns="0" rIns="0" bIns="0" rtlCol="0" anchor="ctr"/>
          <a:lstStyle/>
          <a:p>
            <a:pPr marL="0" indent="0">
              <a:buNone/>
            </a:pPr>
            <a:r>
              <a:rPr lang="en-US" sz="1200" dirty="0">
                <a:solidFill>
                  <a:schemeClr val="accent6"/>
                </a:solidFill>
              </a:rPr>
              <a:t>Gross margin = total gross profit ÷ total sales. The simple average of daily gross profit % is −0.87%.</a:t>
            </a:r>
            <a:endParaRPr lang="en-US" sz="1200" dirty="0"/>
          </a:p>
        </p:txBody>
      </p:sp>
      <p:sp>
        <p:nvSpPr>
          <p:cNvPr id="31"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tx1"/>
                </a:solidFill>
              </a:rPr>
              <a:t>Gross losses on 57.6% of trading days</a:t>
            </a:r>
            <a:endParaRPr lang="en-US" sz="3400" dirty="0"/>
          </a:p>
        </p:txBody>
      </p:sp>
      <p:sp>
        <p:nvSpPr>
          <p:cNvPr id="3" name="Loss key"/>
          <p:cNvSpPr/>
          <p:nvPr/>
        </p:nvSpPr>
        <p:spPr>
          <a:xfrm>
            <a:off x="548640" y="1481328"/>
            <a:ext cx="182880" cy="182880"/>
          </a:xfrm>
          <a:prstGeom prst="rect">
            <a:avLst/>
          </a:prstGeom>
          <a:solidFill>
            <a:schemeClr val="accent2"/>
          </a:solidFill>
          <a:ln/>
        </p:spPr>
        <p:txBody>
          <a:bodyPr/>
          <a:lstStyle/>
          <a:p>
            <a:endParaRPr lang="en-ZA"/>
          </a:p>
        </p:txBody>
      </p:sp>
      <p:sp>
        <p:nvSpPr>
          <p:cNvPr id="4" name="Loss legend"/>
          <p:cNvSpPr txBox="1"/>
          <p:nvPr/>
        </p:nvSpPr>
        <p:spPr>
          <a:xfrm>
            <a:off x="822960" y="1371600"/>
            <a:ext cx="2926080" cy="411480"/>
          </a:xfrm>
          <a:prstGeom prst="rect">
            <a:avLst/>
          </a:prstGeom>
          <a:noFill/>
          <a:ln/>
        </p:spPr>
        <p:txBody>
          <a:bodyPr wrap="square" lIns="0" tIns="0" rIns="0" bIns="0" rtlCol="0" anchor="ctr"/>
          <a:lstStyle/>
          <a:p>
            <a:pPr marL="0" indent="0">
              <a:buNone/>
            </a:pPr>
            <a:r>
              <a:rPr lang="en-US" sz="1400" b="1" dirty="0">
                <a:solidFill>
                  <a:schemeClr val="tx1"/>
                </a:solidFill>
              </a:rPr>
              <a:t>Loss days: 607 (57.6%)</a:t>
            </a:r>
            <a:endParaRPr lang="en-US" sz="1400" dirty="0"/>
          </a:p>
        </p:txBody>
      </p:sp>
      <p:sp>
        <p:nvSpPr>
          <p:cNvPr id="5" name="Profit key"/>
          <p:cNvSpPr/>
          <p:nvPr/>
        </p:nvSpPr>
        <p:spPr>
          <a:xfrm>
            <a:off x="3931920" y="1481328"/>
            <a:ext cx="182880" cy="182880"/>
          </a:xfrm>
          <a:prstGeom prst="rect">
            <a:avLst/>
          </a:prstGeom>
          <a:solidFill>
            <a:schemeClr val="accent1"/>
          </a:solidFill>
          <a:ln/>
        </p:spPr>
        <p:txBody>
          <a:bodyPr/>
          <a:lstStyle/>
          <a:p>
            <a:endParaRPr lang="en-ZA"/>
          </a:p>
        </p:txBody>
      </p:sp>
      <p:sp>
        <p:nvSpPr>
          <p:cNvPr id="6" name="Profit legend"/>
          <p:cNvSpPr txBox="1"/>
          <p:nvPr/>
        </p:nvSpPr>
        <p:spPr>
          <a:xfrm>
            <a:off x="4206240" y="1371600"/>
            <a:ext cx="3108960" cy="411480"/>
          </a:xfrm>
          <a:prstGeom prst="rect">
            <a:avLst/>
          </a:prstGeom>
          <a:noFill/>
          <a:ln/>
        </p:spPr>
        <p:txBody>
          <a:bodyPr wrap="square" lIns="0" tIns="0" rIns="0" bIns="0" rtlCol="0" anchor="ctr"/>
          <a:lstStyle/>
          <a:p>
            <a:pPr marL="0" indent="0">
              <a:buNone/>
            </a:pPr>
            <a:r>
              <a:rPr lang="en-US" sz="1400" b="1" dirty="0">
                <a:solidFill>
                  <a:schemeClr val="tx1"/>
                </a:solidFill>
              </a:rPr>
              <a:t>Profit days: 446 (42.4%)</a:t>
            </a:r>
            <a:endParaRPr lang="en-US" sz="1400" dirty="0"/>
          </a:p>
        </p:txBody>
      </p:sp>
      <p:graphicFrame>
        <p:nvGraphicFramePr>
          <p:cNvPr id="7" name="Chart 0"/>
          <p:cNvGraphicFramePr/>
          <p:nvPr/>
        </p:nvGraphicFramePr>
        <p:xfrm>
          <a:off x="548640" y="1828800"/>
          <a:ext cx="694944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8" name="Profit insights card"/>
          <p:cNvSpPr/>
          <p:nvPr/>
        </p:nvSpPr>
        <p:spPr>
          <a:xfrm>
            <a:off x="7772400" y="1417320"/>
            <a:ext cx="3867912" cy="4663440"/>
          </a:xfrm>
          <a:prstGeom prst="roundRect">
            <a:avLst>
              <a:gd name="adj" fmla="val 2837"/>
            </a:avLst>
          </a:prstGeom>
          <a:solidFill>
            <a:schemeClr val="bg2"/>
          </a:solidFill>
          <a:ln/>
        </p:spPr>
        <p:txBody>
          <a:bodyPr/>
          <a:lstStyle/>
          <a:p>
            <a:endParaRPr lang="en-ZA"/>
          </a:p>
        </p:txBody>
      </p:sp>
      <p:sp>
        <p:nvSpPr>
          <p:cNvPr id="9" name="GP per unit value"/>
          <p:cNvSpPr txBox="1"/>
          <p:nvPr/>
        </p:nvSpPr>
        <p:spPr>
          <a:xfrm>
            <a:off x="8001000" y="1600200"/>
            <a:ext cx="3429000" cy="502920"/>
          </a:xfrm>
          <a:prstGeom prst="rect">
            <a:avLst/>
          </a:prstGeom>
          <a:noFill/>
          <a:ln/>
        </p:spPr>
        <p:txBody>
          <a:bodyPr wrap="square" lIns="0" tIns="0" rIns="0" bIns="0" rtlCol="0" anchor="ctr"/>
          <a:lstStyle/>
          <a:p>
            <a:pPr marL="0" indent="0">
              <a:buNone/>
            </a:pPr>
            <a:r>
              <a:rPr lang="en-US" sz="2600" b="1" dirty="0">
                <a:solidFill>
                  <a:schemeClr val="accent2"/>
                </a:solidFill>
              </a:rPr>
              <a:t>−R1.35 per unit</a:t>
            </a:r>
            <a:endParaRPr lang="en-US" sz="2600" dirty="0"/>
          </a:p>
        </p:txBody>
      </p:sp>
      <p:sp>
        <p:nvSpPr>
          <p:cNvPr id="10" name="GP per unit description"/>
          <p:cNvSpPr txBox="1"/>
          <p:nvPr/>
        </p:nvSpPr>
        <p:spPr>
          <a:xfrm>
            <a:off x="8001000" y="2130552"/>
            <a:ext cx="3429000" cy="914400"/>
          </a:xfrm>
          <a:prstGeom prst="rect">
            <a:avLst/>
          </a:prstGeom>
          <a:noFill/>
          <a:ln/>
        </p:spPr>
        <p:txBody>
          <a:bodyPr wrap="square" lIns="0" tIns="0" rIns="0" bIns="0" rtlCol="0" anchor="t"/>
          <a:lstStyle/>
          <a:p>
            <a:pPr marL="0" indent="0">
              <a:buNone/>
            </a:pPr>
            <a:r>
              <a:rPr lang="en-US" sz="1400" dirty="0">
                <a:solidFill>
                  <a:schemeClr val="tx1"/>
                </a:solidFill>
              </a:rPr>
              <a:t>Overall gross profit per unit: average price R35.40 against average cost R36.75</a:t>
            </a:r>
            <a:endParaRPr lang="en-US" sz="1400" dirty="0"/>
          </a:p>
        </p:txBody>
      </p:sp>
      <p:sp>
        <p:nvSpPr>
          <p:cNvPr id="11" name="Units value"/>
          <p:cNvSpPr txBox="1"/>
          <p:nvPr/>
        </p:nvSpPr>
        <p:spPr>
          <a:xfrm>
            <a:off x="8001000" y="3108960"/>
            <a:ext cx="3429000" cy="502920"/>
          </a:xfrm>
          <a:prstGeom prst="rect">
            <a:avLst/>
          </a:prstGeom>
          <a:noFill/>
          <a:ln/>
        </p:spPr>
        <p:txBody>
          <a:bodyPr wrap="square" lIns="0" tIns="0" rIns="0" bIns="0" rtlCol="0" anchor="ctr"/>
          <a:lstStyle/>
          <a:p>
            <a:pPr marL="0" indent="0">
              <a:buNone/>
            </a:pPr>
            <a:r>
              <a:rPr lang="en-US" sz="2600" b="1" dirty="0">
                <a:solidFill>
                  <a:schemeClr val="accent1"/>
                </a:solidFill>
              </a:rPr>
              <a:t>6,894 vs 2,455</a:t>
            </a:r>
            <a:endParaRPr lang="en-US" sz="2600" dirty="0"/>
          </a:p>
        </p:txBody>
      </p:sp>
      <p:sp>
        <p:nvSpPr>
          <p:cNvPr id="12" name="Units description"/>
          <p:cNvSpPr txBox="1"/>
          <p:nvPr/>
        </p:nvSpPr>
        <p:spPr>
          <a:xfrm>
            <a:off x="8001000" y="3639312"/>
            <a:ext cx="3429000" cy="914400"/>
          </a:xfrm>
          <a:prstGeom prst="rect">
            <a:avLst/>
          </a:prstGeom>
          <a:noFill/>
          <a:ln/>
        </p:spPr>
        <p:txBody>
          <a:bodyPr wrap="square" lIns="0" tIns="0" rIns="0" bIns="0" rtlCol="0" anchor="t"/>
          <a:lstStyle/>
          <a:p>
            <a:pPr marL="0" indent="0">
              <a:buNone/>
            </a:pPr>
            <a:r>
              <a:rPr lang="en-US" sz="1400" dirty="0">
                <a:solidFill>
                  <a:schemeClr val="tx1"/>
                </a:solidFill>
              </a:rPr>
              <a:t>Average units sold on loss days versus profit days: the busy days are the loss-making days</a:t>
            </a:r>
            <a:endParaRPr lang="en-US" sz="1400" dirty="0"/>
          </a:p>
        </p:txBody>
      </p:sp>
      <p:sp>
        <p:nvSpPr>
          <p:cNvPr id="13" name="Same-number note"/>
          <p:cNvSpPr txBox="1"/>
          <p:nvPr/>
        </p:nvSpPr>
        <p:spPr>
          <a:xfrm>
            <a:off x="8001000" y="4937760"/>
            <a:ext cx="3429000" cy="914400"/>
          </a:xfrm>
          <a:prstGeom prst="rect">
            <a:avLst/>
          </a:prstGeom>
          <a:noFill/>
          <a:ln/>
        </p:spPr>
        <p:txBody>
          <a:bodyPr wrap="square" lIns="0" tIns="0" rIns="0" bIns="0" rtlCol="0" anchor="t"/>
          <a:lstStyle/>
          <a:p>
            <a:pPr marL="0" indent="0">
              <a:buNone/>
            </a:pPr>
            <a:r>
              <a:rPr lang="en-US" sz="1300" dirty="0">
                <a:solidFill>
                  <a:schemeClr val="accent6"/>
                </a:solidFill>
              </a:rPr>
              <a:t>Daily % gross profit and % gross profit per unit are the same number, because units cancel out.</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tx1"/>
                </a:solidFill>
              </a:rPr>
              <a:t>Demand is highly sensitive to price</a:t>
            </a:r>
            <a:endParaRPr lang="en-US" sz="3400" dirty="0"/>
          </a:p>
        </p:txBody>
      </p:sp>
      <p:graphicFrame>
        <p:nvGraphicFramePr>
          <p:cNvPr id="9" name="Elasticity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5544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gridCol w="1490472">
                  <a:extLst>
                    <a:ext uri="{9D8B030D-6E8A-4147-A177-3AD203B41FA5}">
                      <a16:colId xmlns:a16="http://schemas.microsoft.com/office/drawing/2014/main" val="20007"/>
                    </a:ext>
                  </a:extLst>
                </a:gridCol>
              </a:tblGrid>
              <a:tr h="457200">
                <a:tc>
                  <a:txBody>
                    <a:bodyPr/>
                    <a:lstStyle/>
                    <a:p>
                      <a:pPr marL="0" indent="0" algn="l">
                        <a:buNone/>
                      </a:pP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marL="0" indent="0" algn="l">
                        <a:buNone/>
                      </a:pPr>
                      <a:r>
                        <a:rPr lang="en-US" sz="1400" b="1" dirty="0">
                          <a:solidFill>
                            <a:schemeClr val="bg1"/>
                          </a:solidFill>
                        </a:rPr>
                        <a:t>Period</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Days</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Avg price / unit</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Price change</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Avg units / day</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Unit change</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Price elasticity</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lgn="l">
                        <a:buNone/>
                      </a:pPr>
                      <a:r>
                        <a:rPr lang="en-US" sz="1400" b="1" dirty="0">
                          <a:solidFill>
                            <a:schemeClr val="tx1"/>
                          </a:solidFill>
                        </a:rPr>
                        <a:t>Regular days</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l">
                        <a:buNone/>
                      </a:pPr>
                      <a:r>
                        <a:rPr lang="en-US" sz="1400" dirty="0">
                          <a:solidFill>
                            <a:schemeClr val="tx1"/>
                          </a:solidFill>
                        </a:rPr>
                        <a:t>All other days</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1,011</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R37.30</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4,764</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400" b="1" dirty="0">
                          <a:solidFill>
                            <a:schemeClr val="tx1"/>
                          </a:solidFill>
                        </a:rPr>
                        <a:t>Promotion 1</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l">
                        <a:buNone/>
                      </a:pPr>
                      <a:r>
                        <a:rPr lang="en-US" sz="1400" dirty="0">
                          <a:solidFill>
                            <a:schemeClr val="tx1"/>
                          </a:solidFill>
                        </a:rPr>
                        <a:t>28 Aug – 8 Sept 2014</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12</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R30.73</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−17.6%</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14,372</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+201.7%</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b="1" dirty="0">
                          <a:solidFill>
                            <a:schemeClr val="accent2"/>
                          </a:solidFill>
                        </a:rPr>
                        <a:t>−11.5</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400" b="1" dirty="0">
                          <a:solidFill>
                            <a:schemeClr val="tx1"/>
                          </a:solidFill>
                        </a:rPr>
                        <a:t>Promotion 2</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l">
                        <a:buNone/>
                      </a:pPr>
                      <a:r>
                        <a:rPr lang="en-US" sz="1400" dirty="0">
                          <a:solidFill>
                            <a:schemeClr val="tx1"/>
                          </a:solidFill>
                        </a:rPr>
                        <a:t>22 Feb – 8 Mar 2014</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15</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R32.04</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−14.1%</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11,730</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+146.2%</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b="1" dirty="0">
                          <a:solidFill>
                            <a:schemeClr val="accent2"/>
                          </a:solidFill>
                        </a:rPr>
                        <a:t>−10.4</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400" b="1" dirty="0">
                          <a:solidFill>
                            <a:schemeClr val="tx1"/>
                          </a:solidFill>
                        </a:rPr>
                        <a:t>Promotion 3</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l">
                        <a:buNone/>
                      </a:pPr>
                      <a:r>
                        <a:rPr lang="en-US" sz="1400" dirty="0">
                          <a:solidFill>
                            <a:schemeClr val="tx1"/>
                          </a:solidFill>
                        </a:rPr>
                        <a:t>5 – 19 Jun 2014</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15</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R32.08</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−14.0%</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7,683</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+61.3%</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b="1" dirty="0">
                          <a:solidFill>
                            <a:schemeClr val="accent2"/>
                          </a:solidFill>
                        </a:rPr>
                        <a:t>−4.4</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Method card 1"/>
          <p:cNvSpPr/>
          <p:nvPr/>
        </p:nvSpPr>
        <p:spPr>
          <a:xfrm>
            <a:off x="548640" y="4114800"/>
            <a:ext cx="3566160" cy="2011680"/>
          </a:xfrm>
          <a:prstGeom prst="roundRect">
            <a:avLst>
              <a:gd name="adj" fmla="val 5455"/>
            </a:avLst>
          </a:prstGeom>
          <a:solidFill>
            <a:schemeClr val="bg2"/>
          </a:solidFill>
          <a:ln/>
        </p:spPr>
        <p:txBody>
          <a:bodyPr/>
          <a:lstStyle/>
          <a:p>
            <a:endParaRPr lang="en-ZA"/>
          </a:p>
        </p:txBody>
      </p:sp>
      <p:sp>
        <p:nvSpPr>
          <p:cNvPr id="5" name="Method heading 1"/>
          <p:cNvSpPr txBox="1"/>
          <p:nvPr/>
        </p:nvSpPr>
        <p:spPr>
          <a:xfrm>
            <a:off x="777240" y="4251960"/>
            <a:ext cx="3108960" cy="365760"/>
          </a:xfrm>
          <a:prstGeom prst="rect">
            <a:avLst/>
          </a:prstGeom>
          <a:noFill/>
          <a:ln/>
        </p:spPr>
        <p:txBody>
          <a:bodyPr wrap="square" lIns="0" tIns="0" rIns="0" bIns="0" rtlCol="0" anchor="ctr"/>
          <a:lstStyle/>
          <a:p>
            <a:pPr marL="0" indent="0">
              <a:buNone/>
            </a:pPr>
            <a:r>
              <a:rPr lang="en-US" sz="1800" b="1" dirty="0">
                <a:solidFill>
                  <a:schemeClr val="tx1"/>
                </a:solidFill>
              </a:rPr>
              <a:t>How it is calculated</a:t>
            </a:r>
            <a:endParaRPr lang="en-US" sz="1800" dirty="0"/>
          </a:p>
        </p:txBody>
      </p:sp>
      <p:sp>
        <p:nvSpPr>
          <p:cNvPr id="6" name="Method text 1"/>
          <p:cNvSpPr txBox="1"/>
          <p:nvPr/>
        </p:nvSpPr>
        <p:spPr>
          <a:xfrm>
            <a:off x="777240" y="4663440"/>
            <a:ext cx="3108960" cy="1371600"/>
          </a:xfrm>
          <a:prstGeom prst="rect">
            <a:avLst/>
          </a:prstGeom>
          <a:noFill/>
          <a:ln/>
        </p:spPr>
        <p:txBody>
          <a:bodyPr wrap="square" lIns="0" tIns="0" rIns="0" bIns="0" rtlCol="0" anchor="t"/>
          <a:lstStyle/>
          <a:p>
            <a:pPr marL="0" indent="0">
              <a:buNone/>
            </a:pPr>
            <a:r>
              <a:rPr lang="en-US" sz="1600" dirty="0">
                <a:solidFill>
                  <a:schemeClr val="tx1"/>
                </a:solidFill>
              </a:rPr>
              <a:t>Price elasticity = % change in units sold ÷ % change in price, comparing each promotion with regular days.</a:t>
            </a:r>
            <a:endParaRPr lang="en-US" sz="1600" dirty="0"/>
          </a:p>
        </p:txBody>
      </p:sp>
      <p:sp>
        <p:nvSpPr>
          <p:cNvPr id="7" name="Method card 2"/>
          <p:cNvSpPr/>
          <p:nvPr/>
        </p:nvSpPr>
        <p:spPr>
          <a:xfrm>
            <a:off x="4311396" y="4114800"/>
            <a:ext cx="3566160" cy="2011680"/>
          </a:xfrm>
          <a:prstGeom prst="roundRect">
            <a:avLst>
              <a:gd name="adj" fmla="val 5455"/>
            </a:avLst>
          </a:prstGeom>
          <a:solidFill>
            <a:schemeClr val="bg2"/>
          </a:solidFill>
          <a:ln/>
        </p:spPr>
        <p:txBody>
          <a:bodyPr/>
          <a:lstStyle/>
          <a:p>
            <a:endParaRPr lang="en-ZA"/>
          </a:p>
        </p:txBody>
      </p:sp>
      <p:sp>
        <p:nvSpPr>
          <p:cNvPr id="8" name="Method heading 2"/>
          <p:cNvSpPr txBox="1"/>
          <p:nvPr/>
        </p:nvSpPr>
        <p:spPr>
          <a:xfrm>
            <a:off x="4539996" y="4251960"/>
            <a:ext cx="3108960" cy="365760"/>
          </a:xfrm>
          <a:prstGeom prst="rect">
            <a:avLst/>
          </a:prstGeom>
          <a:noFill/>
          <a:ln/>
        </p:spPr>
        <p:txBody>
          <a:bodyPr wrap="square" lIns="0" tIns="0" rIns="0" bIns="0" rtlCol="0" anchor="ctr"/>
          <a:lstStyle/>
          <a:p>
            <a:pPr marL="0" indent="0">
              <a:buNone/>
            </a:pPr>
            <a:r>
              <a:rPr lang="en-US" sz="1800" b="1" dirty="0">
                <a:solidFill>
                  <a:schemeClr val="tx1"/>
                </a:solidFill>
              </a:rPr>
              <a:t>What it means</a:t>
            </a:r>
            <a:endParaRPr lang="en-US" sz="1800" dirty="0"/>
          </a:p>
        </p:txBody>
      </p:sp>
      <p:sp>
        <p:nvSpPr>
          <p:cNvPr id="3" name="Method text 2"/>
          <p:cNvSpPr txBox="1"/>
          <p:nvPr/>
        </p:nvSpPr>
        <p:spPr>
          <a:xfrm>
            <a:off x="4539996" y="4663440"/>
            <a:ext cx="3108960" cy="1371600"/>
          </a:xfrm>
          <a:prstGeom prst="rect">
            <a:avLst/>
          </a:prstGeom>
          <a:noFill/>
          <a:ln/>
        </p:spPr>
        <p:txBody>
          <a:bodyPr wrap="square" lIns="0" tIns="0" rIns="0" bIns="0" rtlCol="0" anchor="t"/>
          <a:lstStyle/>
          <a:p>
            <a:pPr marL="0" indent="0">
              <a:buNone/>
            </a:pPr>
            <a:r>
              <a:rPr lang="en-US" sz="1600" dirty="0">
                <a:solidFill>
                  <a:schemeClr val="tx1"/>
                </a:solidFill>
              </a:rPr>
              <a:t>All three are beyond −1, so demand is elastic: each 1% price cut brought roughly a 4% to 11% rise in units.</a:t>
            </a:r>
            <a:endParaRPr lang="en-US" sz="1600" dirty="0"/>
          </a:p>
        </p:txBody>
      </p:sp>
      <p:sp>
        <p:nvSpPr>
          <p:cNvPr id="10" name="Method card 3"/>
          <p:cNvSpPr/>
          <p:nvPr/>
        </p:nvSpPr>
        <p:spPr>
          <a:xfrm>
            <a:off x="8074152" y="4114800"/>
            <a:ext cx="3566160" cy="2011680"/>
          </a:xfrm>
          <a:prstGeom prst="roundRect">
            <a:avLst>
              <a:gd name="adj" fmla="val 5455"/>
            </a:avLst>
          </a:prstGeom>
          <a:solidFill>
            <a:schemeClr val="bg2"/>
          </a:solidFill>
          <a:ln/>
        </p:spPr>
        <p:txBody>
          <a:bodyPr/>
          <a:lstStyle/>
          <a:p>
            <a:endParaRPr lang="en-ZA"/>
          </a:p>
        </p:txBody>
      </p:sp>
      <p:sp>
        <p:nvSpPr>
          <p:cNvPr id="11" name="Method heading 3"/>
          <p:cNvSpPr txBox="1"/>
          <p:nvPr/>
        </p:nvSpPr>
        <p:spPr>
          <a:xfrm>
            <a:off x="8302752" y="4251960"/>
            <a:ext cx="3108960" cy="365760"/>
          </a:xfrm>
          <a:prstGeom prst="rect">
            <a:avLst/>
          </a:prstGeom>
          <a:noFill/>
          <a:ln/>
        </p:spPr>
        <p:txBody>
          <a:bodyPr wrap="square" lIns="0" tIns="0" rIns="0" bIns="0" rtlCol="0" anchor="ctr"/>
          <a:lstStyle/>
          <a:p>
            <a:pPr marL="0" indent="0">
              <a:buNone/>
            </a:pPr>
            <a:r>
              <a:rPr lang="en-US" sz="1800" b="1" dirty="0">
                <a:solidFill>
                  <a:schemeClr val="tx1"/>
                </a:solidFill>
              </a:rPr>
              <a:t>Cross-check</a:t>
            </a:r>
            <a:endParaRPr lang="en-US" sz="1800" dirty="0"/>
          </a:p>
        </p:txBody>
      </p:sp>
      <p:sp>
        <p:nvSpPr>
          <p:cNvPr id="12" name="Method text 3"/>
          <p:cNvSpPr txBox="1"/>
          <p:nvPr/>
        </p:nvSpPr>
        <p:spPr>
          <a:xfrm>
            <a:off x="8302752" y="4663440"/>
            <a:ext cx="3108960" cy="1371600"/>
          </a:xfrm>
          <a:prstGeom prst="rect">
            <a:avLst/>
          </a:prstGeom>
          <a:noFill/>
          <a:ln/>
        </p:spPr>
        <p:txBody>
          <a:bodyPr wrap="square" lIns="0" tIns="0" rIns="0" bIns="0" rtlCol="0" anchor="t"/>
          <a:lstStyle/>
          <a:p>
            <a:pPr marL="0" indent="0">
              <a:buNone/>
            </a:pPr>
            <a:r>
              <a:rPr lang="en-US" sz="1600" dirty="0">
                <a:solidFill>
                  <a:schemeClr val="tx1"/>
                </a:solidFill>
              </a:rPr>
              <a:t>A regression across all 1,053 days gives −5.8. Comparing with the 14 days either side of each promotion also stays elastic.</a:t>
            </a:r>
            <a:endParaRPr lang="en-US" sz="16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tx1"/>
                </a:solidFill>
              </a:rPr>
              <a:t>Promotions lift sales but deepen losses</a:t>
            </a:r>
            <a:endParaRPr lang="en-US" sz="3400" dirty="0"/>
          </a:p>
        </p:txBody>
      </p:sp>
      <p:graphicFrame>
        <p:nvGraphicFramePr>
          <p:cNvPr id="3" name="Chart 0"/>
          <p:cNvGraphicFramePr/>
          <p:nvPr/>
        </p:nvGraphicFramePr>
        <p:xfrm>
          <a:off x="548640" y="1325880"/>
          <a:ext cx="5440680" cy="2834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6199632" y="1325880"/>
          <a:ext cx="544068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5" name="Volume card"/>
          <p:cNvSpPr/>
          <p:nvPr/>
        </p:nvSpPr>
        <p:spPr>
          <a:xfrm>
            <a:off x="548640" y="4297680"/>
            <a:ext cx="5440680" cy="1188720"/>
          </a:xfrm>
          <a:prstGeom prst="roundRect">
            <a:avLst>
              <a:gd name="adj" fmla="val 9231"/>
            </a:avLst>
          </a:prstGeom>
          <a:solidFill>
            <a:schemeClr val="bg2"/>
          </a:solidFill>
          <a:ln/>
        </p:spPr>
        <p:txBody>
          <a:bodyPr/>
          <a:lstStyle/>
          <a:p>
            <a:endParaRPr lang="en-ZA"/>
          </a:p>
        </p:txBody>
      </p:sp>
      <p:sp>
        <p:nvSpPr>
          <p:cNvPr id="6" name="Volume heading"/>
          <p:cNvSpPr txBox="1"/>
          <p:nvPr/>
        </p:nvSpPr>
        <p:spPr>
          <a:xfrm>
            <a:off x="777240" y="4389120"/>
            <a:ext cx="5029200" cy="320040"/>
          </a:xfrm>
          <a:prstGeom prst="rect">
            <a:avLst/>
          </a:prstGeom>
          <a:noFill/>
          <a:ln/>
        </p:spPr>
        <p:txBody>
          <a:bodyPr wrap="square" lIns="0" tIns="0" rIns="0" bIns="0" rtlCol="0" anchor="ctr"/>
          <a:lstStyle/>
          <a:p>
            <a:pPr marL="0" indent="0">
              <a:buNone/>
            </a:pPr>
            <a:r>
              <a:rPr lang="en-US" sz="1600" b="1" dirty="0">
                <a:solidFill>
                  <a:schemeClr val="tx1"/>
                </a:solidFill>
              </a:rPr>
              <a:t>Better on volume</a:t>
            </a:r>
            <a:endParaRPr lang="en-US" sz="1600" dirty="0"/>
          </a:p>
        </p:txBody>
      </p:sp>
      <p:sp>
        <p:nvSpPr>
          <p:cNvPr id="7" name="Volume text"/>
          <p:cNvSpPr txBox="1"/>
          <p:nvPr/>
        </p:nvSpPr>
        <p:spPr>
          <a:xfrm>
            <a:off x="777240" y="4754880"/>
            <a:ext cx="5029200" cy="685800"/>
          </a:xfrm>
          <a:prstGeom prst="rect">
            <a:avLst/>
          </a:prstGeom>
          <a:noFill/>
          <a:ln/>
        </p:spPr>
        <p:txBody>
          <a:bodyPr wrap="square" lIns="0" tIns="0" rIns="0" bIns="0" rtlCol="0" anchor="t"/>
          <a:lstStyle/>
          <a:p>
            <a:pPr marL="0" indent="0">
              <a:buNone/>
            </a:pPr>
            <a:r>
              <a:rPr lang="en-US" sz="1400" dirty="0">
                <a:solidFill>
                  <a:schemeClr val="tx1"/>
                </a:solidFill>
              </a:rPr>
              <a:t>Daily sales were 1.4x to 2.6x regular days, on 1.6x to 3.0x the units.</a:t>
            </a:r>
            <a:endParaRPr lang="en-US" sz="1400" dirty="0"/>
          </a:p>
        </p:txBody>
      </p:sp>
      <p:sp>
        <p:nvSpPr>
          <p:cNvPr id="8" name="Profit card"/>
          <p:cNvSpPr/>
          <p:nvPr/>
        </p:nvSpPr>
        <p:spPr>
          <a:xfrm>
            <a:off x="6199632" y="4297680"/>
            <a:ext cx="5440680" cy="1188720"/>
          </a:xfrm>
          <a:prstGeom prst="roundRect">
            <a:avLst>
              <a:gd name="adj" fmla="val 9231"/>
            </a:avLst>
          </a:prstGeom>
          <a:solidFill>
            <a:schemeClr val="bg2"/>
          </a:solidFill>
          <a:ln/>
        </p:spPr>
        <p:txBody>
          <a:bodyPr/>
          <a:lstStyle/>
          <a:p>
            <a:endParaRPr lang="en-ZA"/>
          </a:p>
        </p:txBody>
      </p:sp>
      <p:sp>
        <p:nvSpPr>
          <p:cNvPr id="9" name="Profit heading"/>
          <p:cNvSpPr txBox="1"/>
          <p:nvPr/>
        </p:nvSpPr>
        <p:spPr>
          <a:xfrm>
            <a:off x="6428232" y="4389120"/>
            <a:ext cx="5029200" cy="320040"/>
          </a:xfrm>
          <a:prstGeom prst="rect">
            <a:avLst/>
          </a:prstGeom>
          <a:noFill/>
          <a:ln/>
        </p:spPr>
        <p:txBody>
          <a:bodyPr wrap="square" lIns="0" tIns="0" rIns="0" bIns="0" rtlCol="0" anchor="ctr"/>
          <a:lstStyle/>
          <a:p>
            <a:pPr marL="0" indent="0">
              <a:buNone/>
            </a:pPr>
            <a:r>
              <a:rPr lang="en-US" sz="1600" b="1" dirty="0">
                <a:solidFill>
                  <a:schemeClr val="tx1"/>
                </a:solidFill>
              </a:rPr>
              <a:t>Worse on profit</a:t>
            </a:r>
            <a:endParaRPr lang="en-US" sz="1600" dirty="0"/>
          </a:p>
        </p:txBody>
      </p:sp>
      <p:sp>
        <p:nvSpPr>
          <p:cNvPr id="10" name="Profit text"/>
          <p:cNvSpPr txBox="1"/>
          <p:nvPr/>
        </p:nvSpPr>
        <p:spPr>
          <a:xfrm>
            <a:off x="6428232" y="4754880"/>
            <a:ext cx="5029200" cy="685800"/>
          </a:xfrm>
          <a:prstGeom prst="rect">
            <a:avLst/>
          </a:prstGeom>
          <a:noFill/>
          <a:ln/>
        </p:spPr>
        <p:txBody>
          <a:bodyPr wrap="square" lIns="0" tIns="0" rIns="0" bIns="0" rtlCol="0" anchor="t"/>
          <a:lstStyle/>
          <a:p>
            <a:pPr marL="0" indent="0">
              <a:buNone/>
            </a:pPr>
            <a:r>
              <a:rPr lang="en-US" sz="1400" dirty="0">
                <a:solidFill>
                  <a:schemeClr val="tx1"/>
                </a:solidFill>
              </a:rPr>
              <a:t>None of the 42 promotion days made a gross profit. Promotion 1, the deepest discount, lost R50.3K a day versus R6.1K on regular days.</a:t>
            </a:r>
            <a:endParaRPr lang="en-US" sz="1400" dirty="0"/>
          </a:p>
        </p:txBody>
      </p:sp>
      <p:sp>
        <p:nvSpPr>
          <p:cNvPr id="11" name="Verdict banner"/>
          <p:cNvSpPr/>
          <p:nvPr/>
        </p:nvSpPr>
        <p:spPr>
          <a:xfrm>
            <a:off x="548640" y="5623560"/>
            <a:ext cx="11091672" cy="640080"/>
          </a:xfrm>
          <a:prstGeom prst="roundRect">
            <a:avLst>
              <a:gd name="adj" fmla="val 17143"/>
            </a:avLst>
          </a:prstGeom>
          <a:solidFill>
            <a:schemeClr val="tx2"/>
          </a:solidFill>
          <a:ln/>
        </p:spPr>
        <p:txBody>
          <a:bodyPr/>
          <a:lstStyle/>
          <a:p>
            <a:endParaRPr lang="en-ZA"/>
          </a:p>
        </p:txBody>
      </p:sp>
      <p:sp>
        <p:nvSpPr>
          <p:cNvPr id="12" name="Verdict text"/>
          <p:cNvSpPr txBox="1"/>
          <p:nvPr/>
        </p:nvSpPr>
        <p:spPr>
          <a:xfrm>
            <a:off x="822960" y="5623560"/>
            <a:ext cx="10607040" cy="640080"/>
          </a:xfrm>
          <a:prstGeom prst="rect">
            <a:avLst/>
          </a:prstGeom>
          <a:noFill/>
          <a:ln/>
        </p:spPr>
        <p:txBody>
          <a:bodyPr wrap="square" lIns="0" tIns="0" rIns="0" bIns="0" rtlCol="0" anchor="ctr"/>
          <a:lstStyle/>
          <a:p>
            <a:pPr marL="0" indent="0">
              <a:buNone/>
            </a:pPr>
            <a:r>
              <a:rPr lang="en-US" sz="1800" b="1" dirty="0">
                <a:solidFill>
                  <a:schemeClr val="bg1"/>
                </a:solidFill>
              </a:rPr>
              <a:t>Verdict: a strong volume tool, but not profitable while unit cost exceeds the selling price</a:t>
            </a:r>
            <a:endParaRPr lang="en-US" sz="1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tx1"/>
                </a:solidFill>
              </a:rPr>
              <a:t>May is the peak month, July the weakest</a:t>
            </a:r>
            <a:endParaRPr lang="en-US" sz="3400" dirty="0"/>
          </a:p>
        </p:txBody>
      </p:sp>
      <p:graphicFrame>
        <p:nvGraphicFramePr>
          <p:cNvPr id="3" name="Chart 0"/>
          <p:cNvGraphicFramePr/>
          <p:nvPr/>
        </p:nvGraphicFramePr>
        <p:xfrm>
          <a:off x="548640" y="1325880"/>
          <a:ext cx="5852160" cy="3474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6583680" y="1325880"/>
          <a:ext cx="5056632" cy="3474720"/>
        </p:xfrm>
        <a:graphic>
          <a:graphicData uri="http://schemas.openxmlformats.org/drawingml/2006/chart">
            <c:chart xmlns:c="http://schemas.openxmlformats.org/drawingml/2006/chart" xmlns:r="http://schemas.openxmlformats.org/officeDocument/2006/relationships" r:id="rId4"/>
          </a:graphicData>
        </a:graphic>
      </p:graphicFrame>
      <p:sp>
        <p:nvSpPr>
          <p:cNvPr id="5" name="Season card 1"/>
          <p:cNvSpPr/>
          <p:nvPr/>
        </p:nvSpPr>
        <p:spPr>
          <a:xfrm>
            <a:off x="548640" y="4937760"/>
            <a:ext cx="3566160" cy="1280160"/>
          </a:xfrm>
          <a:prstGeom prst="roundRect">
            <a:avLst>
              <a:gd name="adj" fmla="val 8571"/>
            </a:avLst>
          </a:prstGeom>
          <a:solidFill>
            <a:schemeClr val="bg2"/>
          </a:solidFill>
          <a:ln/>
        </p:spPr>
        <p:txBody>
          <a:bodyPr/>
          <a:lstStyle/>
          <a:p>
            <a:endParaRPr lang="en-ZA"/>
          </a:p>
        </p:txBody>
      </p:sp>
      <p:sp>
        <p:nvSpPr>
          <p:cNvPr id="6" name="Season heading 1"/>
          <p:cNvSpPr txBox="1"/>
          <p:nvPr/>
        </p:nvSpPr>
        <p:spPr>
          <a:xfrm>
            <a:off x="777240" y="5010912"/>
            <a:ext cx="3108960" cy="320040"/>
          </a:xfrm>
          <a:prstGeom prst="rect">
            <a:avLst/>
          </a:prstGeom>
          <a:noFill/>
          <a:ln/>
        </p:spPr>
        <p:txBody>
          <a:bodyPr wrap="square" lIns="0" tIns="0" rIns="0" bIns="0" rtlCol="0" anchor="ctr"/>
          <a:lstStyle/>
          <a:p>
            <a:pPr marL="0" indent="0">
              <a:buNone/>
            </a:pPr>
            <a:r>
              <a:rPr lang="en-US" sz="1600" b="1" dirty="0">
                <a:solidFill>
                  <a:schemeClr val="tx1"/>
                </a:solidFill>
              </a:rPr>
              <a:t>Peak season</a:t>
            </a:r>
            <a:endParaRPr lang="en-US" sz="1600" dirty="0"/>
          </a:p>
        </p:txBody>
      </p:sp>
      <p:sp>
        <p:nvSpPr>
          <p:cNvPr id="7" name="Season text 1"/>
          <p:cNvSpPr txBox="1"/>
          <p:nvPr/>
        </p:nvSpPr>
        <p:spPr>
          <a:xfrm>
            <a:off x="777240" y="5349240"/>
            <a:ext cx="3108960" cy="822960"/>
          </a:xfrm>
          <a:prstGeom prst="rect">
            <a:avLst/>
          </a:prstGeom>
          <a:noFill/>
          <a:ln/>
        </p:spPr>
        <p:txBody>
          <a:bodyPr wrap="square" lIns="0" tIns="0" rIns="0" bIns="0" rtlCol="0" anchor="t"/>
          <a:lstStyle/>
          <a:p>
            <a:pPr marL="0" indent="0">
              <a:buNone/>
            </a:pPr>
            <a:r>
              <a:rPr lang="en-US" sz="1400" dirty="0">
                <a:solidFill>
                  <a:schemeClr val="tx1"/>
                </a:solidFill>
              </a:rPr>
              <a:t>April to June average R206K to R228K a day, with May the strongest.</a:t>
            </a:r>
            <a:endParaRPr lang="en-US" sz="1400" dirty="0"/>
          </a:p>
        </p:txBody>
      </p:sp>
      <p:sp>
        <p:nvSpPr>
          <p:cNvPr id="8" name="Season card 2"/>
          <p:cNvSpPr/>
          <p:nvPr/>
        </p:nvSpPr>
        <p:spPr>
          <a:xfrm>
            <a:off x="4311396" y="4937760"/>
            <a:ext cx="3566160" cy="1280160"/>
          </a:xfrm>
          <a:prstGeom prst="roundRect">
            <a:avLst>
              <a:gd name="adj" fmla="val 8571"/>
            </a:avLst>
          </a:prstGeom>
          <a:solidFill>
            <a:schemeClr val="bg2"/>
          </a:solidFill>
          <a:ln/>
        </p:spPr>
        <p:txBody>
          <a:bodyPr/>
          <a:lstStyle/>
          <a:p>
            <a:endParaRPr lang="en-ZA"/>
          </a:p>
        </p:txBody>
      </p:sp>
      <p:sp>
        <p:nvSpPr>
          <p:cNvPr id="9" name="Season heading 2"/>
          <p:cNvSpPr txBox="1"/>
          <p:nvPr/>
        </p:nvSpPr>
        <p:spPr>
          <a:xfrm>
            <a:off x="4539996" y="5010912"/>
            <a:ext cx="3108960" cy="320040"/>
          </a:xfrm>
          <a:prstGeom prst="rect">
            <a:avLst/>
          </a:prstGeom>
          <a:noFill/>
          <a:ln/>
        </p:spPr>
        <p:txBody>
          <a:bodyPr wrap="square" lIns="0" tIns="0" rIns="0" bIns="0" rtlCol="0" anchor="ctr"/>
          <a:lstStyle/>
          <a:p>
            <a:pPr marL="0" indent="0">
              <a:buNone/>
            </a:pPr>
            <a:r>
              <a:rPr lang="en-US" sz="1600" b="1" dirty="0">
                <a:solidFill>
                  <a:schemeClr val="tx1"/>
                </a:solidFill>
              </a:rPr>
              <a:t>Quiet months</a:t>
            </a:r>
            <a:endParaRPr lang="en-US" sz="1600" dirty="0"/>
          </a:p>
        </p:txBody>
      </p:sp>
      <p:sp>
        <p:nvSpPr>
          <p:cNvPr id="10" name="Season text 2"/>
          <p:cNvSpPr txBox="1"/>
          <p:nvPr/>
        </p:nvSpPr>
        <p:spPr>
          <a:xfrm>
            <a:off x="4539996" y="5349240"/>
            <a:ext cx="3108960" cy="822960"/>
          </a:xfrm>
          <a:prstGeom prst="rect">
            <a:avLst/>
          </a:prstGeom>
          <a:noFill/>
          <a:ln/>
        </p:spPr>
        <p:txBody>
          <a:bodyPr wrap="square" lIns="0" tIns="0" rIns="0" bIns="0" rtlCol="0" anchor="t"/>
          <a:lstStyle/>
          <a:p>
            <a:pPr marL="0" indent="0">
              <a:buNone/>
            </a:pPr>
            <a:r>
              <a:rPr lang="en-US" sz="1400" dirty="0">
                <a:solidFill>
                  <a:schemeClr val="tx1"/>
                </a:solidFill>
              </a:rPr>
              <a:t>July (R128K) is lowest, then October, January and November at about R141K to R145K.</a:t>
            </a:r>
            <a:endParaRPr lang="en-US" sz="1400" dirty="0"/>
          </a:p>
        </p:txBody>
      </p:sp>
      <p:sp>
        <p:nvSpPr>
          <p:cNvPr id="11" name="Season card 3"/>
          <p:cNvSpPr/>
          <p:nvPr/>
        </p:nvSpPr>
        <p:spPr>
          <a:xfrm>
            <a:off x="8074152" y="4937760"/>
            <a:ext cx="3566160" cy="1280160"/>
          </a:xfrm>
          <a:prstGeom prst="roundRect">
            <a:avLst>
              <a:gd name="adj" fmla="val 8571"/>
            </a:avLst>
          </a:prstGeom>
          <a:solidFill>
            <a:schemeClr val="bg2"/>
          </a:solidFill>
          <a:ln/>
        </p:spPr>
        <p:txBody>
          <a:bodyPr/>
          <a:lstStyle/>
          <a:p>
            <a:endParaRPr lang="en-ZA"/>
          </a:p>
        </p:txBody>
      </p:sp>
      <p:sp>
        <p:nvSpPr>
          <p:cNvPr id="12" name="Season heading 3"/>
          <p:cNvSpPr txBox="1"/>
          <p:nvPr/>
        </p:nvSpPr>
        <p:spPr>
          <a:xfrm>
            <a:off x="8302752" y="5010912"/>
            <a:ext cx="3108960" cy="320040"/>
          </a:xfrm>
          <a:prstGeom prst="rect">
            <a:avLst/>
          </a:prstGeom>
          <a:noFill/>
          <a:ln/>
        </p:spPr>
        <p:txBody>
          <a:bodyPr wrap="square" lIns="0" tIns="0" rIns="0" bIns="0" rtlCol="0" anchor="ctr"/>
          <a:lstStyle/>
          <a:p>
            <a:pPr marL="0" indent="0">
              <a:buNone/>
            </a:pPr>
            <a:r>
              <a:rPr lang="en-US" sz="1600" b="1" dirty="0">
                <a:solidFill>
                  <a:schemeClr val="tx1"/>
                </a:solidFill>
              </a:rPr>
              <a:t>Price pattern</a:t>
            </a:r>
            <a:endParaRPr lang="en-US" sz="1600" dirty="0"/>
          </a:p>
        </p:txBody>
      </p:sp>
      <p:sp>
        <p:nvSpPr>
          <p:cNvPr id="13" name="Season text 3"/>
          <p:cNvSpPr txBox="1"/>
          <p:nvPr/>
        </p:nvSpPr>
        <p:spPr>
          <a:xfrm>
            <a:off x="8302752" y="5349240"/>
            <a:ext cx="3108960" cy="822960"/>
          </a:xfrm>
          <a:prstGeom prst="rect">
            <a:avLst/>
          </a:prstGeom>
          <a:noFill/>
          <a:ln/>
        </p:spPr>
        <p:txBody>
          <a:bodyPr wrap="square" lIns="0" tIns="0" rIns="0" bIns="0" rtlCol="0" anchor="t"/>
          <a:lstStyle/>
          <a:p>
            <a:pPr marL="0" indent="0">
              <a:buNone/>
            </a:pPr>
            <a:r>
              <a:rPr lang="en-US" sz="1400" dirty="0">
                <a:solidFill>
                  <a:schemeClr val="tx1"/>
                </a:solidFill>
              </a:rPr>
              <a:t>Prices are lowest in August (R35.65) and highest in November (R38.60). Sales rise when prices fall.</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tx1"/>
                </a:solidFill>
              </a:rPr>
              <a:t>No month made a profit overall</a:t>
            </a:r>
            <a:endParaRPr lang="en-US" sz="3400" dirty="0"/>
          </a:p>
        </p:txBody>
      </p:sp>
      <p:graphicFrame>
        <p:nvGraphicFramePr>
          <p:cNvPr id="3" name="Chart 0"/>
          <p:cNvGraphicFramePr/>
          <p:nvPr/>
        </p:nvGraphicFramePr>
        <p:xfrm>
          <a:off x="548640" y="1325880"/>
          <a:ext cx="74066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Margin insights card"/>
          <p:cNvSpPr/>
          <p:nvPr/>
        </p:nvSpPr>
        <p:spPr>
          <a:xfrm>
            <a:off x="8229600" y="1417320"/>
            <a:ext cx="3410712" cy="4663440"/>
          </a:xfrm>
          <a:prstGeom prst="roundRect">
            <a:avLst>
              <a:gd name="adj" fmla="val 3217"/>
            </a:avLst>
          </a:prstGeom>
          <a:solidFill>
            <a:schemeClr val="bg2"/>
          </a:solidFill>
          <a:ln/>
        </p:spPr>
        <p:txBody>
          <a:bodyPr/>
          <a:lstStyle/>
          <a:p>
            <a:endParaRPr lang="en-ZA"/>
          </a:p>
        </p:txBody>
      </p:sp>
      <p:sp>
        <p:nvSpPr>
          <p:cNvPr id="5" name="Best months value"/>
          <p:cNvSpPr txBox="1"/>
          <p:nvPr/>
        </p:nvSpPr>
        <p:spPr>
          <a:xfrm>
            <a:off x="8458200" y="1600200"/>
            <a:ext cx="2971800" cy="502920"/>
          </a:xfrm>
          <a:prstGeom prst="rect">
            <a:avLst/>
          </a:prstGeom>
          <a:noFill/>
          <a:ln/>
        </p:spPr>
        <p:txBody>
          <a:bodyPr wrap="square" lIns="0" tIns="0" rIns="0" bIns="0" rtlCol="0" anchor="ctr"/>
          <a:lstStyle/>
          <a:p>
            <a:pPr marL="0" indent="0">
              <a:buNone/>
            </a:pPr>
            <a:r>
              <a:rPr lang="en-US" sz="2800" b="1" dirty="0">
                <a:solidFill>
                  <a:schemeClr val="accent2"/>
                </a:solidFill>
              </a:rPr>
              <a:t>−1.4%</a:t>
            </a:r>
            <a:endParaRPr lang="en-US" sz="2800" dirty="0"/>
          </a:p>
        </p:txBody>
      </p:sp>
      <p:sp>
        <p:nvSpPr>
          <p:cNvPr id="6" name="Best months description"/>
          <p:cNvSpPr txBox="1"/>
          <p:nvPr/>
        </p:nvSpPr>
        <p:spPr>
          <a:xfrm>
            <a:off x="8458200" y="2130552"/>
            <a:ext cx="2971800" cy="822960"/>
          </a:xfrm>
          <a:prstGeom prst="rect">
            <a:avLst/>
          </a:prstGeom>
          <a:noFill/>
          <a:ln/>
        </p:spPr>
        <p:txBody>
          <a:bodyPr wrap="square" lIns="0" tIns="0" rIns="0" bIns="0" rtlCol="0" anchor="t"/>
          <a:lstStyle/>
          <a:p>
            <a:pPr marL="0" indent="0">
              <a:buNone/>
            </a:pPr>
            <a:r>
              <a:rPr lang="en-US" sz="1400" dirty="0">
                <a:solidFill>
                  <a:schemeClr val="tx1"/>
                </a:solidFill>
              </a:rPr>
              <a:t>July is the smallest loss, followed by October (−1.8%)</a:t>
            </a:r>
            <a:endParaRPr lang="en-US" sz="1400" dirty="0"/>
          </a:p>
        </p:txBody>
      </p:sp>
      <p:sp>
        <p:nvSpPr>
          <p:cNvPr id="7" name="Worst months value"/>
          <p:cNvSpPr txBox="1"/>
          <p:nvPr/>
        </p:nvSpPr>
        <p:spPr>
          <a:xfrm>
            <a:off x="8458200" y="3063240"/>
            <a:ext cx="2971800" cy="502920"/>
          </a:xfrm>
          <a:prstGeom prst="rect">
            <a:avLst/>
          </a:prstGeom>
          <a:noFill/>
          <a:ln/>
        </p:spPr>
        <p:txBody>
          <a:bodyPr wrap="square" lIns="0" tIns="0" rIns="0" bIns="0" rtlCol="0" anchor="ctr"/>
          <a:lstStyle/>
          <a:p>
            <a:pPr marL="0" indent="0">
              <a:buNone/>
            </a:pPr>
            <a:r>
              <a:rPr lang="en-US" sz="2800" b="1" dirty="0">
                <a:solidFill>
                  <a:schemeClr val="accent2"/>
                </a:solidFill>
              </a:rPr>
              <a:t>−5.5%</a:t>
            </a:r>
            <a:endParaRPr lang="en-US" sz="2800" dirty="0"/>
          </a:p>
        </p:txBody>
      </p:sp>
      <p:sp>
        <p:nvSpPr>
          <p:cNvPr id="8" name="Worst months description"/>
          <p:cNvSpPr txBox="1"/>
          <p:nvPr/>
        </p:nvSpPr>
        <p:spPr>
          <a:xfrm>
            <a:off x="8458200" y="3593592"/>
            <a:ext cx="2971800" cy="914400"/>
          </a:xfrm>
          <a:prstGeom prst="rect">
            <a:avLst/>
          </a:prstGeom>
          <a:noFill/>
          <a:ln/>
        </p:spPr>
        <p:txBody>
          <a:bodyPr wrap="square" lIns="0" tIns="0" rIns="0" bIns="0" rtlCol="0" anchor="t"/>
          <a:lstStyle/>
          <a:p>
            <a:pPr marL="0" indent="0">
              <a:buNone/>
            </a:pPr>
            <a:r>
              <a:rPr lang="en-US" sz="1400" dirty="0">
                <a:solidFill>
                  <a:schemeClr val="tx1"/>
                </a:solidFill>
              </a:rPr>
              <a:t>September is the largest loss; May, August and December follow at −5.1%</a:t>
            </a:r>
            <a:endParaRPr lang="en-US" sz="1400" dirty="0"/>
          </a:p>
        </p:txBody>
      </p:sp>
      <p:sp>
        <p:nvSpPr>
          <p:cNvPr id="9" name="May loss value"/>
          <p:cNvSpPr txBox="1"/>
          <p:nvPr/>
        </p:nvSpPr>
        <p:spPr>
          <a:xfrm>
            <a:off x="8458200" y="4572000"/>
            <a:ext cx="2971800" cy="502920"/>
          </a:xfrm>
          <a:prstGeom prst="rect">
            <a:avLst/>
          </a:prstGeom>
          <a:noFill/>
          <a:ln/>
        </p:spPr>
        <p:txBody>
          <a:bodyPr wrap="square" lIns="0" tIns="0" rIns="0" bIns="0" rtlCol="0" anchor="ctr"/>
          <a:lstStyle/>
          <a:p>
            <a:pPr marL="0" indent="0">
              <a:buNone/>
            </a:pPr>
            <a:r>
              <a:rPr lang="en-US" sz="2400" b="1" dirty="0">
                <a:solidFill>
                  <a:schemeClr val="accent2"/>
                </a:solidFill>
              </a:rPr>
              <a:t>−R1.08M</a:t>
            </a:r>
            <a:endParaRPr lang="en-US" sz="2400" dirty="0"/>
          </a:p>
        </p:txBody>
      </p:sp>
      <p:sp>
        <p:nvSpPr>
          <p:cNvPr id="10" name="May loss description"/>
          <p:cNvSpPr txBox="1"/>
          <p:nvPr/>
        </p:nvSpPr>
        <p:spPr>
          <a:xfrm>
            <a:off x="8458200" y="5102352"/>
            <a:ext cx="2971800" cy="640080"/>
          </a:xfrm>
          <a:prstGeom prst="rect">
            <a:avLst/>
          </a:prstGeom>
          <a:noFill/>
          <a:ln/>
        </p:spPr>
        <p:txBody>
          <a:bodyPr wrap="square" lIns="0" tIns="0" rIns="0" bIns="0" rtlCol="0" anchor="t"/>
          <a:lstStyle/>
          <a:p>
            <a:pPr marL="0" indent="0">
              <a:buNone/>
            </a:pPr>
            <a:r>
              <a:rPr lang="en-US" sz="1400" dirty="0">
                <a:solidFill>
                  <a:schemeClr val="tx1"/>
                </a:solidFill>
              </a:rPr>
              <a:t>May: the biggest sales month is also the biggest loss in rand</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tx1"/>
                </a:solidFill>
              </a:rPr>
              <a:t>Friday and Saturday carry the week</a:t>
            </a:r>
            <a:endParaRPr lang="en-US" sz="3400" dirty="0"/>
          </a:p>
        </p:txBody>
      </p:sp>
      <p:graphicFrame>
        <p:nvGraphicFramePr>
          <p:cNvPr id="3" name="Chart 0"/>
          <p:cNvGraphicFramePr/>
          <p:nvPr/>
        </p:nvGraphicFramePr>
        <p:xfrm>
          <a:off x="548640" y="1325880"/>
          <a:ext cx="704088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Weekday insights card"/>
          <p:cNvSpPr/>
          <p:nvPr/>
        </p:nvSpPr>
        <p:spPr>
          <a:xfrm>
            <a:off x="7863840" y="1417320"/>
            <a:ext cx="3776472" cy="4663440"/>
          </a:xfrm>
          <a:prstGeom prst="roundRect">
            <a:avLst>
              <a:gd name="adj" fmla="val 2906"/>
            </a:avLst>
          </a:prstGeom>
          <a:solidFill>
            <a:schemeClr val="bg2"/>
          </a:solidFill>
          <a:ln/>
        </p:spPr>
        <p:txBody>
          <a:bodyPr/>
          <a:lstStyle/>
          <a:p>
            <a:endParaRPr lang="en-ZA"/>
          </a:p>
        </p:txBody>
      </p:sp>
      <p:sp>
        <p:nvSpPr>
          <p:cNvPr id="5" name="Weekend share value"/>
          <p:cNvSpPr txBox="1"/>
          <p:nvPr/>
        </p:nvSpPr>
        <p:spPr>
          <a:xfrm>
            <a:off x="8092440" y="1600200"/>
            <a:ext cx="3337560" cy="502920"/>
          </a:xfrm>
          <a:prstGeom prst="rect">
            <a:avLst/>
          </a:prstGeom>
          <a:noFill/>
          <a:ln/>
        </p:spPr>
        <p:txBody>
          <a:bodyPr wrap="square" lIns="0" tIns="0" rIns="0" bIns="0" rtlCol="0" anchor="ctr"/>
          <a:lstStyle/>
          <a:p>
            <a:pPr marL="0" indent="0">
              <a:buNone/>
            </a:pPr>
            <a:r>
              <a:rPr lang="en-US" sz="3400" b="1" dirty="0">
                <a:solidFill>
                  <a:schemeClr val="accent1"/>
                </a:solidFill>
              </a:rPr>
              <a:t>42%</a:t>
            </a:r>
            <a:endParaRPr lang="en-US" sz="3400" dirty="0"/>
          </a:p>
        </p:txBody>
      </p:sp>
      <p:sp>
        <p:nvSpPr>
          <p:cNvPr id="6" name="Weekend share description"/>
          <p:cNvSpPr txBox="1"/>
          <p:nvPr/>
        </p:nvSpPr>
        <p:spPr>
          <a:xfrm>
            <a:off x="8092440" y="2130552"/>
            <a:ext cx="3337560" cy="822960"/>
          </a:xfrm>
          <a:prstGeom prst="rect">
            <a:avLst/>
          </a:prstGeom>
          <a:noFill/>
          <a:ln/>
        </p:spPr>
        <p:txBody>
          <a:bodyPr wrap="square" lIns="0" tIns="0" rIns="0" bIns="0" rtlCol="0" anchor="t"/>
          <a:lstStyle/>
          <a:p>
            <a:pPr marL="0" indent="0">
              <a:buNone/>
            </a:pPr>
            <a:r>
              <a:rPr lang="en-US" sz="1400" dirty="0">
                <a:solidFill>
                  <a:schemeClr val="tx1"/>
                </a:solidFill>
              </a:rPr>
              <a:t>Share of sales made on Friday and Saturday, just two days of the week</a:t>
            </a:r>
            <a:endParaRPr lang="en-US" sz="1400" dirty="0"/>
          </a:p>
        </p:txBody>
      </p:sp>
      <p:sp>
        <p:nvSpPr>
          <p:cNvPr id="7" name="Saturday vs Tuesday value"/>
          <p:cNvSpPr txBox="1"/>
          <p:nvPr/>
        </p:nvSpPr>
        <p:spPr>
          <a:xfrm>
            <a:off x="8092440" y="3108960"/>
            <a:ext cx="3337560" cy="502920"/>
          </a:xfrm>
          <a:prstGeom prst="rect">
            <a:avLst/>
          </a:prstGeom>
          <a:noFill/>
          <a:ln/>
        </p:spPr>
        <p:txBody>
          <a:bodyPr wrap="square" lIns="0" tIns="0" rIns="0" bIns="0" rtlCol="0" anchor="ctr"/>
          <a:lstStyle/>
          <a:p>
            <a:pPr marL="0" indent="0">
              <a:buNone/>
            </a:pPr>
            <a:r>
              <a:rPr lang="en-US" sz="3400" b="1" dirty="0">
                <a:solidFill>
                  <a:schemeClr val="accent1"/>
                </a:solidFill>
              </a:rPr>
              <a:t>2.0x</a:t>
            </a:r>
            <a:endParaRPr lang="en-US" sz="3400" dirty="0"/>
          </a:p>
        </p:txBody>
      </p:sp>
      <p:sp>
        <p:nvSpPr>
          <p:cNvPr id="8" name="Saturday vs Tuesday description"/>
          <p:cNvSpPr txBox="1"/>
          <p:nvPr/>
        </p:nvSpPr>
        <p:spPr>
          <a:xfrm>
            <a:off x="8092440" y="3639312"/>
            <a:ext cx="3337560" cy="822960"/>
          </a:xfrm>
          <a:prstGeom prst="rect">
            <a:avLst/>
          </a:prstGeom>
          <a:noFill/>
          <a:ln/>
        </p:spPr>
        <p:txBody>
          <a:bodyPr wrap="square" lIns="0" tIns="0" rIns="0" bIns="0" rtlCol="0" anchor="t"/>
          <a:lstStyle/>
          <a:p>
            <a:pPr marL="0" indent="0">
              <a:buNone/>
            </a:pPr>
            <a:r>
              <a:rPr lang="en-US" sz="1400" dirty="0">
                <a:solidFill>
                  <a:schemeClr val="tx1"/>
                </a:solidFill>
              </a:rPr>
              <a:t>Saturday (R279K) sells about twice as much as Tuesday (R137K)</a:t>
            </a:r>
            <a:endParaRPr lang="en-US" sz="1400" dirty="0"/>
          </a:p>
        </p:txBody>
      </p:sp>
      <p:sp>
        <p:nvSpPr>
          <p:cNvPr id="9" name="Midweek note"/>
          <p:cNvSpPr txBox="1"/>
          <p:nvPr/>
        </p:nvSpPr>
        <p:spPr>
          <a:xfrm>
            <a:off x="8092440" y="4892040"/>
            <a:ext cx="3337560" cy="914400"/>
          </a:xfrm>
          <a:prstGeom prst="rect">
            <a:avLst/>
          </a:prstGeom>
          <a:noFill/>
          <a:ln/>
        </p:spPr>
        <p:txBody>
          <a:bodyPr wrap="square" lIns="0" tIns="0" rIns="0" bIns="0" rtlCol="0" anchor="t"/>
          <a:lstStyle/>
          <a:p>
            <a:pPr marL="0" indent="0">
              <a:buNone/>
            </a:pPr>
            <a:r>
              <a:rPr lang="en-US" sz="1400" dirty="0">
                <a:solidFill>
                  <a:schemeClr val="tx1"/>
                </a:solidFill>
              </a:rPr>
              <a:t>Sunday to Thursday are all similar, at R137K to R156K a day.</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tx1"/>
                </a:solidFill>
              </a:rPr>
              <a:t>Higher prices mean fewer units sold</a:t>
            </a:r>
            <a:endParaRPr lang="en-US" sz="3400" dirty="0"/>
          </a:p>
        </p:txBody>
      </p:sp>
      <p:graphicFrame>
        <p:nvGraphicFramePr>
          <p:cNvPr id="3" name="Chart 0"/>
          <p:cNvGraphicFramePr/>
          <p:nvPr/>
        </p:nvGraphicFramePr>
        <p:xfrm>
          <a:off x="548640" y="1371600"/>
          <a:ext cx="63093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Correlation note"/>
          <p:cNvSpPr txBox="1"/>
          <p:nvPr/>
        </p:nvSpPr>
        <p:spPr>
          <a:xfrm>
            <a:off x="7132320" y="1371600"/>
            <a:ext cx="4507992" cy="777240"/>
          </a:xfrm>
          <a:prstGeom prst="rect">
            <a:avLst/>
          </a:prstGeom>
          <a:noFill/>
          <a:ln/>
        </p:spPr>
        <p:txBody>
          <a:bodyPr wrap="square" lIns="0" tIns="0" rIns="0" bIns="0" rtlCol="0" anchor="t"/>
          <a:lstStyle/>
          <a:p>
            <a:pPr marL="0" indent="0">
              <a:buNone/>
            </a:pPr>
            <a:r>
              <a:rPr lang="en-US" sz="1400" dirty="0">
                <a:solidFill>
                  <a:schemeClr val="tx1"/>
                </a:solidFill>
              </a:rPr>
              <a:t>Correlation of price with units sold: −0.62. Sales and cost both move almost one-for-one with units (0.99).</a:t>
            </a:r>
            <a:endParaRPr lang="en-US" sz="1400" dirty="0"/>
          </a:p>
        </p:txBody>
      </p:sp>
      <p:graphicFrame>
        <p:nvGraphicFramePr>
          <p:cNvPr id="14" name="Price band table"/>
          <p:cNvGraphicFramePr>
            <a:graphicFrameLocks noGrp="1"/>
          </p:cNvGraphicFramePr>
          <p:nvPr>
            <p:extLst>
              <p:ext uri="{D42A27DB-BD31-4B8C-83A1-F6EECF244321}">
                <p14:modId xmlns:p14="http://schemas.microsoft.com/office/powerpoint/2010/main" val="1579011935"/>
              </p:ext>
            </p:extLst>
          </p:nvPr>
        </p:nvGraphicFramePr>
        <p:xfrm>
          <a:off x="7132320" y="2240280"/>
          <a:ext cx="4507992" cy="914400"/>
        </p:xfrm>
        <a:graphic>
          <a:graphicData uri="http://schemas.openxmlformats.org/drawingml/2006/table">
            <a:tbl>
              <a:tblPr/>
              <a:tblGrid>
                <a:gridCol w="14630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078992">
                  <a:extLst>
                    <a:ext uri="{9D8B030D-6E8A-4147-A177-3AD203B41FA5}">
                      <a16:colId xmlns:a16="http://schemas.microsoft.com/office/drawing/2014/main" val="20003"/>
                    </a:ext>
                  </a:extLst>
                </a:gridCol>
              </a:tblGrid>
              <a:tr h="384048">
                <a:tc>
                  <a:txBody>
                    <a:bodyPr/>
                    <a:lstStyle/>
                    <a:p>
                      <a:pPr marL="0" indent="0" algn="l">
                        <a:buNone/>
                      </a:pPr>
                      <a:r>
                        <a:rPr lang="en-US" sz="1400" b="1" dirty="0">
                          <a:solidFill>
                            <a:schemeClr val="bg1"/>
                          </a:solidFill>
                        </a:rPr>
                        <a:t>Price band</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Days</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Units / day</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Margin</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lgn="l">
                        <a:buNone/>
                      </a:pPr>
                      <a:r>
                        <a:rPr lang="en-US" sz="1400" dirty="0">
                          <a:solidFill>
                            <a:schemeClr val="tx1"/>
                          </a:solidFill>
                        </a:rPr>
                        <a:t>Up to R33</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141</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9,893</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b="1" dirty="0">
                          <a:solidFill>
                            <a:schemeClr val="accent2"/>
                          </a:solidFill>
                        </a:rPr>
                        <a:t>−5.3%</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400" dirty="0">
                          <a:solidFill>
                            <a:schemeClr val="tx1"/>
                          </a:solidFill>
                        </a:rPr>
                        <a:t>R33 to R35</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203</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6,853</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b="1" dirty="0">
                          <a:solidFill>
                            <a:schemeClr val="accent2"/>
                          </a:solidFill>
                        </a:rPr>
                        <a:t>−6.1%</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400" dirty="0">
                          <a:solidFill>
                            <a:schemeClr val="tx1"/>
                          </a:solidFill>
                        </a:rPr>
                        <a:t>R35 to R37</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186</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4,451</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b="1" dirty="0">
                          <a:solidFill>
                            <a:schemeClr val="accent2"/>
                          </a:solidFill>
                        </a:rPr>
                        <a:t>−3.4%</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400" dirty="0">
                          <a:solidFill>
                            <a:schemeClr val="tx1"/>
                          </a:solidFill>
                        </a:rPr>
                        <a:t>R37 to R40</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241</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4,501</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b="1" dirty="0">
                          <a:solidFill>
                            <a:schemeClr val="accent2"/>
                          </a:solidFill>
                        </a:rPr>
                        <a:t>−5.4%</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400" dirty="0">
                          <a:solidFill>
                            <a:schemeClr val="tx1"/>
                          </a:solidFill>
                        </a:rPr>
                        <a:t>Over R40</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282</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2,061</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b="1" dirty="0">
                          <a:solidFill>
                            <a:schemeClr val="accent1"/>
                          </a:solidFill>
                        </a:rPr>
                        <a:t>+5.7%</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Price band insight"/>
          <p:cNvSpPr/>
          <p:nvPr/>
        </p:nvSpPr>
        <p:spPr>
          <a:xfrm>
            <a:off x="7132320" y="4754880"/>
            <a:ext cx="4507992" cy="1371600"/>
          </a:xfrm>
          <a:prstGeom prst="roundRect">
            <a:avLst>
              <a:gd name="adj" fmla="val 8000"/>
            </a:avLst>
          </a:prstGeom>
          <a:solidFill>
            <a:schemeClr val="bg2"/>
          </a:solidFill>
          <a:ln/>
        </p:spPr>
        <p:txBody>
          <a:bodyPr/>
          <a:lstStyle/>
          <a:p>
            <a:endParaRPr lang="en-ZA"/>
          </a:p>
        </p:txBody>
      </p:sp>
      <p:sp>
        <p:nvSpPr>
          <p:cNvPr id="7" name="Price band text"/>
          <p:cNvSpPr txBox="1"/>
          <p:nvPr/>
        </p:nvSpPr>
        <p:spPr>
          <a:xfrm>
            <a:off x="7360920" y="4846320"/>
            <a:ext cx="4069080" cy="1188720"/>
          </a:xfrm>
          <a:prstGeom prst="rect">
            <a:avLst/>
          </a:prstGeom>
          <a:noFill/>
          <a:ln/>
        </p:spPr>
        <p:txBody>
          <a:bodyPr wrap="square" lIns="0" tIns="0" rIns="0" bIns="0" rtlCol="0" anchor="ctr"/>
          <a:lstStyle/>
          <a:p>
            <a:pPr marL="0" indent="0">
              <a:buNone/>
            </a:pPr>
            <a:r>
              <a:rPr lang="en-US" sz="1600" b="1" dirty="0">
                <a:solidFill>
                  <a:schemeClr val="tx1"/>
                </a:solidFill>
              </a:rPr>
              <a:t>Only days priced above R40 made money (+5.7%), but they sold just 2,061 units a day.</a:t>
            </a:r>
            <a:endParaRPr lang="en-US" sz="16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tx1"/>
                </a:solidFill>
              </a:rPr>
              <a:t>Sales per day are falling as prices rise</a:t>
            </a:r>
            <a:endParaRPr lang="en-US" sz="3400" dirty="0"/>
          </a:p>
        </p:txBody>
      </p:sp>
      <p:graphicFrame>
        <p:nvGraphicFramePr>
          <p:cNvPr id="3" name="Chart 0"/>
          <p:cNvGraphicFramePr/>
          <p:nvPr/>
        </p:nvGraphicFramePr>
        <p:xfrm>
          <a:off x="548640" y="1325880"/>
          <a:ext cx="5394960" cy="3840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Yearly table"/>
          <p:cNvGraphicFramePr>
            <a:graphicFrameLocks noGrp="1"/>
          </p:cNvGraphicFramePr>
          <p:nvPr>
            <p:extLst>
              <p:ext uri="{D42A27DB-BD31-4B8C-83A1-F6EECF244321}">
                <p14:modId xmlns:p14="http://schemas.microsoft.com/office/powerpoint/2010/main" val="1579011935"/>
              </p:ext>
            </p:extLst>
          </p:nvPr>
        </p:nvGraphicFramePr>
        <p:xfrm>
          <a:off x="6217920" y="1417320"/>
          <a:ext cx="5422392" cy="914400"/>
        </p:xfrm>
        <a:graphic>
          <a:graphicData uri="http://schemas.openxmlformats.org/drawingml/2006/table">
            <a:tbl>
              <a:tblPr/>
              <a:tblGrid>
                <a:gridCol w="1965960">
                  <a:extLst>
                    <a:ext uri="{9D8B030D-6E8A-4147-A177-3AD203B41FA5}">
                      <a16:colId xmlns:a16="http://schemas.microsoft.com/office/drawing/2014/main" val="20000"/>
                    </a:ext>
                  </a:extLst>
                </a:gridCol>
                <a:gridCol w="1152144">
                  <a:extLst>
                    <a:ext uri="{9D8B030D-6E8A-4147-A177-3AD203B41FA5}">
                      <a16:colId xmlns:a16="http://schemas.microsoft.com/office/drawing/2014/main" val="20001"/>
                    </a:ext>
                  </a:extLst>
                </a:gridCol>
                <a:gridCol w="1152144">
                  <a:extLst>
                    <a:ext uri="{9D8B030D-6E8A-4147-A177-3AD203B41FA5}">
                      <a16:colId xmlns:a16="http://schemas.microsoft.com/office/drawing/2014/main" val="20002"/>
                    </a:ext>
                  </a:extLst>
                </a:gridCol>
                <a:gridCol w="1152144">
                  <a:extLst>
                    <a:ext uri="{9D8B030D-6E8A-4147-A177-3AD203B41FA5}">
                      <a16:colId xmlns:a16="http://schemas.microsoft.com/office/drawing/2014/main" val="20003"/>
                    </a:ext>
                  </a:extLst>
                </a:gridCol>
              </a:tblGrid>
              <a:tr h="457200">
                <a:tc>
                  <a:txBody>
                    <a:bodyPr/>
                    <a:lstStyle/>
                    <a:p>
                      <a:pPr marL="0" indent="0" algn="l">
                        <a:buNone/>
                      </a:pP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2014</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2015</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2016*</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lgn="l">
                        <a:buNone/>
                      </a:pPr>
                      <a:r>
                        <a:rPr lang="en-US" sz="1400" b="1" dirty="0">
                          <a:solidFill>
                            <a:schemeClr val="tx1"/>
                          </a:solidFill>
                        </a:rPr>
                        <a:t>Average price / unit</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R34.57</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R38.33</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R38.52</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400" b="1" dirty="0">
                          <a:solidFill>
                            <a:schemeClr val="tx1"/>
                          </a:solidFill>
                        </a:rPr>
                        <a:t>Units sold / day</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6,176</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4,699</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4,033</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400" b="1" dirty="0">
                          <a:solidFill>
                            <a:schemeClr val="tx1"/>
                          </a:solidFill>
                        </a:rPr>
                        <a:t>Total sales</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R75.4M</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R64.0M</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dirty="0">
                          <a:solidFill>
                            <a:schemeClr val="tx1"/>
                          </a:solidFill>
                        </a:rPr>
                        <a:t>R47.0M</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400" b="1" dirty="0">
                          <a:solidFill>
                            <a:schemeClr val="tx1"/>
                          </a:solidFill>
                        </a:rPr>
                        <a:t>Gross margin</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b="1" dirty="0">
                          <a:solidFill>
                            <a:schemeClr val="accent2"/>
                          </a:solidFill>
                        </a:rPr>
                        <a:t>−3.0%</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b="1" dirty="0">
                          <a:solidFill>
                            <a:schemeClr val="accent2"/>
                          </a:solidFill>
                        </a:rPr>
                        <a:t>−6.1%</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400" b="1" dirty="0">
                          <a:solidFill>
                            <a:schemeClr val="accent2"/>
                          </a:solidFill>
                        </a:rPr>
                        <a:t>−2.0%</a:t>
                      </a:r>
                      <a:endParaRPr lang="en-US" sz="1400" dirty="0"/>
                    </a:p>
                  </a:txBody>
                  <a:tcPr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able footnote"/>
          <p:cNvSpPr txBox="1"/>
          <p:nvPr/>
        </p:nvSpPr>
        <p:spPr>
          <a:xfrm>
            <a:off x="6217920" y="3749040"/>
            <a:ext cx="5422392" cy="274320"/>
          </a:xfrm>
          <a:prstGeom prst="rect">
            <a:avLst/>
          </a:prstGeom>
          <a:noFill/>
          <a:ln/>
        </p:spPr>
        <p:txBody>
          <a:bodyPr wrap="square" lIns="0" tIns="0" rIns="0" bIns="0" rtlCol="0" anchor="t"/>
          <a:lstStyle/>
          <a:p>
            <a:pPr marL="0" indent="0">
              <a:buNone/>
            </a:pPr>
            <a:r>
              <a:rPr lang="en-US" sz="1200" dirty="0">
                <a:solidFill>
                  <a:schemeClr val="accent6"/>
                </a:solidFill>
              </a:rPr>
              <a:t>*2016 runs to 16 November only</a:t>
            </a:r>
            <a:endParaRPr lang="en-US" sz="1200" dirty="0"/>
          </a:p>
        </p:txBody>
      </p:sp>
      <p:sp>
        <p:nvSpPr>
          <p:cNvPr id="6" name="Trend insight"/>
          <p:cNvSpPr/>
          <p:nvPr/>
        </p:nvSpPr>
        <p:spPr>
          <a:xfrm>
            <a:off x="6217920" y="4206240"/>
            <a:ext cx="5422392" cy="1874520"/>
          </a:xfrm>
          <a:prstGeom prst="roundRect">
            <a:avLst>
              <a:gd name="adj" fmla="val 5854"/>
            </a:avLst>
          </a:prstGeom>
          <a:solidFill>
            <a:schemeClr val="bg2"/>
          </a:solidFill>
          <a:ln/>
        </p:spPr>
        <p:txBody>
          <a:bodyPr/>
          <a:lstStyle/>
          <a:p>
            <a:endParaRPr lang="en-ZA"/>
          </a:p>
        </p:txBody>
      </p:sp>
      <p:sp>
        <p:nvSpPr>
          <p:cNvPr id="7" name="Trend heading"/>
          <p:cNvSpPr txBox="1"/>
          <p:nvPr/>
        </p:nvSpPr>
        <p:spPr>
          <a:xfrm>
            <a:off x="6446520" y="4315968"/>
            <a:ext cx="4937760" cy="365760"/>
          </a:xfrm>
          <a:prstGeom prst="rect">
            <a:avLst/>
          </a:prstGeom>
          <a:noFill/>
          <a:ln/>
        </p:spPr>
        <p:txBody>
          <a:bodyPr wrap="square" lIns="0" tIns="0" rIns="0" bIns="0" rtlCol="0" anchor="ctr"/>
          <a:lstStyle/>
          <a:p>
            <a:pPr marL="0" indent="0">
              <a:buNone/>
            </a:pPr>
            <a:r>
              <a:rPr lang="en-US" sz="1800" b="1" dirty="0">
                <a:solidFill>
                  <a:schemeClr val="tx1"/>
                </a:solidFill>
              </a:rPr>
              <a:t>A weakening trend</a:t>
            </a:r>
            <a:endParaRPr lang="en-US" sz="1800" dirty="0"/>
          </a:p>
        </p:txBody>
      </p:sp>
      <p:sp>
        <p:nvSpPr>
          <p:cNvPr id="8" name="Trend text"/>
          <p:cNvSpPr txBox="1"/>
          <p:nvPr/>
        </p:nvSpPr>
        <p:spPr>
          <a:xfrm>
            <a:off x="6446520" y="4709160"/>
            <a:ext cx="4937760" cy="1280160"/>
          </a:xfrm>
          <a:prstGeom prst="rect">
            <a:avLst/>
          </a:prstGeom>
          <a:noFill/>
          <a:ln/>
        </p:spPr>
        <p:txBody>
          <a:bodyPr wrap="square" lIns="0" tIns="0" rIns="0" bIns="0" rtlCol="0" anchor="t"/>
          <a:lstStyle/>
          <a:p>
            <a:pPr marL="0" indent="0">
              <a:buNone/>
            </a:pPr>
            <a:r>
              <a:rPr lang="en-US" sz="1600" dirty="0">
                <a:solidFill>
                  <a:schemeClr val="tx1"/>
                </a:solidFill>
              </a:rPr>
              <a:t>Average prices rose about R3.75 a unit from 2014 to 2015 and units per day fell by 24%. Sales to 16 Nov 2016 are 12.9% below the same period of 2015.</a:t>
            </a:r>
            <a:endParaRPr lang="en-US" sz="16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tx1"/>
                </a:solidFill>
              </a:rPr>
              <a:t>Recommendations: fix margin before volume</a:t>
            </a:r>
            <a:endParaRPr lang="en-US" sz="3400" dirty="0"/>
          </a:p>
        </p:txBody>
      </p:sp>
      <p:sp>
        <p:nvSpPr>
          <p:cNvPr id="3" name="Recommendation card 1"/>
          <p:cNvSpPr/>
          <p:nvPr/>
        </p:nvSpPr>
        <p:spPr>
          <a:xfrm>
            <a:off x="548640" y="1371600"/>
            <a:ext cx="11091672" cy="896112"/>
          </a:xfrm>
          <a:prstGeom prst="roundRect">
            <a:avLst>
              <a:gd name="adj" fmla="val 12245"/>
            </a:avLst>
          </a:prstGeom>
          <a:solidFill>
            <a:schemeClr val="bg2"/>
          </a:solidFill>
          <a:ln/>
        </p:spPr>
        <p:txBody>
          <a:bodyPr/>
          <a:lstStyle/>
          <a:p>
            <a:endParaRPr lang="en-ZA"/>
          </a:p>
        </p:txBody>
      </p:sp>
      <p:sp>
        <p:nvSpPr>
          <p:cNvPr id="4" name="Recommendation number 1"/>
          <p:cNvSpPr/>
          <p:nvPr/>
        </p:nvSpPr>
        <p:spPr>
          <a:xfrm>
            <a:off x="777240" y="1545336"/>
            <a:ext cx="548640" cy="548640"/>
          </a:xfrm>
          <a:prstGeom prst="ellipse">
            <a:avLst/>
          </a:prstGeom>
          <a:solidFill>
            <a:schemeClr val="accent1"/>
          </a:solidFill>
          <a:ln/>
        </p:spPr>
        <p:txBody>
          <a:bodyPr/>
          <a:lstStyle/>
          <a:p>
            <a:endParaRPr lang="en-ZA"/>
          </a:p>
        </p:txBody>
      </p:sp>
      <p:sp>
        <p:nvSpPr>
          <p:cNvPr id="5" name="Recommendation digit 1"/>
          <p:cNvSpPr txBox="1"/>
          <p:nvPr/>
        </p:nvSpPr>
        <p:spPr>
          <a:xfrm>
            <a:off x="777240" y="1545336"/>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6" name="Recommendation heading 1"/>
          <p:cNvSpPr txBox="1"/>
          <p:nvPr/>
        </p:nvSpPr>
        <p:spPr>
          <a:xfrm>
            <a:off x="1600200" y="1463040"/>
            <a:ext cx="9784080" cy="347472"/>
          </a:xfrm>
          <a:prstGeom prst="rect">
            <a:avLst/>
          </a:prstGeom>
          <a:noFill/>
          <a:ln/>
        </p:spPr>
        <p:txBody>
          <a:bodyPr wrap="square" lIns="0" tIns="0" rIns="0" bIns="0" rtlCol="0" anchor="ctr"/>
          <a:lstStyle/>
          <a:p>
            <a:pPr marL="0" indent="0">
              <a:buNone/>
            </a:pPr>
            <a:r>
              <a:rPr lang="en-US" sz="1800" b="1" dirty="0">
                <a:solidFill>
                  <a:schemeClr val="tx1"/>
                </a:solidFill>
              </a:rPr>
              <a:t>Review pricing and cost structure</a:t>
            </a:r>
            <a:endParaRPr lang="en-US" sz="1800" dirty="0"/>
          </a:p>
        </p:txBody>
      </p:sp>
      <p:sp>
        <p:nvSpPr>
          <p:cNvPr id="7" name="Recommendation text 1"/>
          <p:cNvSpPr txBox="1"/>
          <p:nvPr/>
        </p:nvSpPr>
        <p:spPr>
          <a:xfrm>
            <a:off x="1600200" y="1828800"/>
            <a:ext cx="9784080" cy="384048"/>
          </a:xfrm>
          <a:prstGeom prst="rect">
            <a:avLst/>
          </a:prstGeom>
          <a:noFill/>
          <a:ln/>
        </p:spPr>
        <p:txBody>
          <a:bodyPr wrap="square" lIns="0" tIns="0" rIns="0" bIns="0" rtlCol="0" anchor="ctr"/>
          <a:lstStyle/>
          <a:p>
            <a:pPr marL="0" indent="0">
              <a:buNone/>
            </a:pPr>
            <a:r>
              <a:rPr lang="en-US" sz="1400" dirty="0">
                <a:solidFill>
                  <a:schemeClr val="tx1"/>
                </a:solidFill>
              </a:rPr>
              <a:t>The product sold below cost on 57.6% of days. Aim for a price floor above the average unit cost of about R36.75.</a:t>
            </a:r>
            <a:endParaRPr lang="en-US" sz="1400" dirty="0"/>
          </a:p>
        </p:txBody>
      </p:sp>
      <p:sp>
        <p:nvSpPr>
          <p:cNvPr id="8" name="Recommendation card 2"/>
          <p:cNvSpPr/>
          <p:nvPr/>
        </p:nvSpPr>
        <p:spPr>
          <a:xfrm>
            <a:off x="548640" y="2377440"/>
            <a:ext cx="11091672" cy="896112"/>
          </a:xfrm>
          <a:prstGeom prst="roundRect">
            <a:avLst>
              <a:gd name="adj" fmla="val 12245"/>
            </a:avLst>
          </a:prstGeom>
          <a:solidFill>
            <a:schemeClr val="bg2"/>
          </a:solidFill>
          <a:ln/>
        </p:spPr>
        <p:txBody>
          <a:bodyPr/>
          <a:lstStyle/>
          <a:p>
            <a:endParaRPr lang="en-ZA"/>
          </a:p>
        </p:txBody>
      </p:sp>
      <p:sp>
        <p:nvSpPr>
          <p:cNvPr id="9" name="Recommendation number 2"/>
          <p:cNvSpPr/>
          <p:nvPr/>
        </p:nvSpPr>
        <p:spPr>
          <a:xfrm>
            <a:off x="777240" y="2551176"/>
            <a:ext cx="548640" cy="548640"/>
          </a:xfrm>
          <a:prstGeom prst="ellipse">
            <a:avLst/>
          </a:prstGeom>
          <a:solidFill>
            <a:schemeClr val="accent1"/>
          </a:solidFill>
          <a:ln/>
        </p:spPr>
        <p:txBody>
          <a:bodyPr/>
          <a:lstStyle/>
          <a:p>
            <a:endParaRPr lang="en-ZA"/>
          </a:p>
        </p:txBody>
      </p:sp>
      <p:sp>
        <p:nvSpPr>
          <p:cNvPr id="10" name="Recommendation digit 2"/>
          <p:cNvSpPr txBox="1"/>
          <p:nvPr/>
        </p:nvSpPr>
        <p:spPr>
          <a:xfrm>
            <a:off x="777240" y="2551176"/>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1" name="Recommendation heading 2"/>
          <p:cNvSpPr txBox="1"/>
          <p:nvPr/>
        </p:nvSpPr>
        <p:spPr>
          <a:xfrm>
            <a:off x="1600200" y="2468880"/>
            <a:ext cx="9784080" cy="347472"/>
          </a:xfrm>
          <a:prstGeom prst="rect">
            <a:avLst/>
          </a:prstGeom>
          <a:noFill/>
          <a:ln/>
        </p:spPr>
        <p:txBody>
          <a:bodyPr wrap="square" lIns="0" tIns="0" rIns="0" bIns="0" rtlCol="0" anchor="ctr"/>
          <a:lstStyle/>
          <a:p>
            <a:pPr marL="0" indent="0">
              <a:buNone/>
            </a:pPr>
            <a:r>
              <a:rPr lang="en-US" sz="1800" b="1" dirty="0">
                <a:solidFill>
                  <a:schemeClr val="tx1"/>
                </a:solidFill>
              </a:rPr>
              <a:t>Use promotions selectively</a:t>
            </a:r>
            <a:endParaRPr lang="en-US" sz="1800" dirty="0"/>
          </a:p>
        </p:txBody>
      </p:sp>
      <p:sp>
        <p:nvSpPr>
          <p:cNvPr id="12" name="Recommendation text 2"/>
          <p:cNvSpPr txBox="1"/>
          <p:nvPr/>
        </p:nvSpPr>
        <p:spPr>
          <a:xfrm>
            <a:off x="1600200" y="2834640"/>
            <a:ext cx="9784080" cy="384048"/>
          </a:xfrm>
          <a:prstGeom prst="rect">
            <a:avLst/>
          </a:prstGeom>
          <a:noFill/>
          <a:ln/>
        </p:spPr>
        <p:txBody>
          <a:bodyPr wrap="square" lIns="0" tIns="0" rIns="0" bIns="0" rtlCol="0" anchor="ctr"/>
          <a:lstStyle/>
          <a:p>
            <a:pPr marL="0" indent="0">
              <a:buNone/>
            </a:pPr>
            <a:r>
              <a:rPr lang="en-US" sz="1400" dirty="0">
                <a:solidFill>
                  <a:schemeClr val="tx1"/>
                </a:solidFill>
              </a:rPr>
              <a:t>Demand is highly elastic, so promotions lift volume. Run them only when the price still covers cost, and prefer moderate discounts.</a:t>
            </a:r>
            <a:endParaRPr lang="en-US" sz="1400" dirty="0"/>
          </a:p>
        </p:txBody>
      </p:sp>
      <p:sp>
        <p:nvSpPr>
          <p:cNvPr id="13" name="Recommendation card 3"/>
          <p:cNvSpPr/>
          <p:nvPr/>
        </p:nvSpPr>
        <p:spPr>
          <a:xfrm>
            <a:off x="548640" y="3383280"/>
            <a:ext cx="11091672" cy="896112"/>
          </a:xfrm>
          <a:prstGeom prst="roundRect">
            <a:avLst>
              <a:gd name="adj" fmla="val 12245"/>
            </a:avLst>
          </a:prstGeom>
          <a:solidFill>
            <a:schemeClr val="bg2"/>
          </a:solidFill>
          <a:ln/>
        </p:spPr>
        <p:txBody>
          <a:bodyPr/>
          <a:lstStyle/>
          <a:p>
            <a:endParaRPr lang="en-ZA"/>
          </a:p>
        </p:txBody>
      </p:sp>
      <p:sp>
        <p:nvSpPr>
          <p:cNvPr id="14" name="Recommendation number 3"/>
          <p:cNvSpPr/>
          <p:nvPr/>
        </p:nvSpPr>
        <p:spPr>
          <a:xfrm>
            <a:off x="777240" y="3557016"/>
            <a:ext cx="548640" cy="548640"/>
          </a:xfrm>
          <a:prstGeom prst="ellipse">
            <a:avLst/>
          </a:prstGeom>
          <a:solidFill>
            <a:schemeClr val="accent1"/>
          </a:solidFill>
          <a:ln/>
        </p:spPr>
        <p:txBody>
          <a:bodyPr/>
          <a:lstStyle/>
          <a:p>
            <a:endParaRPr lang="en-ZA"/>
          </a:p>
        </p:txBody>
      </p:sp>
      <p:sp>
        <p:nvSpPr>
          <p:cNvPr id="15" name="Recommendation digit 3"/>
          <p:cNvSpPr txBox="1"/>
          <p:nvPr/>
        </p:nvSpPr>
        <p:spPr>
          <a:xfrm>
            <a:off x="777240" y="3557016"/>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6" name="Recommendation heading 3"/>
          <p:cNvSpPr txBox="1"/>
          <p:nvPr/>
        </p:nvSpPr>
        <p:spPr>
          <a:xfrm>
            <a:off x="1600200" y="3474720"/>
            <a:ext cx="9784080" cy="347472"/>
          </a:xfrm>
          <a:prstGeom prst="rect">
            <a:avLst/>
          </a:prstGeom>
          <a:noFill/>
          <a:ln/>
        </p:spPr>
        <p:txBody>
          <a:bodyPr wrap="square" lIns="0" tIns="0" rIns="0" bIns="0" rtlCol="0" anchor="ctr"/>
          <a:lstStyle/>
          <a:p>
            <a:pPr marL="0" indent="0">
              <a:buNone/>
            </a:pPr>
            <a:r>
              <a:rPr lang="en-US" sz="1800" b="1" dirty="0">
                <a:solidFill>
                  <a:schemeClr val="tx1"/>
                </a:solidFill>
              </a:rPr>
              <a:t>Find the best price point</a:t>
            </a:r>
            <a:endParaRPr lang="en-US" sz="1800" dirty="0"/>
          </a:p>
        </p:txBody>
      </p:sp>
      <p:sp>
        <p:nvSpPr>
          <p:cNvPr id="17" name="Recommendation text 3"/>
          <p:cNvSpPr txBox="1"/>
          <p:nvPr/>
        </p:nvSpPr>
        <p:spPr>
          <a:xfrm>
            <a:off x="1600200" y="3840480"/>
            <a:ext cx="9784080" cy="384048"/>
          </a:xfrm>
          <a:prstGeom prst="rect">
            <a:avLst/>
          </a:prstGeom>
          <a:noFill/>
          <a:ln/>
        </p:spPr>
        <p:txBody>
          <a:bodyPr wrap="square" lIns="0" tIns="0" rIns="0" bIns="0" rtlCol="0" anchor="ctr"/>
          <a:lstStyle/>
          <a:p>
            <a:pPr marL="0" indent="0">
              <a:buNone/>
            </a:pPr>
            <a:r>
              <a:rPr lang="en-US" sz="1400" dirty="0">
                <a:solidFill>
                  <a:schemeClr val="tx1"/>
                </a:solidFill>
              </a:rPr>
              <a:t>Only days above R40 were profitable but sold few units. Test price points between R37 and R40 to balance volume and margin.</a:t>
            </a:r>
            <a:endParaRPr lang="en-US" sz="1400" dirty="0"/>
          </a:p>
        </p:txBody>
      </p:sp>
      <p:sp>
        <p:nvSpPr>
          <p:cNvPr id="18" name="Recommendation card 4"/>
          <p:cNvSpPr/>
          <p:nvPr/>
        </p:nvSpPr>
        <p:spPr>
          <a:xfrm>
            <a:off x="548640" y="4389120"/>
            <a:ext cx="11091672" cy="896112"/>
          </a:xfrm>
          <a:prstGeom prst="roundRect">
            <a:avLst>
              <a:gd name="adj" fmla="val 12245"/>
            </a:avLst>
          </a:prstGeom>
          <a:solidFill>
            <a:schemeClr val="bg2"/>
          </a:solidFill>
          <a:ln/>
        </p:spPr>
        <p:txBody>
          <a:bodyPr/>
          <a:lstStyle/>
          <a:p>
            <a:endParaRPr lang="en-ZA"/>
          </a:p>
        </p:txBody>
      </p:sp>
      <p:sp>
        <p:nvSpPr>
          <p:cNvPr id="19" name="Recommendation number 4"/>
          <p:cNvSpPr/>
          <p:nvPr/>
        </p:nvSpPr>
        <p:spPr>
          <a:xfrm>
            <a:off x="777240" y="4562856"/>
            <a:ext cx="548640" cy="548640"/>
          </a:xfrm>
          <a:prstGeom prst="ellipse">
            <a:avLst/>
          </a:prstGeom>
          <a:solidFill>
            <a:schemeClr val="accent1"/>
          </a:solidFill>
          <a:ln/>
        </p:spPr>
        <p:txBody>
          <a:bodyPr/>
          <a:lstStyle/>
          <a:p>
            <a:endParaRPr lang="en-ZA"/>
          </a:p>
        </p:txBody>
      </p:sp>
      <p:sp>
        <p:nvSpPr>
          <p:cNvPr id="20" name="Recommendation digit 4"/>
          <p:cNvSpPr txBox="1"/>
          <p:nvPr/>
        </p:nvSpPr>
        <p:spPr>
          <a:xfrm>
            <a:off x="777240" y="4562856"/>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1" name="Recommendation heading 4"/>
          <p:cNvSpPr txBox="1"/>
          <p:nvPr/>
        </p:nvSpPr>
        <p:spPr>
          <a:xfrm>
            <a:off x="1600200" y="4480560"/>
            <a:ext cx="9784080" cy="347472"/>
          </a:xfrm>
          <a:prstGeom prst="rect">
            <a:avLst/>
          </a:prstGeom>
          <a:noFill/>
          <a:ln/>
        </p:spPr>
        <p:txBody>
          <a:bodyPr wrap="square" lIns="0" tIns="0" rIns="0" bIns="0" rtlCol="0" anchor="ctr"/>
          <a:lstStyle/>
          <a:p>
            <a:pPr marL="0" indent="0">
              <a:buNone/>
            </a:pPr>
            <a:r>
              <a:rPr lang="en-US" sz="1800" b="1" dirty="0">
                <a:solidFill>
                  <a:schemeClr val="tx1"/>
                </a:solidFill>
              </a:rPr>
              <a:t>Plan around the calendar</a:t>
            </a:r>
            <a:endParaRPr lang="en-US" sz="1800" dirty="0"/>
          </a:p>
        </p:txBody>
      </p:sp>
      <p:sp>
        <p:nvSpPr>
          <p:cNvPr id="22" name="Recommendation text 4"/>
          <p:cNvSpPr txBox="1"/>
          <p:nvPr/>
        </p:nvSpPr>
        <p:spPr>
          <a:xfrm>
            <a:off x="1600200" y="4846320"/>
            <a:ext cx="9784080" cy="384048"/>
          </a:xfrm>
          <a:prstGeom prst="rect">
            <a:avLst/>
          </a:prstGeom>
          <a:noFill/>
          <a:ln/>
        </p:spPr>
        <p:txBody>
          <a:bodyPr wrap="square" lIns="0" tIns="0" rIns="0" bIns="0" rtlCol="0" anchor="ctr"/>
          <a:lstStyle/>
          <a:p>
            <a:pPr marL="0" indent="0">
              <a:buNone/>
            </a:pPr>
            <a:r>
              <a:rPr lang="en-US" sz="1400" dirty="0">
                <a:solidFill>
                  <a:schemeClr val="tx1"/>
                </a:solidFill>
              </a:rPr>
              <a:t>Stock and staff for Friday and Saturday and for April to June. Use margin-safe offers to lift July, October and January.</a:t>
            </a:r>
            <a:endParaRPr lang="en-US" sz="1400" dirty="0"/>
          </a:p>
        </p:txBody>
      </p:sp>
      <p:sp>
        <p:nvSpPr>
          <p:cNvPr id="23" name="Recommendation card 5"/>
          <p:cNvSpPr/>
          <p:nvPr/>
        </p:nvSpPr>
        <p:spPr>
          <a:xfrm>
            <a:off x="548640" y="5394960"/>
            <a:ext cx="11091672" cy="896112"/>
          </a:xfrm>
          <a:prstGeom prst="roundRect">
            <a:avLst>
              <a:gd name="adj" fmla="val 12245"/>
            </a:avLst>
          </a:prstGeom>
          <a:solidFill>
            <a:schemeClr val="bg2"/>
          </a:solidFill>
          <a:ln/>
        </p:spPr>
        <p:txBody>
          <a:bodyPr/>
          <a:lstStyle/>
          <a:p>
            <a:endParaRPr lang="en-ZA"/>
          </a:p>
        </p:txBody>
      </p:sp>
      <p:sp>
        <p:nvSpPr>
          <p:cNvPr id="24" name="Recommendation number 5"/>
          <p:cNvSpPr/>
          <p:nvPr/>
        </p:nvSpPr>
        <p:spPr>
          <a:xfrm>
            <a:off x="777240" y="5568696"/>
            <a:ext cx="548640" cy="548640"/>
          </a:xfrm>
          <a:prstGeom prst="ellipse">
            <a:avLst/>
          </a:prstGeom>
          <a:solidFill>
            <a:schemeClr val="accent1"/>
          </a:solidFill>
          <a:ln/>
        </p:spPr>
        <p:txBody>
          <a:bodyPr/>
          <a:lstStyle/>
          <a:p>
            <a:endParaRPr lang="en-ZA"/>
          </a:p>
        </p:txBody>
      </p:sp>
      <p:sp>
        <p:nvSpPr>
          <p:cNvPr id="25" name="Recommendation digit 5"/>
          <p:cNvSpPr txBox="1"/>
          <p:nvPr/>
        </p:nvSpPr>
        <p:spPr>
          <a:xfrm>
            <a:off x="777240" y="5568696"/>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6" name="Recommendation heading 5"/>
          <p:cNvSpPr txBox="1"/>
          <p:nvPr/>
        </p:nvSpPr>
        <p:spPr>
          <a:xfrm>
            <a:off x="1600200" y="5486400"/>
            <a:ext cx="9784080" cy="347472"/>
          </a:xfrm>
          <a:prstGeom prst="rect">
            <a:avLst/>
          </a:prstGeom>
          <a:noFill/>
          <a:ln/>
        </p:spPr>
        <p:txBody>
          <a:bodyPr wrap="square" lIns="0" tIns="0" rIns="0" bIns="0" rtlCol="0" anchor="ctr"/>
          <a:lstStyle/>
          <a:p>
            <a:pPr marL="0" indent="0">
              <a:buNone/>
            </a:pPr>
            <a:r>
              <a:rPr lang="en-US" sz="1800" b="1" dirty="0">
                <a:solidFill>
                  <a:schemeClr val="tx1"/>
                </a:solidFill>
              </a:rPr>
              <a:t>Track price, volume and margin daily</a:t>
            </a:r>
            <a:endParaRPr lang="en-US" sz="1800" dirty="0"/>
          </a:p>
        </p:txBody>
      </p:sp>
      <p:sp>
        <p:nvSpPr>
          <p:cNvPr id="27" name="Recommendation text 5"/>
          <p:cNvSpPr txBox="1"/>
          <p:nvPr/>
        </p:nvSpPr>
        <p:spPr>
          <a:xfrm>
            <a:off x="1600200" y="5852160"/>
            <a:ext cx="9784080" cy="384048"/>
          </a:xfrm>
          <a:prstGeom prst="rect">
            <a:avLst/>
          </a:prstGeom>
          <a:noFill/>
          <a:ln/>
        </p:spPr>
        <p:txBody>
          <a:bodyPr wrap="square" lIns="0" tIns="0" rIns="0" bIns="0" rtlCol="0" anchor="ctr"/>
          <a:lstStyle/>
          <a:p>
            <a:pPr marL="0" indent="0">
              <a:buNone/>
            </a:pPr>
            <a:r>
              <a:rPr lang="en-US" sz="1400" dirty="0">
                <a:solidFill>
                  <a:schemeClr val="tx1"/>
                </a:solidFill>
              </a:rPr>
              <a:t>A simple dashboard of price per unit, units sold and gross profit % would flag loss-making days early.</a:t>
            </a:r>
            <a:endParaRPr lang="en-US" sz="1400" dirty="0"/>
          </a:p>
        </p:txBody>
      </p:sp>
      <p:sp>
        <p:nvSpPr>
          <p:cNvPr id="28"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2514E"/>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400" b="1" dirty="0">
                <a:solidFill>
                  <a:schemeClr val="bg1"/>
                </a:solidFill>
              </a:rPr>
              <a:t>Key takeaways</a:t>
            </a:r>
            <a:endParaRPr lang="en-US" sz="3400" dirty="0"/>
          </a:p>
        </p:txBody>
      </p:sp>
      <p:sp>
        <p:nvSpPr>
          <p:cNvPr id="3" name="Takeaway heading 1"/>
          <p:cNvSpPr txBox="1"/>
          <p:nvPr/>
        </p:nvSpPr>
        <p:spPr>
          <a:xfrm>
            <a:off x="548640" y="1371600"/>
            <a:ext cx="6675120" cy="457200"/>
          </a:xfrm>
          <a:prstGeom prst="rect">
            <a:avLst/>
          </a:prstGeom>
          <a:noFill/>
          <a:ln/>
        </p:spPr>
        <p:txBody>
          <a:bodyPr wrap="square" lIns="0" tIns="0" rIns="0" bIns="0" rtlCol="0" anchor="ctr"/>
          <a:lstStyle/>
          <a:p>
            <a:pPr marL="0" indent="0">
              <a:buNone/>
            </a:pPr>
            <a:r>
              <a:rPr lang="en-US" sz="2200" b="1" dirty="0">
                <a:solidFill>
                  <a:schemeClr val="bg1"/>
                </a:solidFill>
              </a:rPr>
              <a:t>Demand is strong and price-sensitive.</a:t>
            </a:r>
            <a:endParaRPr lang="en-US" sz="2200" dirty="0"/>
          </a:p>
        </p:txBody>
      </p:sp>
      <p:sp>
        <p:nvSpPr>
          <p:cNvPr id="4" name="Takeaway text 1"/>
          <p:cNvSpPr txBox="1"/>
          <p:nvPr/>
        </p:nvSpPr>
        <p:spPr>
          <a:xfrm>
            <a:off x="548640" y="1847088"/>
            <a:ext cx="6675120" cy="457200"/>
          </a:xfrm>
          <a:prstGeom prst="rect">
            <a:avLst/>
          </a:prstGeom>
          <a:noFill/>
          <a:ln/>
        </p:spPr>
        <p:txBody>
          <a:bodyPr wrap="square" lIns="0" tIns="0" rIns="0" bIns="0" rtlCol="0" anchor="t"/>
          <a:lstStyle/>
          <a:p>
            <a:pPr marL="0" indent="0">
              <a:buNone/>
            </a:pPr>
            <a:r>
              <a:rPr lang="en-US" sz="1600" dirty="0">
                <a:solidFill>
                  <a:schemeClr val="accent4"/>
                </a:solidFill>
              </a:rPr>
              <a:t>Elasticity is roughly −4 to −11 in the promotions (−5.8 overall).</a:t>
            </a:r>
            <a:endParaRPr lang="en-US" sz="1600" dirty="0"/>
          </a:p>
        </p:txBody>
      </p:sp>
      <p:sp>
        <p:nvSpPr>
          <p:cNvPr id="5" name="Takeaway heading 2"/>
          <p:cNvSpPr txBox="1"/>
          <p:nvPr/>
        </p:nvSpPr>
        <p:spPr>
          <a:xfrm>
            <a:off x="548640" y="2377440"/>
            <a:ext cx="6675120" cy="457200"/>
          </a:xfrm>
          <a:prstGeom prst="rect">
            <a:avLst/>
          </a:prstGeom>
          <a:noFill/>
          <a:ln/>
        </p:spPr>
        <p:txBody>
          <a:bodyPr wrap="square" lIns="0" tIns="0" rIns="0" bIns="0" rtlCol="0" anchor="ctr"/>
          <a:lstStyle/>
          <a:p>
            <a:pPr marL="0" indent="0">
              <a:buNone/>
            </a:pPr>
            <a:r>
              <a:rPr lang="en-US" sz="2200" b="1" dirty="0">
                <a:solidFill>
                  <a:schemeClr val="bg1"/>
                </a:solidFill>
              </a:rPr>
              <a:t>The product is sold below cost.</a:t>
            </a:r>
            <a:endParaRPr lang="en-US" sz="2200" dirty="0"/>
          </a:p>
        </p:txBody>
      </p:sp>
      <p:sp>
        <p:nvSpPr>
          <p:cNvPr id="6" name="Takeaway text 2"/>
          <p:cNvSpPr txBox="1"/>
          <p:nvPr/>
        </p:nvSpPr>
        <p:spPr>
          <a:xfrm>
            <a:off x="548640" y="2852928"/>
            <a:ext cx="6675120" cy="457200"/>
          </a:xfrm>
          <a:prstGeom prst="rect">
            <a:avLst/>
          </a:prstGeom>
          <a:noFill/>
          <a:ln/>
        </p:spPr>
        <p:txBody>
          <a:bodyPr wrap="square" lIns="0" tIns="0" rIns="0" bIns="0" rtlCol="0" anchor="t"/>
          <a:lstStyle/>
          <a:p>
            <a:pPr marL="0" indent="0">
              <a:buNone/>
            </a:pPr>
            <a:r>
              <a:rPr lang="en-US" sz="1600" dirty="0">
                <a:solidFill>
                  <a:schemeClr val="accent4"/>
                </a:solidFill>
              </a:rPr>
              <a:t>Gross profit is −R7.1M (−3.8%) and 57.6% of days lose money.</a:t>
            </a:r>
            <a:endParaRPr lang="en-US" sz="1600" dirty="0"/>
          </a:p>
        </p:txBody>
      </p:sp>
      <p:sp>
        <p:nvSpPr>
          <p:cNvPr id="7" name="Takeaway heading 3"/>
          <p:cNvSpPr txBox="1"/>
          <p:nvPr/>
        </p:nvSpPr>
        <p:spPr>
          <a:xfrm>
            <a:off x="548640" y="3383280"/>
            <a:ext cx="6675120" cy="457200"/>
          </a:xfrm>
          <a:prstGeom prst="rect">
            <a:avLst/>
          </a:prstGeom>
          <a:noFill/>
          <a:ln/>
        </p:spPr>
        <p:txBody>
          <a:bodyPr wrap="square" lIns="0" tIns="0" rIns="0" bIns="0" rtlCol="0" anchor="ctr"/>
          <a:lstStyle/>
          <a:p>
            <a:pPr marL="0" indent="0">
              <a:buNone/>
            </a:pPr>
            <a:r>
              <a:rPr lang="en-US" sz="2200" b="1" dirty="0">
                <a:solidFill>
                  <a:schemeClr val="bg1"/>
                </a:solidFill>
              </a:rPr>
              <a:t>Promotions grow volume, not profit.</a:t>
            </a:r>
            <a:endParaRPr lang="en-US" sz="2200" dirty="0"/>
          </a:p>
        </p:txBody>
      </p:sp>
      <p:sp>
        <p:nvSpPr>
          <p:cNvPr id="8" name="Takeaway text 3"/>
          <p:cNvSpPr txBox="1"/>
          <p:nvPr/>
        </p:nvSpPr>
        <p:spPr>
          <a:xfrm>
            <a:off x="548640" y="3858768"/>
            <a:ext cx="6675120" cy="457200"/>
          </a:xfrm>
          <a:prstGeom prst="rect">
            <a:avLst/>
          </a:prstGeom>
          <a:noFill/>
          <a:ln/>
        </p:spPr>
        <p:txBody>
          <a:bodyPr wrap="square" lIns="0" tIns="0" rIns="0" bIns="0" rtlCol="0" anchor="t"/>
          <a:lstStyle/>
          <a:p>
            <a:pPr marL="0" indent="0">
              <a:buNone/>
            </a:pPr>
            <a:r>
              <a:rPr lang="en-US" sz="1600" dirty="0">
                <a:solidFill>
                  <a:schemeClr val="accent4"/>
                </a:solidFill>
              </a:rPr>
              <a:t>Units rose 1.6x to 3.0x, yet no promotion day was profitable.</a:t>
            </a:r>
            <a:endParaRPr lang="en-US" sz="1600" dirty="0"/>
          </a:p>
        </p:txBody>
      </p:sp>
      <p:sp>
        <p:nvSpPr>
          <p:cNvPr id="9" name="Takeaway heading 4"/>
          <p:cNvSpPr txBox="1"/>
          <p:nvPr/>
        </p:nvSpPr>
        <p:spPr>
          <a:xfrm>
            <a:off x="548640" y="4389120"/>
            <a:ext cx="6675120" cy="457200"/>
          </a:xfrm>
          <a:prstGeom prst="rect">
            <a:avLst/>
          </a:prstGeom>
          <a:noFill/>
          <a:ln/>
        </p:spPr>
        <p:txBody>
          <a:bodyPr wrap="square" lIns="0" tIns="0" rIns="0" bIns="0" rtlCol="0" anchor="ctr"/>
          <a:lstStyle/>
          <a:p>
            <a:pPr marL="0" indent="0">
              <a:buNone/>
            </a:pPr>
            <a:r>
              <a:rPr lang="en-US" sz="2200" b="1" dirty="0">
                <a:solidFill>
                  <a:schemeClr val="bg1"/>
                </a:solidFill>
              </a:rPr>
              <a:t>The levers are price, cost and timing.</a:t>
            </a:r>
            <a:endParaRPr lang="en-US" sz="2200" dirty="0"/>
          </a:p>
        </p:txBody>
      </p:sp>
      <p:sp>
        <p:nvSpPr>
          <p:cNvPr id="10" name="Takeaway text 4"/>
          <p:cNvSpPr txBox="1"/>
          <p:nvPr/>
        </p:nvSpPr>
        <p:spPr>
          <a:xfrm>
            <a:off x="548640" y="4864608"/>
            <a:ext cx="6675120" cy="457200"/>
          </a:xfrm>
          <a:prstGeom prst="rect">
            <a:avLst/>
          </a:prstGeom>
          <a:noFill/>
          <a:ln/>
        </p:spPr>
        <p:txBody>
          <a:bodyPr wrap="square" lIns="0" tIns="0" rIns="0" bIns="0" rtlCol="0" anchor="t"/>
          <a:lstStyle/>
          <a:p>
            <a:pPr marL="0" indent="0">
              <a:buNone/>
            </a:pPr>
            <a:r>
              <a:rPr lang="en-US" sz="1600" dirty="0">
                <a:solidFill>
                  <a:schemeClr val="accent4"/>
                </a:solidFill>
              </a:rPr>
              <a:t>Focus on margin, Friday and Saturday, and April to June.</a:t>
            </a:r>
            <a:endParaRPr lang="en-US" sz="1600" dirty="0"/>
          </a:p>
        </p:txBody>
      </p:sp>
      <p:sp>
        <p:nvSpPr>
          <p:cNvPr id="11" name="Limitations card"/>
          <p:cNvSpPr/>
          <p:nvPr/>
        </p:nvSpPr>
        <p:spPr>
          <a:xfrm>
            <a:off x="7680960" y="1417320"/>
            <a:ext cx="3959352" cy="3200400"/>
          </a:xfrm>
          <a:prstGeom prst="roundRect">
            <a:avLst>
              <a:gd name="adj" fmla="val 3429"/>
            </a:avLst>
          </a:prstGeom>
          <a:solidFill>
            <a:schemeClr val="bg1">
              <a:alpha val="10000"/>
            </a:schemeClr>
          </a:solidFill>
          <a:ln/>
        </p:spPr>
        <p:txBody>
          <a:bodyPr/>
          <a:lstStyle/>
          <a:p>
            <a:endParaRPr lang="en-ZA"/>
          </a:p>
        </p:txBody>
      </p:sp>
      <p:sp>
        <p:nvSpPr>
          <p:cNvPr id="12" name="Limitations heading"/>
          <p:cNvSpPr txBox="1"/>
          <p:nvPr/>
        </p:nvSpPr>
        <p:spPr>
          <a:xfrm>
            <a:off x="7955280" y="1600200"/>
            <a:ext cx="3429000" cy="365760"/>
          </a:xfrm>
          <a:prstGeom prst="rect">
            <a:avLst/>
          </a:prstGeom>
          <a:noFill/>
          <a:ln/>
        </p:spPr>
        <p:txBody>
          <a:bodyPr wrap="square" lIns="0" tIns="0" rIns="0" bIns="0" rtlCol="0" anchor="ctr"/>
          <a:lstStyle/>
          <a:p>
            <a:pPr marL="0" indent="0">
              <a:buNone/>
            </a:pPr>
            <a:r>
              <a:rPr lang="en-US" sz="1800" b="1" dirty="0">
                <a:solidFill>
                  <a:schemeClr val="bg1"/>
                </a:solidFill>
              </a:rPr>
              <a:t>Limitations</a:t>
            </a:r>
            <a:endParaRPr lang="en-US" sz="1800" dirty="0"/>
          </a:p>
        </p:txBody>
      </p:sp>
      <p:sp>
        <p:nvSpPr>
          <p:cNvPr id="13" name="Limitations text"/>
          <p:cNvSpPr txBox="1"/>
          <p:nvPr/>
        </p:nvSpPr>
        <p:spPr>
          <a:xfrm>
            <a:off x="7955280" y="2057400"/>
            <a:ext cx="3429000" cy="2468880"/>
          </a:xfrm>
          <a:prstGeom prst="rect">
            <a:avLst/>
          </a:prstGeom>
          <a:noFill/>
          <a:ln/>
        </p:spPr>
        <p:txBody>
          <a:bodyPr wrap="square" lIns="0" tIns="0" rIns="0" bIns="0" rtlCol="0" anchor="t"/>
          <a:lstStyle/>
          <a:p>
            <a:pPr marL="0" indent="0">
              <a:buNone/>
            </a:pPr>
            <a:r>
              <a:rPr lang="en-US" sz="1600" dirty="0">
                <a:solidFill>
                  <a:schemeClr val="bg1"/>
                </a:solidFill>
              </a:rPr>
              <a:t>One product only, in a simulated dataset. No competitor, marketing or stock data. 2013 and 2016 are partial years, and promotion periods were chosen from price patterns.</a:t>
            </a:r>
            <a:endParaRPr lang="en-US" sz="1600" dirty="0"/>
          </a:p>
        </p:txBody>
      </p:sp>
      <p:sp>
        <p:nvSpPr>
          <p:cNvPr id="14" name="Closing line"/>
          <p:cNvSpPr txBox="1"/>
          <p:nvPr/>
        </p:nvSpPr>
        <p:spPr>
          <a:xfrm>
            <a:off x="548640" y="5623560"/>
            <a:ext cx="11091672" cy="640080"/>
          </a:xfrm>
          <a:prstGeom prst="rect">
            <a:avLst/>
          </a:prstGeom>
          <a:noFill/>
          <a:ln/>
        </p:spPr>
        <p:txBody>
          <a:bodyPr wrap="square" lIns="0" tIns="0" rIns="0" bIns="0" rtlCol="0" anchor="ctr"/>
          <a:lstStyle/>
          <a:p>
            <a:pPr marL="0" indent="0">
              <a:buNone/>
            </a:pPr>
            <a:r>
              <a:rPr lang="en-US" sz="3000" b="1" dirty="0">
                <a:solidFill>
                  <a:schemeClr val="bg1"/>
                </a:solidFill>
              </a:rPr>
              <a:t>Thank you. Questions?</a:t>
            </a:r>
            <a:endParaRPr lang="en-US" sz="3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EC5F4"/>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Sales Case Study">
  <a:themeElements>
    <a:clrScheme name="Sales Case Study">
      <a:dk1>
        <a:srgbClr val="14213D"/>
      </a:dk1>
      <a:lt1>
        <a:srgbClr val="FFFFFF"/>
      </a:lt1>
      <a:dk2>
        <a:srgbClr val="0F2540"/>
      </a:dk2>
      <a:lt2>
        <a:srgbClr val="F2F5F9"/>
      </a:lt2>
      <a:accent1>
        <a:srgbClr val="2A78D6"/>
      </a:accent1>
      <a:accent2>
        <a:srgbClr val="EB6834"/>
      </a:accent2>
      <a:accent3>
        <a:srgbClr val="1BAF7A"/>
      </a:accent3>
      <a:accent4>
        <a:srgbClr val="9EC5F4"/>
      </a:accent4>
      <a:accent5>
        <a:srgbClr val="B9B8B1"/>
      </a:accent5>
      <a:accent6>
        <a:srgbClr val="52514E"/>
      </a:accent6>
      <a:hlink>
        <a:srgbClr val="2A78D6"/>
      </a:hlink>
      <a:folHlink>
        <a:srgbClr val="52514E"/>
      </a:folHlink>
    </a:clrScheme>
    <a:fontScheme name="Sales Case Stud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3768</Words>
  <Application>Microsoft Office PowerPoint</Application>
  <PresentationFormat>Widescreen</PresentationFormat>
  <Paragraphs>293</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Sales Case Study</vt:lpstr>
      <vt:lpstr>Sales Case Study</vt:lpstr>
      <vt:lpstr>The product sells well but loses money</vt:lpstr>
      <vt:lpstr>Approach: from raw daily data to insight</vt:lpstr>
      <vt:lpstr>Clean data, but uneven coverage by year</vt:lpstr>
      <vt:lpstr>Headline KPIs: strong sales, negative profit</vt:lpstr>
      <vt:lpstr>Gross losses on 57.6% of trading days</vt:lpstr>
      <vt:lpstr>Demand is highly sensitive to price</vt:lpstr>
      <vt:lpstr>Promotions lift sales but deepen losses</vt:lpstr>
      <vt:lpstr>May is the peak month, July the weakest</vt:lpstr>
      <vt:lpstr>No month made a profit overall</vt:lpstr>
      <vt:lpstr>Friday and Saturday carry the week</vt:lpstr>
      <vt:lpstr>Higher prices mean fewer units sold</vt:lpstr>
      <vt:lpstr>Sales per day are falling as prices rise</vt:lpstr>
      <vt:lpstr>Recommendations: fix margin before volume</vt:lpstr>
      <vt:lpstr>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Case Study</dc:title>
  <dc:subject>Sales case study: metrics, promotions and insights</dc:subject>
  <dc:creator>Primrose Mukwesha</dc:creator>
  <cp:lastModifiedBy>Brenda Tsvetu</cp:lastModifiedBy>
  <cp:revision>2</cp:revision>
  <dcterms:created xsi:type="dcterms:W3CDTF">2026-10-27T10:40:39Z</dcterms:created>
  <dcterms:modified xsi:type="dcterms:W3CDTF">2026-10-27T11:05:13Z</dcterms:modified>
</cp:coreProperties>
</file>